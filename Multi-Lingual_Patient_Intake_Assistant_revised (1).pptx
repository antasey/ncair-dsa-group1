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72" r:id="rId11"/>
    <p:sldId id="267" r:id="rId12"/>
    <p:sldId id="268" r:id="rId13"/>
    <p:sldId id="270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E3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858000" y="0"/>
            <a:ext cx="2286000" cy="2560320"/>
          </a:xfrm>
          <a:custGeom>
            <a:avLst/>
            <a:gdLst/>
            <a:ahLst/>
            <a:cxnLst/>
            <a:rect l="l" t="t" r="r" b="b"/>
            <a:pathLst>
              <a:path w="2286000" h="2560320">
                <a:moveTo>
                  <a:pt x="2286000" y="0"/>
                </a:moveTo>
                <a:lnTo>
                  <a:pt x="152274" y="0"/>
                </a:lnTo>
                <a:lnTo>
                  <a:pt x="148152" y="9260"/>
                </a:lnTo>
                <a:lnTo>
                  <a:pt x="130776" y="51066"/>
                </a:lnTo>
                <a:lnTo>
                  <a:pt x="114412" y="93387"/>
                </a:lnTo>
                <a:lnTo>
                  <a:pt x="99076" y="136208"/>
                </a:lnTo>
                <a:lnTo>
                  <a:pt x="84781" y="179513"/>
                </a:lnTo>
                <a:lnTo>
                  <a:pt x="71543" y="223288"/>
                </a:lnTo>
                <a:lnTo>
                  <a:pt x="59377" y="267519"/>
                </a:lnTo>
                <a:lnTo>
                  <a:pt x="48299" y="312188"/>
                </a:lnTo>
                <a:lnTo>
                  <a:pt x="38322" y="357283"/>
                </a:lnTo>
                <a:lnTo>
                  <a:pt x="29463" y="402787"/>
                </a:lnTo>
                <a:lnTo>
                  <a:pt x="21737" y="448686"/>
                </a:lnTo>
                <a:lnTo>
                  <a:pt x="15158" y="494964"/>
                </a:lnTo>
                <a:lnTo>
                  <a:pt x="9741" y="541606"/>
                </a:lnTo>
                <a:lnTo>
                  <a:pt x="5502" y="588598"/>
                </a:lnTo>
                <a:lnTo>
                  <a:pt x="2455" y="635924"/>
                </a:lnTo>
                <a:lnTo>
                  <a:pt x="616" y="683570"/>
                </a:lnTo>
                <a:lnTo>
                  <a:pt x="0" y="731520"/>
                </a:lnTo>
                <a:lnTo>
                  <a:pt x="616" y="779469"/>
                </a:lnTo>
                <a:lnTo>
                  <a:pt x="2455" y="827115"/>
                </a:lnTo>
                <a:lnTo>
                  <a:pt x="5502" y="874441"/>
                </a:lnTo>
                <a:lnTo>
                  <a:pt x="9741" y="921433"/>
                </a:lnTo>
                <a:lnTo>
                  <a:pt x="15158" y="968075"/>
                </a:lnTo>
                <a:lnTo>
                  <a:pt x="21737" y="1014353"/>
                </a:lnTo>
                <a:lnTo>
                  <a:pt x="29464" y="1060252"/>
                </a:lnTo>
                <a:lnTo>
                  <a:pt x="38322" y="1105756"/>
                </a:lnTo>
                <a:lnTo>
                  <a:pt x="48299" y="1150851"/>
                </a:lnTo>
                <a:lnTo>
                  <a:pt x="59377" y="1195520"/>
                </a:lnTo>
                <a:lnTo>
                  <a:pt x="71543" y="1239751"/>
                </a:lnTo>
                <a:lnTo>
                  <a:pt x="84781" y="1283526"/>
                </a:lnTo>
                <a:lnTo>
                  <a:pt x="99076" y="1326831"/>
                </a:lnTo>
                <a:lnTo>
                  <a:pt x="114412" y="1369652"/>
                </a:lnTo>
                <a:lnTo>
                  <a:pt x="130776" y="1411973"/>
                </a:lnTo>
                <a:lnTo>
                  <a:pt x="148152" y="1453779"/>
                </a:lnTo>
                <a:lnTo>
                  <a:pt x="166524" y="1495054"/>
                </a:lnTo>
                <a:lnTo>
                  <a:pt x="185879" y="1535785"/>
                </a:lnTo>
                <a:lnTo>
                  <a:pt x="206200" y="1575955"/>
                </a:lnTo>
                <a:lnTo>
                  <a:pt x="227472" y="1615551"/>
                </a:lnTo>
                <a:lnTo>
                  <a:pt x="249681" y="1654556"/>
                </a:lnTo>
                <a:lnTo>
                  <a:pt x="272812" y="1692955"/>
                </a:lnTo>
                <a:lnTo>
                  <a:pt x="296850" y="1730734"/>
                </a:lnTo>
                <a:lnTo>
                  <a:pt x="321778" y="1767878"/>
                </a:lnTo>
                <a:lnTo>
                  <a:pt x="347583" y="1804371"/>
                </a:lnTo>
                <a:lnTo>
                  <a:pt x="374250" y="1840199"/>
                </a:lnTo>
                <a:lnTo>
                  <a:pt x="401762" y="1875346"/>
                </a:lnTo>
                <a:lnTo>
                  <a:pt x="430106" y="1909797"/>
                </a:lnTo>
                <a:lnTo>
                  <a:pt x="459266" y="1943538"/>
                </a:lnTo>
                <a:lnTo>
                  <a:pt x="489227" y="1976553"/>
                </a:lnTo>
                <a:lnTo>
                  <a:pt x="519974" y="2008827"/>
                </a:lnTo>
                <a:lnTo>
                  <a:pt x="551492" y="2040345"/>
                </a:lnTo>
                <a:lnTo>
                  <a:pt x="583766" y="2071092"/>
                </a:lnTo>
                <a:lnTo>
                  <a:pt x="616781" y="2101053"/>
                </a:lnTo>
                <a:lnTo>
                  <a:pt x="650522" y="2130213"/>
                </a:lnTo>
                <a:lnTo>
                  <a:pt x="684973" y="2158557"/>
                </a:lnTo>
                <a:lnTo>
                  <a:pt x="720120" y="2186069"/>
                </a:lnTo>
                <a:lnTo>
                  <a:pt x="755948" y="2212736"/>
                </a:lnTo>
                <a:lnTo>
                  <a:pt x="792441" y="2238541"/>
                </a:lnTo>
                <a:lnTo>
                  <a:pt x="829585" y="2263469"/>
                </a:lnTo>
                <a:lnTo>
                  <a:pt x="867364" y="2287507"/>
                </a:lnTo>
                <a:lnTo>
                  <a:pt x="905763" y="2310638"/>
                </a:lnTo>
                <a:lnTo>
                  <a:pt x="944768" y="2332847"/>
                </a:lnTo>
                <a:lnTo>
                  <a:pt x="984364" y="2354119"/>
                </a:lnTo>
                <a:lnTo>
                  <a:pt x="1024534" y="2374440"/>
                </a:lnTo>
                <a:lnTo>
                  <a:pt x="1065265" y="2393795"/>
                </a:lnTo>
                <a:lnTo>
                  <a:pt x="1106540" y="2412167"/>
                </a:lnTo>
                <a:lnTo>
                  <a:pt x="1148346" y="2429543"/>
                </a:lnTo>
                <a:lnTo>
                  <a:pt x="1190667" y="2445907"/>
                </a:lnTo>
                <a:lnTo>
                  <a:pt x="1233488" y="2461243"/>
                </a:lnTo>
                <a:lnTo>
                  <a:pt x="1276793" y="2475538"/>
                </a:lnTo>
                <a:lnTo>
                  <a:pt x="1320568" y="2488776"/>
                </a:lnTo>
                <a:lnTo>
                  <a:pt x="1364799" y="2500942"/>
                </a:lnTo>
                <a:lnTo>
                  <a:pt x="1409468" y="2512020"/>
                </a:lnTo>
                <a:lnTo>
                  <a:pt x="1454563" y="2521997"/>
                </a:lnTo>
                <a:lnTo>
                  <a:pt x="1500067" y="2530856"/>
                </a:lnTo>
                <a:lnTo>
                  <a:pt x="1545966" y="2538582"/>
                </a:lnTo>
                <a:lnTo>
                  <a:pt x="1592244" y="2545161"/>
                </a:lnTo>
                <a:lnTo>
                  <a:pt x="1638886" y="2550578"/>
                </a:lnTo>
                <a:lnTo>
                  <a:pt x="1685878" y="2554817"/>
                </a:lnTo>
                <a:lnTo>
                  <a:pt x="1733204" y="2557864"/>
                </a:lnTo>
                <a:lnTo>
                  <a:pt x="1780850" y="2559703"/>
                </a:lnTo>
                <a:lnTo>
                  <a:pt x="1828800" y="2560320"/>
                </a:lnTo>
                <a:lnTo>
                  <a:pt x="1876749" y="2559703"/>
                </a:lnTo>
                <a:lnTo>
                  <a:pt x="1924395" y="2557864"/>
                </a:lnTo>
                <a:lnTo>
                  <a:pt x="1971721" y="2554817"/>
                </a:lnTo>
                <a:lnTo>
                  <a:pt x="2018713" y="2550578"/>
                </a:lnTo>
                <a:lnTo>
                  <a:pt x="2065355" y="2545161"/>
                </a:lnTo>
                <a:lnTo>
                  <a:pt x="2111633" y="2538582"/>
                </a:lnTo>
                <a:lnTo>
                  <a:pt x="2157532" y="2530856"/>
                </a:lnTo>
                <a:lnTo>
                  <a:pt x="2203036" y="2521997"/>
                </a:lnTo>
                <a:lnTo>
                  <a:pt x="2248131" y="2512020"/>
                </a:lnTo>
                <a:lnTo>
                  <a:pt x="2286000" y="2502628"/>
                </a:lnTo>
                <a:lnTo>
                  <a:pt x="2286000" y="0"/>
                </a:lnTo>
                <a:close/>
              </a:path>
            </a:pathLst>
          </a:custGeom>
          <a:solidFill>
            <a:srgbClr val="1A33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858000" y="0"/>
            <a:ext cx="2286000" cy="2560320"/>
          </a:xfrm>
          <a:custGeom>
            <a:avLst/>
            <a:gdLst/>
            <a:ahLst/>
            <a:cxnLst/>
            <a:rect l="l" t="t" r="r" b="b"/>
            <a:pathLst>
              <a:path w="2286000" h="2560320">
                <a:moveTo>
                  <a:pt x="2286000" y="2502628"/>
                </a:moveTo>
                <a:lnTo>
                  <a:pt x="2248131" y="2512020"/>
                </a:lnTo>
                <a:lnTo>
                  <a:pt x="2203036" y="2521997"/>
                </a:lnTo>
                <a:lnTo>
                  <a:pt x="2157532" y="2530855"/>
                </a:lnTo>
                <a:lnTo>
                  <a:pt x="2111633" y="2538582"/>
                </a:lnTo>
                <a:lnTo>
                  <a:pt x="2065355" y="2545161"/>
                </a:lnTo>
                <a:lnTo>
                  <a:pt x="2018713" y="2550578"/>
                </a:lnTo>
                <a:lnTo>
                  <a:pt x="1971721" y="2554817"/>
                </a:lnTo>
                <a:lnTo>
                  <a:pt x="1924395" y="2557864"/>
                </a:lnTo>
                <a:lnTo>
                  <a:pt x="1876749" y="2559703"/>
                </a:lnTo>
                <a:lnTo>
                  <a:pt x="1828800" y="2560320"/>
                </a:lnTo>
                <a:lnTo>
                  <a:pt x="1780850" y="2559703"/>
                </a:lnTo>
                <a:lnTo>
                  <a:pt x="1733204" y="2557864"/>
                </a:lnTo>
                <a:lnTo>
                  <a:pt x="1685878" y="2554817"/>
                </a:lnTo>
                <a:lnTo>
                  <a:pt x="1638886" y="2550578"/>
                </a:lnTo>
                <a:lnTo>
                  <a:pt x="1592244" y="2545161"/>
                </a:lnTo>
                <a:lnTo>
                  <a:pt x="1545966" y="2538582"/>
                </a:lnTo>
                <a:lnTo>
                  <a:pt x="1500067" y="2530856"/>
                </a:lnTo>
                <a:lnTo>
                  <a:pt x="1454563" y="2521997"/>
                </a:lnTo>
                <a:lnTo>
                  <a:pt x="1409468" y="2512020"/>
                </a:lnTo>
                <a:lnTo>
                  <a:pt x="1364799" y="2500942"/>
                </a:lnTo>
                <a:lnTo>
                  <a:pt x="1320568" y="2488776"/>
                </a:lnTo>
                <a:lnTo>
                  <a:pt x="1276793" y="2475538"/>
                </a:lnTo>
                <a:lnTo>
                  <a:pt x="1233488" y="2461243"/>
                </a:lnTo>
                <a:lnTo>
                  <a:pt x="1190667" y="2445907"/>
                </a:lnTo>
                <a:lnTo>
                  <a:pt x="1148346" y="2429543"/>
                </a:lnTo>
                <a:lnTo>
                  <a:pt x="1106540" y="2412167"/>
                </a:lnTo>
                <a:lnTo>
                  <a:pt x="1065265" y="2393795"/>
                </a:lnTo>
                <a:lnTo>
                  <a:pt x="1024534" y="2374440"/>
                </a:lnTo>
                <a:lnTo>
                  <a:pt x="984364" y="2354119"/>
                </a:lnTo>
                <a:lnTo>
                  <a:pt x="944768" y="2332847"/>
                </a:lnTo>
                <a:lnTo>
                  <a:pt x="905763" y="2310638"/>
                </a:lnTo>
                <a:lnTo>
                  <a:pt x="867364" y="2287507"/>
                </a:lnTo>
                <a:lnTo>
                  <a:pt x="829585" y="2263469"/>
                </a:lnTo>
                <a:lnTo>
                  <a:pt x="792441" y="2238541"/>
                </a:lnTo>
                <a:lnTo>
                  <a:pt x="755948" y="2212736"/>
                </a:lnTo>
                <a:lnTo>
                  <a:pt x="720120" y="2186069"/>
                </a:lnTo>
                <a:lnTo>
                  <a:pt x="684973" y="2158557"/>
                </a:lnTo>
                <a:lnTo>
                  <a:pt x="650522" y="2130213"/>
                </a:lnTo>
                <a:lnTo>
                  <a:pt x="616781" y="2101053"/>
                </a:lnTo>
                <a:lnTo>
                  <a:pt x="583766" y="2071092"/>
                </a:lnTo>
                <a:lnTo>
                  <a:pt x="551492" y="2040345"/>
                </a:lnTo>
                <a:lnTo>
                  <a:pt x="519974" y="2008827"/>
                </a:lnTo>
                <a:lnTo>
                  <a:pt x="489227" y="1976553"/>
                </a:lnTo>
                <a:lnTo>
                  <a:pt x="459266" y="1943538"/>
                </a:lnTo>
                <a:lnTo>
                  <a:pt x="430106" y="1909797"/>
                </a:lnTo>
                <a:lnTo>
                  <a:pt x="401762" y="1875346"/>
                </a:lnTo>
                <a:lnTo>
                  <a:pt x="374250" y="1840199"/>
                </a:lnTo>
                <a:lnTo>
                  <a:pt x="347583" y="1804371"/>
                </a:lnTo>
                <a:lnTo>
                  <a:pt x="321778" y="1767878"/>
                </a:lnTo>
                <a:lnTo>
                  <a:pt x="296850" y="1730734"/>
                </a:lnTo>
                <a:lnTo>
                  <a:pt x="272812" y="1692955"/>
                </a:lnTo>
                <a:lnTo>
                  <a:pt x="249681" y="1654556"/>
                </a:lnTo>
                <a:lnTo>
                  <a:pt x="227472" y="1615551"/>
                </a:lnTo>
                <a:lnTo>
                  <a:pt x="206200" y="1575955"/>
                </a:lnTo>
                <a:lnTo>
                  <a:pt x="185879" y="1535785"/>
                </a:lnTo>
                <a:lnTo>
                  <a:pt x="166524" y="1495054"/>
                </a:lnTo>
                <a:lnTo>
                  <a:pt x="148152" y="1453779"/>
                </a:lnTo>
                <a:lnTo>
                  <a:pt x="130776" y="1411973"/>
                </a:lnTo>
                <a:lnTo>
                  <a:pt x="114412" y="1369652"/>
                </a:lnTo>
                <a:lnTo>
                  <a:pt x="99076" y="1326831"/>
                </a:lnTo>
                <a:lnTo>
                  <a:pt x="84781" y="1283526"/>
                </a:lnTo>
                <a:lnTo>
                  <a:pt x="71543" y="1239751"/>
                </a:lnTo>
                <a:lnTo>
                  <a:pt x="59377" y="1195520"/>
                </a:lnTo>
                <a:lnTo>
                  <a:pt x="48299" y="1150851"/>
                </a:lnTo>
                <a:lnTo>
                  <a:pt x="38322" y="1105756"/>
                </a:lnTo>
                <a:lnTo>
                  <a:pt x="29464" y="1060252"/>
                </a:lnTo>
                <a:lnTo>
                  <a:pt x="21737" y="1014353"/>
                </a:lnTo>
                <a:lnTo>
                  <a:pt x="15158" y="968075"/>
                </a:lnTo>
                <a:lnTo>
                  <a:pt x="9741" y="921433"/>
                </a:lnTo>
                <a:lnTo>
                  <a:pt x="5502" y="874441"/>
                </a:lnTo>
                <a:lnTo>
                  <a:pt x="2455" y="827115"/>
                </a:lnTo>
                <a:lnTo>
                  <a:pt x="616" y="779469"/>
                </a:lnTo>
                <a:lnTo>
                  <a:pt x="0" y="731520"/>
                </a:lnTo>
                <a:lnTo>
                  <a:pt x="616" y="683570"/>
                </a:lnTo>
                <a:lnTo>
                  <a:pt x="2455" y="635924"/>
                </a:lnTo>
                <a:lnTo>
                  <a:pt x="5502" y="588598"/>
                </a:lnTo>
                <a:lnTo>
                  <a:pt x="9741" y="541606"/>
                </a:lnTo>
                <a:lnTo>
                  <a:pt x="15158" y="494964"/>
                </a:lnTo>
                <a:lnTo>
                  <a:pt x="21737" y="448686"/>
                </a:lnTo>
                <a:lnTo>
                  <a:pt x="29463" y="402787"/>
                </a:lnTo>
                <a:lnTo>
                  <a:pt x="38322" y="357283"/>
                </a:lnTo>
                <a:lnTo>
                  <a:pt x="48299" y="312188"/>
                </a:lnTo>
                <a:lnTo>
                  <a:pt x="59377" y="267519"/>
                </a:lnTo>
                <a:lnTo>
                  <a:pt x="71543" y="223288"/>
                </a:lnTo>
                <a:lnTo>
                  <a:pt x="84781" y="179513"/>
                </a:lnTo>
                <a:lnTo>
                  <a:pt x="99076" y="136208"/>
                </a:lnTo>
                <a:lnTo>
                  <a:pt x="114412" y="93387"/>
                </a:lnTo>
                <a:lnTo>
                  <a:pt x="130776" y="51066"/>
                </a:lnTo>
                <a:lnTo>
                  <a:pt x="148152" y="9260"/>
                </a:lnTo>
                <a:lnTo>
                  <a:pt x="152274" y="0"/>
                </a:lnTo>
              </a:path>
            </a:pathLst>
          </a:custGeom>
          <a:ln w="12700">
            <a:solidFill>
              <a:srgbClr val="1A33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3200400"/>
            <a:ext cx="1828800" cy="1943100"/>
          </a:xfrm>
          <a:custGeom>
            <a:avLst/>
            <a:gdLst/>
            <a:ahLst/>
            <a:cxnLst/>
            <a:rect l="l" t="t" r="r" b="b"/>
            <a:pathLst>
              <a:path w="1828800" h="1943100">
                <a:moveTo>
                  <a:pt x="685800" y="0"/>
                </a:moveTo>
                <a:lnTo>
                  <a:pt x="637483" y="1002"/>
                </a:lnTo>
                <a:lnTo>
                  <a:pt x="589678" y="3984"/>
                </a:lnTo>
                <a:lnTo>
                  <a:pt x="542424" y="8904"/>
                </a:lnTo>
                <a:lnTo>
                  <a:pt x="495760" y="15724"/>
                </a:lnTo>
                <a:lnTo>
                  <a:pt x="449727" y="24404"/>
                </a:lnTo>
                <a:lnTo>
                  <a:pt x="404363" y="34904"/>
                </a:lnTo>
                <a:lnTo>
                  <a:pt x="359709" y="47185"/>
                </a:lnTo>
                <a:lnTo>
                  <a:pt x="315804" y="61207"/>
                </a:lnTo>
                <a:lnTo>
                  <a:pt x="272688" y="76930"/>
                </a:lnTo>
                <a:lnTo>
                  <a:pt x="230400" y="94314"/>
                </a:lnTo>
                <a:lnTo>
                  <a:pt x="188981" y="113320"/>
                </a:lnTo>
                <a:lnTo>
                  <a:pt x="148470" y="133909"/>
                </a:lnTo>
                <a:lnTo>
                  <a:pt x="108906" y="156040"/>
                </a:lnTo>
                <a:lnTo>
                  <a:pt x="70329" y="179674"/>
                </a:lnTo>
                <a:lnTo>
                  <a:pt x="32779" y="204772"/>
                </a:lnTo>
                <a:lnTo>
                  <a:pt x="0" y="228601"/>
                </a:lnTo>
                <a:lnTo>
                  <a:pt x="0" y="1943100"/>
                </a:lnTo>
                <a:lnTo>
                  <a:pt x="1501857" y="1943100"/>
                </a:lnTo>
                <a:lnTo>
                  <a:pt x="1509797" y="1935159"/>
                </a:lnTo>
                <a:lnTo>
                  <a:pt x="1540351" y="1902113"/>
                </a:lnTo>
                <a:lnTo>
                  <a:pt x="1569601" y="1867882"/>
                </a:lnTo>
                <a:lnTo>
                  <a:pt x="1597506" y="1832505"/>
                </a:lnTo>
                <a:lnTo>
                  <a:pt x="1624027" y="1796022"/>
                </a:lnTo>
                <a:lnTo>
                  <a:pt x="1649125" y="1758472"/>
                </a:lnTo>
                <a:lnTo>
                  <a:pt x="1672759" y="1719896"/>
                </a:lnTo>
                <a:lnTo>
                  <a:pt x="1694890" y="1680332"/>
                </a:lnTo>
                <a:lnTo>
                  <a:pt x="1715479" y="1639820"/>
                </a:lnTo>
                <a:lnTo>
                  <a:pt x="1734485" y="1598401"/>
                </a:lnTo>
                <a:lnTo>
                  <a:pt x="1751869" y="1556113"/>
                </a:lnTo>
                <a:lnTo>
                  <a:pt x="1767592" y="1512997"/>
                </a:lnTo>
                <a:lnTo>
                  <a:pt x="1781614" y="1469092"/>
                </a:lnTo>
                <a:lnTo>
                  <a:pt x="1793895" y="1424437"/>
                </a:lnTo>
                <a:lnTo>
                  <a:pt x="1804395" y="1379074"/>
                </a:lnTo>
                <a:lnTo>
                  <a:pt x="1813075" y="1333040"/>
                </a:lnTo>
                <a:lnTo>
                  <a:pt x="1819895" y="1286376"/>
                </a:lnTo>
                <a:lnTo>
                  <a:pt x="1824815" y="1239121"/>
                </a:lnTo>
                <a:lnTo>
                  <a:pt x="1827797" y="1191316"/>
                </a:lnTo>
                <a:lnTo>
                  <a:pt x="1828800" y="1143000"/>
                </a:lnTo>
                <a:lnTo>
                  <a:pt x="1827797" y="1094679"/>
                </a:lnTo>
                <a:lnTo>
                  <a:pt x="1824815" y="1046871"/>
                </a:lnTo>
                <a:lnTo>
                  <a:pt x="1819895" y="999613"/>
                </a:lnTo>
                <a:lnTo>
                  <a:pt x="1813075" y="952947"/>
                </a:lnTo>
                <a:lnTo>
                  <a:pt x="1804395" y="906911"/>
                </a:lnTo>
                <a:lnTo>
                  <a:pt x="1793895" y="861545"/>
                </a:lnTo>
                <a:lnTo>
                  <a:pt x="1781614" y="816889"/>
                </a:lnTo>
                <a:lnTo>
                  <a:pt x="1767592" y="772982"/>
                </a:lnTo>
                <a:lnTo>
                  <a:pt x="1751869" y="729865"/>
                </a:lnTo>
                <a:lnTo>
                  <a:pt x="1734485" y="687577"/>
                </a:lnTo>
                <a:lnTo>
                  <a:pt x="1715479" y="646157"/>
                </a:lnTo>
                <a:lnTo>
                  <a:pt x="1694890" y="605645"/>
                </a:lnTo>
                <a:lnTo>
                  <a:pt x="1672759" y="566081"/>
                </a:lnTo>
                <a:lnTo>
                  <a:pt x="1649125" y="527504"/>
                </a:lnTo>
                <a:lnTo>
                  <a:pt x="1624027" y="489955"/>
                </a:lnTo>
                <a:lnTo>
                  <a:pt x="1597506" y="453472"/>
                </a:lnTo>
                <a:lnTo>
                  <a:pt x="1569601" y="418096"/>
                </a:lnTo>
                <a:lnTo>
                  <a:pt x="1540351" y="383865"/>
                </a:lnTo>
                <a:lnTo>
                  <a:pt x="1509797" y="350821"/>
                </a:lnTo>
                <a:lnTo>
                  <a:pt x="1477978" y="319002"/>
                </a:lnTo>
                <a:lnTo>
                  <a:pt x="1444934" y="288448"/>
                </a:lnTo>
                <a:lnTo>
                  <a:pt x="1410703" y="259198"/>
                </a:lnTo>
                <a:lnTo>
                  <a:pt x="1375327" y="231293"/>
                </a:lnTo>
                <a:lnTo>
                  <a:pt x="1338844" y="204772"/>
                </a:lnTo>
                <a:lnTo>
                  <a:pt x="1301295" y="179674"/>
                </a:lnTo>
                <a:lnTo>
                  <a:pt x="1262718" y="156040"/>
                </a:lnTo>
                <a:lnTo>
                  <a:pt x="1223154" y="133909"/>
                </a:lnTo>
                <a:lnTo>
                  <a:pt x="1182642" y="113320"/>
                </a:lnTo>
                <a:lnTo>
                  <a:pt x="1141222" y="94314"/>
                </a:lnTo>
                <a:lnTo>
                  <a:pt x="1098934" y="76930"/>
                </a:lnTo>
                <a:lnTo>
                  <a:pt x="1055817" y="61207"/>
                </a:lnTo>
                <a:lnTo>
                  <a:pt x="1011910" y="47185"/>
                </a:lnTo>
                <a:lnTo>
                  <a:pt x="967254" y="34904"/>
                </a:lnTo>
                <a:lnTo>
                  <a:pt x="921888" y="24404"/>
                </a:lnTo>
                <a:lnTo>
                  <a:pt x="875852" y="15724"/>
                </a:lnTo>
                <a:lnTo>
                  <a:pt x="829186" y="8904"/>
                </a:lnTo>
                <a:lnTo>
                  <a:pt x="781928" y="3984"/>
                </a:lnTo>
                <a:lnTo>
                  <a:pt x="734120" y="1002"/>
                </a:lnTo>
                <a:lnTo>
                  <a:pt x="685800" y="0"/>
                </a:lnTo>
                <a:close/>
              </a:path>
            </a:pathLst>
          </a:custGeom>
          <a:solidFill>
            <a:srgbClr val="4990E1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3200400"/>
            <a:ext cx="1828800" cy="1943100"/>
          </a:xfrm>
          <a:custGeom>
            <a:avLst/>
            <a:gdLst/>
            <a:ahLst/>
            <a:cxnLst/>
            <a:rect l="l" t="t" r="r" b="b"/>
            <a:pathLst>
              <a:path w="1828800" h="1943100">
                <a:moveTo>
                  <a:pt x="0" y="228601"/>
                </a:moveTo>
                <a:lnTo>
                  <a:pt x="32779" y="204772"/>
                </a:lnTo>
                <a:lnTo>
                  <a:pt x="70329" y="179674"/>
                </a:lnTo>
                <a:lnTo>
                  <a:pt x="108906" y="156040"/>
                </a:lnTo>
                <a:lnTo>
                  <a:pt x="148470" y="133909"/>
                </a:lnTo>
                <a:lnTo>
                  <a:pt x="188981" y="113320"/>
                </a:lnTo>
                <a:lnTo>
                  <a:pt x="230400" y="94314"/>
                </a:lnTo>
                <a:lnTo>
                  <a:pt x="272688" y="76930"/>
                </a:lnTo>
                <a:lnTo>
                  <a:pt x="315804" y="61207"/>
                </a:lnTo>
                <a:lnTo>
                  <a:pt x="359709" y="47185"/>
                </a:lnTo>
                <a:lnTo>
                  <a:pt x="404363" y="34904"/>
                </a:lnTo>
                <a:lnTo>
                  <a:pt x="449727" y="24404"/>
                </a:lnTo>
                <a:lnTo>
                  <a:pt x="495760" y="15724"/>
                </a:lnTo>
                <a:lnTo>
                  <a:pt x="542424" y="8904"/>
                </a:lnTo>
                <a:lnTo>
                  <a:pt x="589678" y="3984"/>
                </a:lnTo>
                <a:lnTo>
                  <a:pt x="637483" y="1002"/>
                </a:lnTo>
                <a:lnTo>
                  <a:pt x="685800" y="0"/>
                </a:lnTo>
                <a:lnTo>
                  <a:pt x="734120" y="1002"/>
                </a:lnTo>
                <a:lnTo>
                  <a:pt x="781928" y="3984"/>
                </a:lnTo>
                <a:lnTo>
                  <a:pt x="829186" y="8904"/>
                </a:lnTo>
                <a:lnTo>
                  <a:pt x="875852" y="15724"/>
                </a:lnTo>
                <a:lnTo>
                  <a:pt x="921888" y="24404"/>
                </a:lnTo>
                <a:lnTo>
                  <a:pt x="967254" y="34904"/>
                </a:lnTo>
                <a:lnTo>
                  <a:pt x="1011910" y="47185"/>
                </a:lnTo>
                <a:lnTo>
                  <a:pt x="1055817" y="61207"/>
                </a:lnTo>
                <a:lnTo>
                  <a:pt x="1098934" y="76930"/>
                </a:lnTo>
                <a:lnTo>
                  <a:pt x="1141222" y="94314"/>
                </a:lnTo>
                <a:lnTo>
                  <a:pt x="1182642" y="113320"/>
                </a:lnTo>
                <a:lnTo>
                  <a:pt x="1223154" y="133909"/>
                </a:lnTo>
                <a:lnTo>
                  <a:pt x="1262718" y="156040"/>
                </a:lnTo>
                <a:lnTo>
                  <a:pt x="1301295" y="179674"/>
                </a:lnTo>
                <a:lnTo>
                  <a:pt x="1338844" y="204772"/>
                </a:lnTo>
                <a:lnTo>
                  <a:pt x="1375327" y="231293"/>
                </a:lnTo>
                <a:lnTo>
                  <a:pt x="1410703" y="259198"/>
                </a:lnTo>
                <a:lnTo>
                  <a:pt x="1444934" y="288448"/>
                </a:lnTo>
                <a:lnTo>
                  <a:pt x="1477978" y="319002"/>
                </a:lnTo>
                <a:lnTo>
                  <a:pt x="1509797" y="350821"/>
                </a:lnTo>
                <a:lnTo>
                  <a:pt x="1540351" y="383865"/>
                </a:lnTo>
                <a:lnTo>
                  <a:pt x="1569601" y="418096"/>
                </a:lnTo>
                <a:lnTo>
                  <a:pt x="1597506" y="453472"/>
                </a:lnTo>
                <a:lnTo>
                  <a:pt x="1624027" y="489955"/>
                </a:lnTo>
                <a:lnTo>
                  <a:pt x="1649125" y="527504"/>
                </a:lnTo>
                <a:lnTo>
                  <a:pt x="1672759" y="566081"/>
                </a:lnTo>
                <a:lnTo>
                  <a:pt x="1694890" y="605645"/>
                </a:lnTo>
                <a:lnTo>
                  <a:pt x="1715479" y="646157"/>
                </a:lnTo>
                <a:lnTo>
                  <a:pt x="1734485" y="687577"/>
                </a:lnTo>
                <a:lnTo>
                  <a:pt x="1751869" y="729865"/>
                </a:lnTo>
                <a:lnTo>
                  <a:pt x="1767592" y="772982"/>
                </a:lnTo>
                <a:lnTo>
                  <a:pt x="1781614" y="816889"/>
                </a:lnTo>
                <a:lnTo>
                  <a:pt x="1793895" y="861545"/>
                </a:lnTo>
                <a:lnTo>
                  <a:pt x="1804395" y="906911"/>
                </a:lnTo>
                <a:lnTo>
                  <a:pt x="1813075" y="952947"/>
                </a:lnTo>
                <a:lnTo>
                  <a:pt x="1819895" y="999613"/>
                </a:lnTo>
                <a:lnTo>
                  <a:pt x="1824815" y="1046871"/>
                </a:lnTo>
                <a:lnTo>
                  <a:pt x="1827797" y="1094679"/>
                </a:lnTo>
                <a:lnTo>
                  <a:pt x="1828800" y="1143000"/>
                </a:lnTo>
                <a:lnTo>
                  <a:pt x="1827797" y="1191316"/>
                </a:lnTo>
                <a:lnTo>
                  <a:pt x="1824815" y="1239121"/>
                </a:lnTo>
                <a:lnTo>
                  <a:pt x="1819895" y="1286376"/>
                </a:lnTo>
                <a:lnTo>
                  <a:pt x="1813075" y="1333040"/>
                </a:lnTo>
                <a:lnTo>
                  <a:pt x="1804395" y="1379074"/>
                </a:lnTo>
                <a:lnTo>
                  <a:pt x="1793895" y="1424437"/>
                </a:lnTo>
                <a:lnTo>
                  <a:pt x="1781614" y="1469092"/>
                </a:lnTo>
                <a:lnTo>
                  <a:pt x="1767592" y="1512997"/>
                </a:lnTo>
                <a:lnTo>
                  <a:pt x="1751869" y="1556113"/>
                </a:lnTo>
                <a:lnTo>
                  <a:pt x="1734485" y="1598401"/>
                </a:lnTo>
                <a:lnTo>
                  <a:pt x="1715479" y="1639820"/>
                </a:lnTo>
                <a:lnTo>
                  <a:pt x="1694890" y="1680332"/>
                </a:lnTo>
                <a:lnTo>
                  <a:pt x="1672759" y="1719896"/>
                </a:lnTo>
                <a:lnTo>
                  <a:pt x="1649125" y="1758472"/>
                </a:lnTo>
                <a:lnTo>
                  <a:pt x="1624027" y="1796022"/>
                </a:lnTo>
                <a:lnTo>
                  <a:pt x="1597506" y="1832505"/>
                </a:lnTo>
                <a:lnTo>
                  <a:pt x="1569601" y="1867882"/>
                </a:lnTo>
                <a:lnTo>
                  <a:pt x="1540351" y="1902113"/>
                </a:lnTo>
                <a:lnTo>
                  <a:pt x="1509797" y="1935159"/>
                </a:lnTo>
                <a:lnTo>
                  <a:pt x="1501857" y="1943100"/>
                </a:lnTo>
              </a:path>
            </a:pathLst>
          </a:custGeom>
          <a:ln w="12700">
            <a:solidFill>
              <a:srgbClr val="4990E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88276" y="3008122"/>
            <a:ext cx="4194175" cy="1384935"/>
          </a:xfrm>
          <a:custGeom>
            <a:avLst/>
            <a:gdLst/>
            <a:ahLst/>
            <a:cxnLst/>
            <a:rect l="l" t="t" r="r" b="b"/>
            <a:pathLst>
              <a:path w="4194175" h="1384935">
                <a:moveTo>
                  <a:pt x="4071378" y="0"/>
                </a:moveTo>
                <a:lnTo>
                  <a:pt x="122199" y="0"/>
                </a:lnTo>
                <a:lnTo>
                  <a:pt x="74634" y="9588"/>
                </a:lnTo>
                <a:lnTo>
                  <a:pt x="35791" y="35750"/>
                </a:lnTo>
                <a:lnTo>
                  <a:pt x="9603" y="74580"/>
                </a:lnTo>
                <a:lnTo>
                  <a:pt x="0" y="122173"/>
                </a:lnTo>
                <a:lnTo>
                  <a:pt x="0" y="1262583"/>
                </a:lnTo>
                <a:lnTo>
                  <a:pt x="9603" y="1310148"/>
                </a:lnTo>
                <a:lnTo>
                  <a:pt x="35791" y="1348990"/>
                </a:lnTo>
                <a:lnTo>
                  <a:pt x="74634" y="1375179"/>
                </a:lnTo>
                <a:lnTo>
                  <a:pt x="122199" y="1384782"/>
                </a:lnTo>
                <a:lnTo>
                  <a:pt x="4071378" y="1384782"/>
                </a:lnTo>
                <a:lnTo>
                  <a:pt x="4118991" y="1375179"/>
                </a:lnTo>
                <a:lnTo>
                  <a:pt x="4157865" y="1348990"/>
                </a:lnTo>
                <a:lnTo>
                  <a:pt x="4184071" y="1310148"/>
                </a:lnTo>
                <a:lnTo>
                  <a:pt x="4193679" y="1262583"/>
                </a:lnTo>
                <a:lnTo>
                  <a:pt x="4193679" y="122173"/>
                </a:lnTo>
                <a:lnTo>
                  <a:pt x="4184071" y="74580"/>
                </a:lnTo>
                <a:lnTo>
                  <a:pt x="4157865" y="35750"/>
                </a:lnTo>
                <a:lnTo>
                  <a:pt x="4118991" y="9588"/>
                </a:lnTo>
                <a:lnTo>
                  <a:pt x="4071378" y="0"/>
                </a:lnTo>
                <a:close/>
              </a:path>
            </a:pathLst>
          </a:custGeom>
          <a:solidFill>
            <a:srgbClr val="4990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88276" y="3008122"/>
            <a:ext cx="4194175" cy="1384935"/>
          </a:xfrm>
          <a:custGeom>
            <a:avLst/>
            <a:gdLst/>
            <a:ahLst/>
            <a:cxnLst/>
            <a:rect l="l" t="t" r="r" b="b"/>
            <a:pathLst>
              <a:path w="4194175" h="1384935">
                <a:moveTo>
                  <a:pt x="0" y="122173"/>
                </a:moveTo>
                <a:lnTo>
                  <a:pt x="9603" y="74580"/>
                </a:lnTo>
                <a:lnTo>
                  <a:pt x="35791" y="35750"/>
                </a:lnTo>
                <a:lnTo>
                  <a:pt x="74634" y="9588"/>
                </a:lnTo>
                <a:lnTo>
                  <a:pt x="122199" y="0"/>
                </a:lnTo>
                <a:lnTo>
                  <a:pt x="4071378" y="0"/>
                </a:lnTo>
                <a:lnTo>
                  <a:pt x="4118991" y="9588"/>
                </a:lnTo>
                <a:lnTo>
                  <a:pt x="4157865" y="35750"/>
                </a:lnTo>
                <a:lnTo>
                  <a:pt x="4184071" y="74580"/>
                </a:lnTo>
                <a:lnTo>
                  <a:pt x="4193679" y="122173"/>
                </a:lnTo>
                <a:lnTo>
                  <a:pt x="4193679" y="1262583"/>
                </a:lnTo>
                <a:lnTo>
                  <a:pt x="4184071" y="1310148"/>
                </a:lnTo>
                <a:lnTo>
                  <a:pt x="4157865" y="1348990"/>
                </a:lnTo>
                <a:lnTo>
                  <a:pt x="4118991" y="1375179"/>
                </a:lnTo>
                <a:lnTo>
                  <a:pt x="4071378" y="1384782"/>
                </a:lnTo>
                <a:lnTo>
                  <a:pt x="122199" y="1384782"/>
                </a:lnTo>
                <a:lnTo>
                  <a:pt x="74634" y="1375179"/>
                </a:lnTo>
                <a:lnTo>
                  <a:pt x="35791" y="1348990"/>
                </a:lnTo>
                <a:lnTo>
                  <a:pt x="9603" y="1310148"/>
                </a:lnTo>
                <a:lnTo>
                  <a:pt x="0" y="1262583"/>
                </a:lnTo>
                <a:lnTo>
                  <a:pt x="0" y="122173"/>
                </a:lnTo>
                <a:close/>
              </a:path>
            </a:pathLst>
          </a:custGeom>
          <a:ln w="12700">
            <a:solidFill>
              <a:srgbClr val="4990E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8819" y="1307719"/>
            <a:ext cx="6645275" cy="818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E39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1E39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E39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rgbClr val="1E39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E39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E39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645920"/>
            <a:ext cx="320040" cy="3497579"/>
          </a:xfrm>
          <a:custGeom>
            <a:avLst/>
            <a:gdLst/>
            <a:ahLst/>
            <a:cxnLst/>
            <a:rect l="l" t="t" r="r" b="b"/>
            <a:pathLst>
              <a:path w="320040" h="3497579">
                <a:moveTo>
                  <a:pt x="0" y="3497579"/>
                </a:moveTo>
                <a:lnTo>
                  <a:pt x="320040" y="3497579"/>
                </a:lnTo>
                <a:lnTo>
                  <a:pt x="320040" y="0"/>
                </a:lnTo>
                <a:lnTo>
                  <a:pt x="0" y="0"/>
                </a:lnTo>
                <a:lnTo>
                  <a:pt x="0" y="3497579"/>
                </a:lnTo>
                <a:close/>
              </a:path>
            </a:pathLst>
          </a:custGeom>
          <a:solidFill>
            <a:srgbClr val="F4F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320040" cy="5143500"/>
          </a:xfrm>
          <a:custGeom>
            <a:avLst/>
            <a:gdLst/>
            <a:ahLst/>
            <a:cxnLst/>
            <a:rect l="l" t="t" r="r" b="b"/>
            <a:pathLst>
              <a:path w="320040" h="5143500">
                <a:moveTo>
                  <a:pt x="0" y="5143500"/>
                </a:moveTo>
                <a:lnTo>
                  <a:pt x="320040" y="5143500"/>
                </a:lnTo>
                <a:lnTo>
                  <a:pt x="32004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ln w="12700">
            <a:solidFill>
              <a:srgbClr val="F4F6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320040" cy="1645920"/>
          </a:xfrm>
          <a:custGeom>
            <a:avLst/>
            <a:gdLst/>
            <a:ahLst/>
            <a:cxnLst/>
            <a:rect l="l" t="t" r="r" b="b"/>
            <a:pathLst>
              <a:path w="320040" h="1645920">
                <a:moveTo>
                  <a:pt x="320040" y="0"/>
                </a:moveTo>
                <a:lnTo>
                  <a:pt x="0" y="0"/>
                </a:lnTo>
                <a:lnTo>
                  <a:pt x="0" y="1645920"/>
                </a:lnTo>
                <a:lnTo>
                  <a:pt x="320040" y="1645920"/>
                </a:lnTo>
                <a:lnTo>
                  <a:pt x="320040" y="0"/>
                </a:lnTo>
                <a:close/>
              </a:path>
            </a:pathLst>
          </a:custGeom>
          <a:solidFill>
            <a:srgbClr val="1E3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320040" cy="1645920"/>
          </a:xfrm>
          <a:custGeom>
            <a:avLst/>
            <a:gdLst/>
            <a:ahLst/>
            <a:cxnLst/>
            <a:rect l="l" t="t" r="r" b="b"/>
            <a:pathLst>
              <a:path w="320040" h="1645920">
                <a:moveTo>
                  <a:pt x="0" y="1645920"/>
                </a:moveTo>
                <a:lnTo>
                  <a:pt x="320040" y="1645920"/>
                </a:lnTo>
                <a:lnTo>
                  <a:pt x="320040" y="0"/>
                </a:lnTo>
                <a:lnTo>
                  <a:pt x="0" y="0"/>
                </a:lnTo>
                <a:lnTo>
                  <a:pt x="0" y="1645920"/>
                </a:lnTo>
                <a:close/>
              </a:path>
            </a:pathLst>
          </a:custGeom>
          <a:ln w="12700">
            <a:solidFill>
              <a:srgbClr val="1E39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395986"/>
            <a:ext cx="798068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E39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772539"/>
            <a:ext cx="5093335" cy="2319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1E39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E3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577330" y="-6350"/>
            <a:ext cx="2573020" cy="2755900"/>
            <a:chOff x="6577330" y="-6350"/>
            <a:chExt cx="2573020" cy="2755900"/>
          </a:xfrm>
        </p:grpSpPr>
        <p:sp>
          <p:nvSpPr>
            <p:cNvPr id="4" name="object 4"/>
            <p:cNvSpPr/>
            <p:nvPr/>
          </p:nvSpPr>
          <p:spPr>
            <a:xfrm>
              <a:off x="6583680" y="0"/>
              <a:ext cx="2560320" cy="2743200"/>
            </a:xfrm>
            <a:custGeom>
              <a:avLst/>
              <a:gdLst/>
              <a:ahLst/>
              <a:cxnLst/>
              <a:rect l="l" t="t" r="r" b="b"/>
              <a:pathLst>
                <a:path w="2560320" h="2743200">
                  <a:moveTo>
                    <a:pt x="2560320" y="0"/>
                  </a:moveTo>
                  <a:lnTo>
                    <a:pt x="117153" y="0"/>
                  </a:lnTo>
                  <a:lnTo>
                    <a:pt x="104887" y="35503"/>
                  </a:lnTo>
                  <a:lnTo>
                    <a:pt x="90786" y="79518"/>
                  </a:lnTo>
                  <a:lnTo>
                    <a:pt x="77653" y="123957"/>
                  </a:lnTo>
                  <a:lnTo>
                    <a:pt x="65499" y="168807"/>
                  </a:lnTo>
                  <a:lnTo>
                    <a:pt x="54337" y="214057"/>
                  </a:lnTo>
                  <a:lnTo>
                    <a:pt x="44180" y="259694"/>
                  </a:lnTo>
                  <a:lnTo>
                    <a:pt x="35039" y="305705"/>
                  </a:lnTo>
                  <a:lnTo>
                    <a:pt x="26927" y="352079"/>
                  </a:lnTo>
                  <a:lnTo>
                    <a:pt x="19857" y="398802"/>
                  </a:lnTo>
                  <a:lnTo>
                    <a:pt x="13841" y="445864"/>
                  </a:lnTo>
                  <a:lnTo>
                    <a:pt x="8891" y="493250"/>
                  </a:lnTo>
                  <a:lnTo>
                    <a:pt x="5020" y="540949"/>
                  </a:lnTo>
                  <a:lnTo>
                    <a:pt x="2239" y="588948"/>
                  </a:lnTo>
                  <a:lnTo>
                    <a:pt x="561" y="637236"/>
                  </a:lnTo>
                  <a:lnTo>
                    <a:pt x="0" y="685800"/>
                  </a:lnTo>
                  <a:lnTo>
                    <a:pt x="561" y="734363"/>
                  </a:lnTo>
                  <a:lnTo>
                    <a:pt x="2239" y="782651"/>
                  </a:lnTo>
                  <a:lnTo>
                    <a:pt x="5020" y="830650"/>
                  </a:lnTo>
                  <a:lnTo>
                    <a:pt x="8891" y="878349"/>
                  </a:lnTo>
                  <a:lnTo>
                    <a:pt x="13841" y="925735"/>
                  </a:lnTo>
                  <a:lnTo>
                    <a:pt x="19857" y="972797"/>
                  </a:lnTo>
                  <a:lnTo>
                    <a:pt x="26927" y="1019520"/>
                  </a:lnTo>
                  <a:lnTo>
                    <a:pt x="35039" y="1065894"/>
                  </a:lnTo>
                  <a:lnTo>
                    <a:pt x="44180" y="1111905"/>
                  </a:lnTo>
                  <a:lnTo>
                    <a:pt x="54337" y="1157542"/>
                  </a:lnTo>
                  <a:lnTo>
                    <a:pt x="65499" y="1202792"/>
                  </a:lnTo>
                  <a:lnTo>
                    <a:pt x="77653" y="1247642"/>
                  </a:lnTo>
                  <a:lnTo>
                    <a:pt x="90786" y="1292081"/>
                  </a:lnTo>
                  <a:lnTo>
                    <a:pt x="104887" y="1336096"/>
                  </a:lnTo>
                  <a:lnTo>
                    <a:pt x="119943" y="1379675"/>
                  </a:lnTo>
                  <a:lnTo>
                    <a:pt x="135942" y="1422805"/>
                  </a:lnTo>
                  <a:lnTo>
                    <a:pt x="152871" y="1465474"/>
                  </a:lnTo>
                  <a:lnTo>
                    <a:pt x="170718" y="1507670"/>
                  </a:lnTo>
                  <a:lnTo>
                    <a:pt x="189470" y="1549379"/>
                  </a:lnTo>
                  <a:lnTo>
                    <a:pt x="209116" y="1590591"/>
                  </a:lnTo>
                  <a:lnTo>
                    <a:pt x="229643" y="1631293"/>
                  </a:lnTo>
                  <a:lnTo>
                    <a:pt x="251038" y="1671471"/>
                  </a:lnTo>
                  <a:lnTo>
                    <a:pt x="273290" y="1711115"/>
                  </a:lnTo>
                  <a:lnTo>
                    <a:pt x="296385" y="1750210"/>
                  </a:lnTo>
                  <a:lnTo>
                    <a:pt x="320312" y="1788747"/>
                  </a:lnTo>
                  <a:lnTo>
                    <a:pt x="345058" y="1826711"/>
                  </a:lnTo>
                  <a:lnTo>
                    <a:pt x="370611" y="1864090"/>
                  </a:lnTo>
                  <a:lnTo>
                    <a:pt x="396959" y="1900873"/>
                  </a:lnTo>
                  <a:lnTo>
                    <a:pt x="424088" y="1937046"/>
                  </a:lnTo>
                  <a:lnTo>
                    <a:pt x="451988" y="1972598"/>
                  </a:lnTo>
                  <a:lnTo>
                    <a:pt x="480644" y="2007515"/>
                  </a:lnTo>
                  <a:lnTo>
                    <a:pt x="510046" y="2041787"/>
                  </a:lnTo>
                  <a:lnTo>
                    <a:pt x="540181" y="2075400"/>
                  </a:lnTo>
                  <a:lnTo>
                    <a:pt x="571036" y="2108342"/>
                  </a:lnTo>
                  <a:lnTo>
                    <a:pt x="602599" y="2140600"/>
                  </a:lnTo>
                  <a:lnTo>
                    <a:pt x="634857" y="2172163"/>
                  </a:lnTo>
                  <a:lnTo>
                    <a:pt x="667799" y="2203018"/>
                  </a:lnTo>
                  <a:lnTo>
                    <a:pt x="701412" y="2233153"/>
                  </a:lnTo>
                  <a:lnTo>
                    <a:pt x="735684" y="2262555"/>
                  </a:lnTo>
                  <a:lnTo>
                    <a:pt x="770601" y="2291211"/>
                  </a:lnTo>
                  <a:lnTo>
                    <a:pt x="806153" y="2319111"/>
                  </a:lnTo>
                  <a:lnTo>
                    <a:pt x="842326" y="2346240"/>
                  </a:lnTo>
                  <a:lnTo>
                    <a:pt x="879109" y="2372588"/>
                  </a:lnTo>
                  <a:lnTo>
                    <a:pt x="916488" y="2398141"/>
                  </a:lnTo>
                  <a:lnTo>
                    <a:pt x="954452" y="2422887"/>
                  </a:lnTo>
                  <a:lnTo>
                    <a:pt x="992989" y="2446814"/>
                  </a:lnTo>
                  <a:lnTo>
                    <a:pt x="1032084" y="2469909"/>
                  </a:lnTo>
                  <a:lnTo>
                    <a:pt x="1071728" y="2492161"/>
                  </a:lnTo>
                  <a:lnTo>
                    <a:pt x="1111906" y="2513556"/>
                  </a:lnTo>
                  <a:lnTo>
                    <a:pt x="1152608" y="2534083"/>
                  </a:lnTo>
                  <a:lnTo>
                    <a:pt x="1193820" y="2553729"/>
                  </a:lnTo>
                  <a:lnTo>
                    <a:pt x="1235529" y="2572481"/>
                  </a:lnTo>
                  <a:lnTo>
                    <a:pt x="1277725" y="2590328"/>
                  </a:lnTo>
                  <a:lnTo>
                    <a:pt x="1320394" y="2607257"/>
                  </a:lnTo>
                  <a:lnTo>
                    <a:pt x="1363524" y="2623256"/>
                  </a:lnTo>
                  <a:lnTo>
                    <a:pt x="1407103" y="2638312"/>
                  </a:lnTo>
                  <a:lnTo>
                    <a:pt x="1451118" y="2652413"/>
                  </a:lnTo>
                  <a:lnTo>
                    <a:pt x="1495557" y="2665546"/>
                  </a:lnTo>
                  <a:lnTo>
                    <a:pt x="1540407" y="2677700"/>
                  </a:lnTo>
                  <a:lnTo>
                    <a:pt x="1585657" y="2688862"/>
                  </a:lnTo>
                  <a:lnTo>
                    <a:pt x="1631294" y="2699019"/>
                  </a:lnTo>
                  <a:lnTo>
                    <a:pt x="1677305" y="2708160"/>
                  </a:lnTo>
                  <a:lnTo>
                    <a:pt x="1723679" y="2716272"/>
                  </a:lnTo>
                  <a:lnTo>
                    <a:pt x="1770402" y="2723342"/>
                  </a:lnTo>
                  <a:lnTo>
                    <a:pt x="1817464" y="2729358"/>
                  </a:lnTo>
                  <a:lnTo>
                    <a:pt x="1864850" y="2734308"/>
                  </a:lnTo>
                  <a:lnTo>
                    <a:pt x="1912549" y="2738179"/>
                  </a:lnTo>
                  <a:lnTo>
                    <a:pt x="1960548" y="2740960"/>
                  </a:lnTo>
                  <a:lnTo>
                    <a:pt x="2008836" y="2742638"/>
                  </a:lnTo>
                  <a:lnTo>
                    <a:pt x="2057400" y="2743200"/>
                  </a:lnTo>
                  <a:lnTo>
                    <a:pt x="2105963" y="2742638"/>
                  </a:lnTo>
                  <a:lnTo>
                    <a:pt x="2154251" y="2740960"/>
                  </a:lnTo>
                  <a:lnTo>
                    <a:pt x="2202250" y="2738179"/>
                  </a:lnTo>
                  <a:lnTo>
                    <a:pt x="2249949" y="2734308"/>
                  </a:lnTo>
                  <a:lnTo>
                    <a:pt x="2297335" y="2729358"/>
                  </a:lnTo>
                  <a:lnTo>
                    <a:pt x="2344397" y="2723342"/>
                  </a:lnTo>
                  <a:lnTo>
                    <a:pt x="2391120" y="2716272"/>
                  </a:lnTo>
                  <a:lnTo>
                    <a:pt x="2437494" y="2708160"/>
                  </a:lnTo>
                  <a:lnTo>
                    <a:pt x="2483505" y="2699019"/>
                  </a:lnTo>
                  <a:lnTo>
                    <a:pt x="2529142" y="2688862"/>
                  </a:lnTo>
                  <a:lnTo>
                    <a:pt x="2560320" y="2681171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1A3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83680" y="0"/>
              <a:ext cx="2560320" cy="2743200"/>
            </a:xfrm>
            <a:custGeom>
              <a:avLst/>
              <a:gdLst/>
              <a:ahLst/>
              <a:cxnLst/>
              <a:rect l="l" t="t" r="r" b="b"/>
              <a:pathLst>
                <a:path w="2560320" h="2743200">
                  <a:moveTo>
                    <a:pt x="2560320" y="2681171"/>
                  </a:moveTo>
                  <a:lnTo>
                    <a:pt x="2483505" y="2699019"/>
                  </a:lnTo>
                  <a:lnTo>
                    <a:pt x="2437494" y="2708160"/>
                  </a:lnTo>
                  <a:lnTo>
                    <a:pt x="2391120" y="2716272"/>
                  </a:lnTo>
                  <a:lnTo>
                    <a:pt x="2344397" y="2723342"/>
                  </a:lnTo>
                  <a:lnTo>
                    <a:pt x="2297335" y="2729358"/>
                  </a:lnTo>
                  <a:lnTo>
                    <a:pt x="2249949" y="2734308"/>
                  </a:lnTo>
                  <a:lnTo>
                    <a:pt x="2202250" y="2738179"/>
                  </a:lnTo>
                  <a:lnTo>
                    <a:pt x="2154251" y="2740960"/>
                  </a:lnTo>
                  <a:lnTo>
                    <a:pt x="2105963" y="2742638"/>
                  </a:lnTo>
                  <a:lnTo>
                    <a:pt x="2057400" y="2743200"/>
                  </a:lnTo>
                  <a:lnTo>
                    <a:pt x="2008836" y="2742638"/>
                  </a:lnTo>
                  <a:lnTo>
                    <a:pt x="1960548" y="2740960"/>
                  </a:lnTo>
                  <a:lnTo>
                    <a:pt x="1912549" y="2738179"/>
                  </a:lnTo>
                  <a:lnTo>
                    <a:pt x="1864850" y="2734308"/>
                  </a:lnTo>
                  <a:lnTo>
                    <a:pt x="1817464" y="2729358"/>
                  </a:lnTo>
                  <a:lnTo>
                    <a:pt x="1770402" y="2723342"/>
                  </a:lnTo>
                  <a:lnTo>
                    <a:pt x="1723679" y="2716272"/>
                  </a:lnTo>
                  <a:lnTo>
                    <a:pt x="1677305" y="2708160"/>
                  </a:lnTo>
                  <a:lnTo>
                    <a:pt x="1631294" y="2699019"/>
                  </a:lnTo>
                  <a:lnTo>
                    <a:pt x="1585657" y="2688862"/>
                  </a:lnTo>
                  <a:lnTo>
                    <a:pt x="1540407" y="2677700"/>
                  </a:lnTo>
                  <a:lnTo>
                    <a:pt x="1495557" y="2665546"/>
                  </a:lnTo>
                  <a:lnTo>
                    <a:pt x="1451118" y="2652413"/>
                  </a:lnTo>
                  <a:lnTo>
                    <a:pt x="1407103" y="2638312"/>
                  </a:lnTo>
                  <a:lnTo>
                    <a:pt x="1363524" y="2623256"/>
                  </a:lnTo>
                  <a:lnTo>
                    <a:pt x="1320394" y="2607257"/>
                  </a:lnTo>
                  <a:lnTo>
                    <a:pt x="1277725" y="2590328"/>
                  </a:lnTo>
                  <a:lnTo>
                    <a:pt x="1235529" y="2572481"/>
                  </a:lnTo>
                  <a:lnTo>
                    <a:pt x="1193820" y="2553729"/>
                  </a:lnTo>
                  <a:lnTo>
                    <a:pt x="1152608" y="2534083"/>
                  </a:lnTo>
                  <a:lnTo>
                    <a:pt x="1111906" y="2513556"/>
                  </a:lnTo>
                  <a:lnTo>
                    <a:pt x="1071728" y="2492161"/>
                  </a:lnTo>
                  <a:lnTo>
                    <a:pt x="1032084" y="2469909"/>
                  </a:lnTo>
                  <a:lnTo>
                    <a:pt x="992989" y="2446814"/>
                  </a:lnTo>
                  <a:lnTo>
                    <a:pt x="954452" y="2422887"/>
                  </a:lnTo>
                  <a:lnTo>
                    <a:pt x="916488" y="2398141"/>
                  </a:lnTo>
                  <a:lnTo>
                    <a:pt x="879109" y="2372588"/>
                  </a:lnTo>
                  <a:lnTo>
                    <a:pt x="842326" y="2346240"/>
                  </a:lnTo>
                  <a:lnTo>
                    <a:pt x="806153" y="2319111"/>
                  </a:lnTo>
                  <a:lnTo>
                    <a:pt x="770601" y="2291211"/>
                  </a:lnTo>
                  <a:lnTo>
                    <a:pt x="735684" y="2262555"/>
                  </a:lnTo>
                  <a:lnTo>
                    <a:pt x="701412" y="2233153"/>
                  </a:lnTo>
                  <a:lnTo>
                    <a:pt x="667799" y="2203018"/>
                  </a:lnTo>
                  <a:lnTo>
                    <a:pt x="634857" y="2172163"/>
                  </a:lnTo>
                  <a:lnTo>
                    <a:pt x="602599" y="2140600"/>
                  </a:lnTo>
                  <a:lnTo>
                    <a:pt x="571036" y="2108342"/>
                  </a:lnTo>
                  <a:lnTo>
                    <a:pt x="540181" y="2075400"/>
                  </a:lnTo>
                  <a:lnTo>
                    <a:pt x="510046" y="2041787"/>
                  </a:lnTo>
                  <a:lnTo>
                    <a:pt x="480644" y="2007515"/>
                  </a:lnTo>
                  <a:lnTo>
                    <a:pt x="451988" y="1972598"/>
                  </a:lnTo>
                  <a:lnTo>
                    <a:pt x="424088" y="1937046"/>
                  </a:lnTo>
                  <a:lnTo>
                    <a:pt x="396959" y="1900873"/>
                  </a:lnTo>
                  <a:lnTo>
                    <a:pt x="370611" y="1864090"/>
                  </a:lnTo>
                  <a:lnTo>
                    <a:pt x="345058" y="1826711"/>
                  </a:lnTo>
                  <a:lnTo>
                    <a:pt x="320312" y="1788747"/>
                  </a:lnTo>
                  <a:lnTo>
                    <a:pt x="296385" y="1750210"/>
                  </a:lnTo>
                  <a:lnTo>
                    <a:pt x="273290" y="1711115"/>
                  </a:lnTo>
                  <a:lnTo>
                    <a:pt x="251038" y="1671471"/>
                  </a:lnTo>
                  <a:lnTo>
                    <a:pt x="229643" y="1631293"/>
                  </a:lnTo>
                  <a:lnTo>
                    <a:pt x="209116" y="1590591"/>
                  </a:lnTo>
                  <a:lnTo>
                    <a:pt x="189470" y="1549379"/>
                  </a:lnTo>
                  <a:lnTo>
                    <a:pt x="170718" y="1507670"/>
                  </a:lnTo>
                  <a:lnTo>
                    <a:pt x="152871" y="1465474"/>
                  </a:lnTo>
                  <a:lnTo>
                    <a:pt x="135942" y="1422805"/>
                  </a:lnTo>
                  <a:lnTo>
                    <a:pt x="119943" y="1379675"/>
                  </a:lnTo>
                  <a:lnTo>
                    <a:pt x="104887" y="1336096"/>
                  </a:lnTo>
                  <a:lnTo>
                    <a:pt x="90786" y="1292081"/>
                  </a:lnTo>
                  <a:lnTo>
                    <a:pt x="77653" y="1247642"/>
                  </a:lnTo>
                  <a:lnTo>
                    <a:pt x="65499" y="1202792"/>
                  </a:lnTo>
                  <a:lnTo>
                    <a:pt x="54337" y="1157542"/>
                  </a:lnTo>
                  <a:lnTo>
                    <a:pt x="44180" y="1111905"/>
                  </a:lnTo>
                  <a:lnTo>
                    <a:pt x="35039" y="1065894"/>
                  </a:lnTo>
                  <a:lnTo>
                    <a:pt x="26927" y="1019520"/>
                  </a:lnTo>
                  <a:lnTo>
                    <a:pt x="19857" y="972797"/>
                  </a:lnTo>
                  <a:lnTo>
                    <a:pt x="13841" y="925735"/>
                  </a:lnTo>
                  <a:lnTo>
                    <a:pt x="8891" y="878349"/>
                  </a:lnTo>
                  <a:lnTo>
                    <a:pt x="5020" y="830650"/>
                  </a:lnTo>
                  <a:lnTo>
                    <a:pt x="2239" y="782651"/>
                  </a:lnTo>
                  <a:lnTo>
                    <a:pt x="561" y="734363"/>
                  </a:lnTo>
                  <a:lnTo>
                    <a:pt x="0" y="685800"/>
                  </a:lnTo>
                  <a:lnTo>
                    <a:pt x="561" y="637236"/>
                  </a:lnTo>
                  <a:lnTo>
                    <a:pt x="2239" y="588948"/>
                  </a:lnTo>
                  <a:lnTo>
                    <a:pt x="5020" y="540949"/>
                  </a:lnTo>
                  <a:lnTo>
                    <a:pt x="8891" y="493250"/>
                  </a:lnTo>
                  <a:lnTo>
                    <a:pt x="13841" y="445864"/>
                  </a:lnTo>
                  <a:lnTo>
                    <a:pt x="19857" y="398802"/>
                  </a:lnTo>
                  <a:lnTo>
                    <a:pt x="26927" y="352079"/>
                  </a:lnTo>
                  <a:lnTo>
                    <a:pt x="35039" y="305705"/>
                  </a:lnTo>
                  <a:lnTo>
                    <a:pt x="44180" y="259694"/>
                  </a:lnTo>
                  <a:lnTo>
                    <a:pt x="54337" y="214057"/>
                  </a:lnTo>
                  <a:lnTo>
                    <a:pt x="65499" y="168807"/>
                  </a:lnTo>
                  <a:lnTo>
                    <a:pt x="77653" y="123957"/>
                  </a:lnTo>
                  <a:lnTo>
                    <a:pt x="90786" y="79518"/>
                  </a:lnTo>
                  <a:lnTo>
                    <a:pt x="104887" y="35503"/>
                  </a:lnTo>
                  <a:lnTo>
                    <a:pt x="117153" y="0"/>
                  </a:lnTo>
                </a:path>
              </a:pathLst>
            </a:custGeom>
            <a:ln w="12700">
              <a:solidFill>
                <a:srgbClr val="1A33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32320" y="0"/>
              <a:ext cx="2011680" cy="2011680"/>
            </a:xfrm>
            <a:custGeom>
              <a:avLst/>
              <a:gdLst/>
              <a:ahLst/>
              <a:cxnLst/>
              <a:rect l="l" t="t" r="r" b="b"/>
              <a:pathLst>
                <a:path w="2011679" h="2011680">
                  <a:moveTo>
                    <a:pt x="2011679" y="0"/>
                  </a:moveTo>
                  <a:lnTo>
                    <a:pt x="106364" y="0"/>
                  </a:lnTo>
                  <a:lnTo>
                    <a:pt x="89768" y="42926"/>
                  </a:lnTo>
                  <a:lnTo>
                    <a:pt x="74590" y="86221"/>
                  </a:lnTo>
                  <a:lnTo>
                    <a:pt x="60743" y="130125"/>
                  </a:lnTo>
                  <a:lnTo>
                    <a:pt x="48252" y="174612"/>
                  </a:lnTo>
                  <a:lnTo>
                    <a:pt x="37139" y="219659"/>
                  </a:lnTo>
                  <a:lnTo>
                    <a:pt x="27431" y="265242"/>
                  </a:lnTo>
                  <a:lnTo>
                    <a:pt x="19149" y="311337"/>
                  </a:lnTo>
                  <a:lnTo>
                    <a:pt x="12320" y="357919"/>
                  </a:lnTo>
                  <a:lnTo>
                    <a:pt x="6966" y="404964"/>
                  </a:lnTo>
                  <a:lnTo>
                    <a:pt x="3112" y="452449"/>
                  </a:lnTo>
                  <a:lnTo>
                    <a:pt x="782" y="500349"/>
                  </a:lnTo>
                  <a:lnTo>
                    <a:pt x="0" y="548639"/>
                  </a:lnTo>
                  <a:lnTo>
                    <a:pt x="782" y="596930"/>
                  </a:lnTo>
                  <a:lnTo>
                    <a:pt x="3112" y="644830"/>
                  </a:lnTo>
                  <a:lnTo>
                    <a:pt x="6966" y="692315"/>
                  </a:lnTo>
                  <a:lnTo>
                    <a:pt x="12320" y="739360"/>
                  </a:lnTo>
                  <a:lnTo>
                    <a:pt x="19149" y="785942"/>
                  </a:lnTo>
                  <a:lnTo>
                    <a:pt x="27431" y="832037"/>
                  </a:lnTo>
                  <a:lnTo>
                    <a:pt x="37139" y="877620"/>
                  </a:lnTo>
                  <a:lnTo>
                    <a:pt x="48252" y="922667"/>
                  </a:lnTo>
                  <a:lnTo>
                    <a:pt x="60743" y="967154"/>
                  </a:lnTo>
                  <a:lnTo>
                    <a:pt x="74590" y="1011058"/>
                  </a:lnTo>
                  <a:lnTo>
                    <a:pt x="89768" y="1054353"/>
                  </a:lnTo>
                  <a:lnTo>
                    <a:pt x="106253" y="1097016"/>
                  </a:lnTo>
                  <a:lnTo>
                    <a:pt x="124021" y="1139024"/>
                  </a:lnTo>
                  <a:lnTo>
                    <a:pt x="143048" y="1180350"/>
                  </a:lnTo>
                  <a:lnTo>
                    <a:pt x="163309" y="1220973"/>
                  </a:lnTo>
                  <a:lnTo>
                    <a:pt x="184781" y="1260866"/>
                  </a:lnTo>
                  <a:lnTo>
                    <a:pt x="207440" y="1300008"/>
                  </a:lnTo>
                  <a:lnTo>
                    <a:pt x="231260" y="1338372"/>
                  </a:lnTo>
                  <a:lnTo>
                    <a:pt x="256220" y="1375936"/>
                  </a:lnTo>
                  <a:lnTo>
                    <a:pt x="282293" y="1412674"/>
                  </a:lnTo>
                  <a:lnTo>
                    <a:pt x="309457" y="1448564"/>
                  </a:lnTo>
                  <a:lnTo>
                    <a:pt x="337686" y="1483580"/>
                  </a:lnTo>
                  <a:lnTo>
                    <a:pt x="366957" y="1517700"/>
                  </a:lnTo>
                  <a:lnTo>
                    <a:pt x="397246" y="1550897"/>
                  </a:lnTo>
                  <a:lnTo>
                    <a:pt x="428529" y="1583150"/>
                  </a:lnTo>
                  <a:lnTo>
                    <a:pt x="460782" y="1614433"/>
                  </a:lnTo>
                  <a:lnTo>
                    <a:pt x="493979" y="1644722"/>
                  </a:lnTo>
                  <a:lnTo>
                    <a:pt x="528099" y="1673993"/>
                  </a:lnTo>
                  <a:lnTo>
                    <a:pt x="563115" y="1702222"/>
                  </a:lnTo>
                  <a:lnTo>
                    <a:pt x="599005" y="1729386"/>
                  </a:lnTo>
                  <a:lnTo>
                    <a:pt x="635743" y="1755459"/>
                  </a:lnTo>
                  <a:lnTo>
                    <a:pt x="673307" y="1780419"/>
                  </a:lnTo>
                  <a:lnTo>
                    <a:pt x="711671" y="1804239"/>
                  </a:lnTo>
                  <a:lnTo>
                    <a:pt x="750813" y="1826898"/>
                  </a:lnTo>
                  <a:lnTo>
                    <a:pt x="790706" y="1848370"/>
                  </a:lnTo>
                  <a:lnTo>
                    <a:pt x="831329" y="1868631"/>
                  </a:lnTo>
                  <a:lnTo>
                    <a:pt x="872655" y="1887658"/>
                  </a:lnTo>
                  <a:lnTo>
                    <a:pt x="914663" y="1905426"/>
                  </a:lnTo>
                  <a:lnTo>
                    <a:pt x="957326" y="1921911"/>
                  </a:lnTo>
                  <a:lnTo>
                    <a:pt x="1000621" y="1937089"/>
                  </a:lnTo>
                  <a:lnTo>
                    <a:pt x="1044525" y="1950936"/>
                  </a:lnTo>
                  <a:lnTo>
                    <a:pt x="1089012" y="1963427"/>
                  </a:lnTo>
                  <a:lnTo>
                    <a:pt x="1134059" y="1974540"/>
                  </a:lnTo>
                  <a:lnTo>
                    <a:pt x="1179642" y="1984248"/>
                  </a:lnTo>
                  <a:lnTo>
                    <a:pt x="1225737" y="1992530"/>
                  </a:lnTo>
                  <a:lnTo>
                    <a:pt x="1272319" y="1999359"/>
                  </a:lnTo>
                  <a:lnTo>
                    <a:pt x="1319364" y="2004713"/>
                  </a:lnTo>
                  <a:lnTo>
                    <a:pt x="1366849" y="2008567"/>
                  </a:lnTo>
                  <a:lnTo>
                    <a:pt x="1414749" y="2010897"/>
                  </a:lnTo>
                  <a:lnTo>
                    <a:pt x="1463039" y="2011680"/>
                  </a:lnTo>
                  <a:lnTo>
                    <a:pt x="1511330" y="2010897"/>
                  </a:lnTo>
                  <a:lnTo>
                    <a:pt x="1559230" y="2008567"/>
                  </a:lnTo>
                  <a:lnTo>
                    <a:pt x="1606715" y="2004713"/>
                  </a:lnTo>
                  <a:lnTo>
                    <a:pt x="1653760" y="1999359"/>
                  </a:lnTo>
                  <a:lnTo>
                    <a:pt x="1700342" y="1992530"/>
                  </a:lnTo>
                  <a:lnTo>
                    <a:pt x="1746437" y="1984248"/>
                  </a:lnTo>
                  <a:lnTo>
                    <a:pt x="1792020" y="1974540"/>
                  </a:lnTo>
                  <a:lnTo>
                    <a:pt x="1837067" y="1963427"/>
                  </a:lnTo>
                  <a:lnTo>
                    <a:pt x="1881554" y="1950936"/>
                  </a:lnTo>
                  <a:lnTo>
                    <a:pt x="1925458" y="1937089"/>
                  </a:lnTo>
                  <a:lnTo>
                    <a:pt x="1968753" y="1921911"/>
                  </a:lnTo>
                  <a:lnTo>
                    <a:pt x="2011392" y="1905426"/>
                  </a:lnTo>
                  <a:lnTo>
                    <a:pt x="2011679" y="1905426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172F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32320" y="0"/>
              <a:ext cx="2011680" cy="2011680"/>
            </a:xfrm>
            <a:custGeom>
              <a:avLst/>
              <a:gdLst/>
              <a:ahLst/>
              <a:cxnLst/>
              <a:rect l="l" t="t" r="r" b="b"/>
              <a:pathLst>
                <a:path w="2011679" h="2011680">
                  <a:moveTo>
                    <a:pt x="2011679" y="1905315"/>
                  </a:moveTo>
                  <a:lnTo>
                    <a:pt x="1968753" y="1921911"/>
                  </a:lnTo>
                  <a:lnTo>
                    <a:pt x="1925458" y="1937089"/>
                  </a:lnTo>
                  <a:lnTo>
                    <a:pt x="1881554" y="1950936"/>
                  </a:lnTo>
                  <a:lnTo>
                    <a:pt x="1837067" y="1963427"/>
                  </a:lnTo>
                  <a:lnTo>
                    <a:pt x="1792020" y="1974540"/>
                  </a:lnTo>
                  <a:lnTo>
                    <a:pt x="1746437" y="1984248"/>
                  </a:lnTo>
                  <a:lnTo>
                    <a:pt x="1700342" y="1992530"/>
                  </a:lnTo>
                  <a:lnTo>
                    <a:pt x="1653760" y="1999359"/>
                  </a:lnTo>
                  <a:lnTo>
                    <a:pt x="1606715" y="2004713"/>
                  </a:lnTo>
                  <a:lnTo>
                    <a:pt x="1559230" y="2008567"/>
                  </a:lnTo>
                  <a:lnTo>
                    <a:pt x="1511330" y="2010897"/>
                  </a:lnTo>
                  <a:lnTo>
                    <a:pt x="1463039" y="2011680"/>
                  </a:lnTo>
                  <a:lnTo>
                    <a:pt x="1414749" y="2010897"/>
                  </a:lnTo>
                  <a:lnTo>
                    <a:pt x="1366849" y="2008567"/>
                  </a:lnTo>
                  <a:lnTo>
                    <a:pt x="1319364" y="2004713"/>
                  </a:lnTo>
                  <a:lnTo>
                    <a:pt x="1272319" y="1999359"/>
                  </a:lnTo>
                  <a:lnTo>
                    <a:pt x="1225737" y="1992530"/>
                  </a:lnTo>
                  <a:lnTo>
                    <a:pt x="1179642" y="1984248"/>
                  </a:lnTo>
                  <a:lnTo>
                    <a:pt x="1134059" y="1974540"/>
                  </a:lnTo>
                  <a:lnTo>
                    <a:pt x="1089012" y="1963427"/>
                  </a:lnTo>
                  <a:lnTo>
                    <a:pt x="1044525" y="1950936"/>
                  </a:lnTo>
                  <a:lnTo>
                    <a:pt x="1000621" y="1937089"/>
                  </a:lnTo>
                  <a:lnTo>
                    <a:pt x="957326" y="1921911"/>
                  </a:lnTo>
                  <a:lnTo>
                    <a:pt x="914663" y="1905426"/>
                  </a:lnTo>
                  <a:lnTo>
                    <a:pt x="872655" y="1887658"/>
                  </a:lnTo>
                  <a:lnTo>
                    <a:pt x="831329" y="1868631"/>
                  </a:lnTo>
                  <a:lnTo>
                    <a:pt x="790706" y="1848370"/>
                  </a:lnTo>
                  <a:lnTo>
                    <a:pt x="750813" y="1826898"/>
                  </a:lnTo>
                  <a:lnTo>
                    <a:pt x="711671" y="1804239"/>
                  </a:lnTo>
                  <a:lnTo>
                    <a:pt x="673307" y="1780419"/>
                  </a:lnTo>
                  <a:lnTo>
                    <a:pt x="635743" y="1755459"/>
                  </a:lnTo>
                  <a:lnTo>
                    <a:pt x="599005" y="1729386"/>
                  </a:lnTo>
                  <a:lnTo>
                    <a:pt x="563115" y="1702222"/>
                  </a:lnTo>
                  <a:lnTo>
                    <a:pt x="528099" y="1673993"/>
                  </a:lnTo>
                  <a:lnTo>
                    <a:pt x="493979" y="1644722"/>
                  </a:lnTo>
                  <a:lnTo>
                    <a:pt x="460782" y="1614433"/>
                  </a:lnTo>
                  <a:lnTo>
                    <a:pt x="428529" y="1583150"/>
                  </a:lnTo>
                  <a:lnTo>
                    <a:pt x="397246" y="1550897"/>
                  </a:lnTo>
                  <a:lnTo>
                    <a:pt x="366957" y="1517700"/>
                  </a:lnTo>
                  <a:lnTo>
                    <a:pt x="337686" y="1483580"/>
                  </a:lnTo>
                  <a:lnTo>
                    <a:pt x="309457" y="1448564"/>
                  </a:lnTo>
                  <a:lnTo>
                    <a:pt x="282293" y="1412674"/>
                  </a:lnTo>
                  <a:lnTo>
                    <a:pt x="256220" y="1375936"/>
                  </a:lnTo>
                  <a:lnTo>
                    <a:pt x="231260" y="1338372"/>
                  </a:lnTo>
                  <a:lnTo>
                    <a:pt x="207440" y="1300008"/>
                  </a:lnTo>
                  <a:lnTo>
                    <a:pt x="184781" y="1260866"/>
                  </a:lnTo>
                  <a:lnTo>
                    <a:pt x="163309" y="1220973"/>
                  </a:lnTo>
                  <a:lnTo>
                    <a:pt x="143048" y="1180350"/>
                  </a:lnTo>
                  <a:lnTo>
                    <a:pt x="124021" y="1139024"/>
                  </a:lnTo>
                  <a:lnTo>
                    <a:pt x="106253" y="1097016"/>
                  </a:lnTo>
                  <a:lnTo>
                    <a:pt x="89768" y="1054353"/>
                  </a:lnTo>
                  <a:lnTo>
                    <a:pt x="74590" y="1011058"/>
                  </a:lnTo>
                  <a:lnTo>
                    <a:pt x="60743" y="967154"/>
                  </a:lnTo>
                  <a:lnTo>
                    <a:pt x="48252" y="922667"/>
                  </a:lnTo>
                  <a:lnTo>
                    <a:pt x="37139" y="877620"/>
                  </a:lnTo>
                  <a:lnTo>
                    <a:pt x="27431" y="832037"/>
                  </a:lnTo>
                  <a:lnTo>
                    <a:pt x="19149" y="785942"/>
                  </a:lnTo>
                  <a:lnTo>
                    <a:pt x="12320" y="739360"/>
                  </a:lnTo>
                  <a:lnTo>
                    <a:pt x="6966" y="692315"/>
                  </a:lnTo>
                  <a:lnTo>
                    <a:pt x="3112" y="644830"/>
                  </a:lnTo>
                  <a:lnTo>
                    <a:pt x="782" y="596930"/>
                  </a:lnTo>
                  <a:lnTo>
                    <a:pt x="0" y="548639"/>
                  </a:lnTo>
                  <a:lnTo>
                    <a:pt x="782" y="500349"/>
                  </a:lnTo>
                  <a:lnTo>
                    <a:pt x="3112" y="452449"/>
                  </a:lnTo>
                  <a:lnTo>
                    <a:pt x="6966" y="404964"/>
                  </a:lnTo>
                  <a:lnTo>
                    <a:pt x="12320" y="357919"/>
                  </a:lnTo>
                  <a:lnTo>
                    <a:pt x="19149" y="311337"/>
                  </a:lnTo>
                  <a:lnTo>
                    <a:pt x="27431" y="265242"/>
                  </a:lnTo>
                  <a:lnTo>
                    <a:pt x="37139" y="219659"/>
                  </a:lnTo>
                  <a:lnTo>
                    <a:pt x="48252" y="174612"/>
                  </a:lnTo>
                  <a:lnTo>
                    <a:pt x="60743" y="130125"/>
                  </a:lnTo>
                  <a:lnTo>
                    <a:pt x="74590" y="86221"/>
                  </a:lnTo>
                  <a:lnTo>
                    <a:pt x="89768" y="42926"/>
                  </a:lnTo>
                  <a:lnTo>
                    <a:pt x="106253" y="263"/>
                  </a:lnTo>
                  <a:lnTo>
                    <a:pt x="106364" y="0"/>
                  </a:lnTo>
                </a:path>
              </a:pathLst>
            </a:custGeom>
            <a:ln w="12700">
              <a:solidFill>
                <a:srgbClr val="172F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-6350" y="3468370"/>
            <a:ext cx="1841500" cy="1681480"/>
            <a:chOff x="-6350" y="3468370"/>
            <a:chExt cx="1841500" cy="1681480"/>
          </a:xfrm>
        </p:grpSpPr>
        <p:sp>
          <p:nvSpPr>
            <p:cNvPr id="9" name="object 9"/>
            <p:cNvSpPr/>
            <p:nvPr/>
          </p:nvSpPr>
          <p:spPr>
            <a:xfrm>
              <a:off x="0" y="3474720"/>
              <a:ext cx="1828800" cy="1668780"/>
            </a:xfrm>
            <a:custGeom>
              <a:avLst/>
              <a:gdLst/>
              <a:ahLst/>
              <a:cxnLst/>
              <a:rect l="l" t="t" r="r" b="b"/>
              <a:pathLst>
                <a:path w="1828800" h="1668779">
                  <a:moveTo>
                    <a:pt x="548640" y="0"/>
                  </a:moveTo>
                  <a:lnTo>
                    <a:pt x="500647" y="882"/>
                  </a:lnTo>
                  <a:lnTo>
                    <a:pt x="453100" y="3511"/>
                  </a:lnTo>
                  <a:lnTo>
                    <a:pt x="406030" y="7854"/>
                  </a:lnTo>
                  <a:lnTo>
                    <a:pt x="359468" y="13880"/>
                  </a:lnTo>
                  <a:lnTo>
                    <a:pt x="313444" y="21559"/>
                  </a:lnTo>
                  <a:lnTo>
                    <a:pt x="267990" y="30859"/>
                  </a:lnTo>
                  <a:lnTo>
                    <a:pt x="223136" y="41750"/>
                  </a:lnTo>
                  <a:lnTo>
                    <a:pt x="178914" y="54201"/>
                  </a:lnTo>
                  <a:lnTo>
                    <a:pt x="135354" y="68180"/>
                  </a:lnTo>
                  <a:lnTo>
                    <a:pt x="92487" y="83657"/>
                  </a:lnTo>
                  <a:lnTo>
                    <a:pt x="50345" y="100601"/>
                  </a:lnTo>
                  <a:lnTo>
                    <a:pt x="8958" y="118981"/>
                  </a:lnTo>
                  <a:lnTo>
                    <a:pt x="0" y="123347"/>
                  </a:lnTo>
                  <a:lnTo>
                    <a:pt x="0" y="1668779"/>
                  </a:lnTo>
                  <a:lnTo>
                    <a:pt x="1768535" y="1668779"/>
                  </a:lnTo>
                  <a:lnTo>
                    <a:pt x="1774598" y="1649885"/>
                  </a:lnTo>
                  <a:lnTo>
                    <a:pt x="1787049" y="1605663"/>
                  </a:lnTo>
                  <a:lnTo>
                    <a:pt x="1797940" y="1560809"/>
                  </a:lnTo>
                  <a:lnTo>
                    <a:pt x="1807240" y="1515355"/>
                  </a:lnTo>
                  <a:lnTo>
                    <a:pt x="1814919" y="1469331"/>
                  </a:lnTo>
                  <a:lnTo>
                    <a:pt x="1820945" y="1422769"/>
                  </a:lnTo>
                  <a:lnTo>
                    <a:pt x="1825288" y="1375699"/>
                  </a:lnTo>
                  <a:lnTo>
                    <a:pt x="1827917" y="1328152"/>
                  </a:lnTo>
                  <a:lnTo>
                    <a:pt x="1828800" y="1280159"/>
                  </a:lnTo>
                  <a:lnTo>
                    <a:pt x="1827917" y="1232167"/>
                  </a:lnTo>
                  <a:lnTo>
                    <a:pt x="1825288" y="1184620"/>
                  </a:lnTo>
                  <a:lnTo>
                    <a:pt x="1820945" y="1137550"/>
                  </a:lnTo>
                  <a:lnTo>
                    <a:pt x="1814919" y="1090988"/>
                  </a:lnTo>
                  <a:lnTo>
                    <a:pt x="1807240" y="1044964"/>
                  </a:lnTo>
                  <a:lnTo>
                    <a:pt x="1797940" y="999510"/>
                  </a:lnTo>
                  <a:lnTo>
                    <a:pt x="1787049" y="954656"/>
                  </a:lnTo>
                  <a:lnTo>
                    <a:pt x="1774598" y="910434"/>
                  </a:lnTo>
                  <a:lnTo>
                    <a:pt x="1760619" y="866874"/>
                  </a:lnTo>
                  <a:lnTo>
                    <a:pt x="1745142" y="824007"/>
                  </a:lnTo>
                  <a:lnTo>
                    <a:pt x="1728198" y="781865"/>
                  </a:lnTo>
                  <a:lnTo>
                    <a:pt x="1709818" y="740478"/>
                  </a:lnTo>
                  <a:lnTo>
                    <a:pt x="1690033" y="699877"/>
                  </a:lnTo>
                  <a:lnTo>
                    <a:pt x="1668873" y="660093"/>
                  </a:lnTo>
                  <a:lnTo>
                    <a:pt x="1646371" y="621157"/>
                  </a:lnTo>
                  <a:lnTo>
                    <a:pt x="1622557" y="583101"/>
                  </a:lnTo>
                  <a:lnTo>
                    <a:pt x="1597461" y="545954"/>
                  </a:lnTo>
                  <a:lnTo>
                    <a:pt x="1571115" y="509748"/>
                  </a:lnTo>
                  <a:lnTo>
                    <a:pt x="1543550" y="474514"/>
                  </a:lnTo>
                  <a:lnTo>
                    <a:pt x="1514797" y="440282"/>
                  </a:lnTo>
                  <a:lnTo>
                    <a:pt x="1484885" y="407084"/>
                  </a:lnTo>
                  <a:lnTo>
                    <a:pt x="1453848" y="374951"/>
                  </a:lnTo>
                  <a:lnTo>
                    <a:pt x="1421715" y="343914"/>
                  </a:lnTo>
                  <a:lnTo>
                    <a:pt x="1388517" y="314002"/>
                  </a:lnTo>
                  <a:lnTo>
                    <a:pt x="1354285" y="285249"/>
                  </a:lnTo>
                  <a:lnTo>
                    <a:pt x="1319051" y="257684"/>
                  </a:lnTo>
                  <a:lnTo>
                    <a:pt x="1282845" y="231338"/>
                  </a:lnTo>
                  <a:lnTo>
                    <a:pt x="1245698" y="206242"/>
                  </a:lnTo>
                  <a:lnTo>
                    <a:pt x="1207642" y="182428"/>
                  </a:lnTo>
                  <a:lnTo>
                    <a:pt x="1168706" y="159926"/>
                  </a:lnTo>
                  <a:lnTo>
                    <a:pt x="1128922" y="138766"/>
                  </a:lnTo>
                  <a:lnTo>
                    <a:pt x="1088321" y="118981"/>
                  </a:lnTo>
                  <a:lnTo>
                    <a:pt x="1046934" y="100601"/>
                  </a:lnTo>
                  <a:lnTo>
                    <a:pt x="1004792" y="83657"/>
                  </a:lnTo>
                  <a:lnTo>
                    <a:pt x="961925" y="68180"/>
                  </a:lnTo>
                  <a:lnTo>
                    <a:pt x="918365" y="54201"/>
                  </a:lnTo>
                  <a:lnTo>
                    <a:pt x="874143" y="41750"/>
                  </a:lnTo>
                  <a:lnTo>
                    <a:pt x="829289" y="30859"/>
                  </a:lnTo>
                  <a:lnTo>
                    <a:pt x="783835" y="21559"/>
                  </a:lnTo>
                  <a:lnTo>
                    <a:pt x="737811" y="13880"/>
                  </a:lnTo>
                  <a:lnTo>
                    <a:pt x="691249" y="7854"/>
                  </a:lnTo>
                  <a:lnTo>
                    <a:pt x="644179" y="3511"/>
                  </a:lnTo>
                  <a:lnTo>
                    <a:pt x="596632" y="882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4990E1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474720"/>
              <a:ext cx="1828800" cy="1668780"/>
            </a:xfrm>
            <a:custGeom>
              <a:avLst/>
              <a:gdLst/>
              <a:ahLst/>
              <a:cxnLst/>
              <a:rect l="l" t="t" r="r" b="b"/>
              <a:pathLst>
                <a:path w="1828800" h="1668779">
                  <a:moveTo>
                    <a:pt x="0" y="123347"/>
                  </a:moveTo>
                  <a:lnTo>
                    <a:pt x="50345" y="100601"/>
                  </a:lnTo>
                  <a:lnTo>
                    <a:pt x="92487" y="83657"/>
                  </a:lnTo>
                  <a:lnTo>
                    <a:pt x="135354" y="68180"/>
                  </a:lnTo>
                  <a:lnTo>
                    <a:pt x="178914" y="54201"/>
                  </a:lnTo>
                  <a:lnTo>
                    <a:pt x="223136" y="41750"/>
                  </a:lnTo>
                  <a:lnTo>
                    <a:pt x="267990" y="30859"/>
                  </a:lnTo>
                  <a:lnTo>
                    <a:pt x="313444" y="21559"/>
                  </a:lnTo>
                  <a:lnTo>
                    <a:pt x="359468" y="13880"/>
                  </a:lnTo>
                  <a:lnTo>
                    <a:pt x="406030" y="7854"/>
                  </a:lnTo>
                  <a:lnTo>
                    <a:pt x="453100" y="3511"/>
                  </a:lnTo>
                  <a:lnTo>
                    <a:pt x="500647" y="882"/>
                  </a:lnTo>
                  <a:lnTo>
                    <a:pt x="548640" y="0"/>
                  </a:lnTo>
                  <a:lnTo>
                    <a:pt x="596632" y="882"/>
                  </a:lnTo>
                  <a:lnTo>
                    <a:pt x="644179" y="3511"/>
                  </a:lnTo>
                  <a:lnTo>
                    <a:pt x="691249" y="7854"/>
                  </a:lnTo>
                  <a:lnTo>
                    <a:pt x="737811" y="13880"/>
                  </a:lnTo>
                  <a:lnTo>
                    <a:pt x="783835" y="21559"/>
                  </a:lnTo>
                  <a:lnTo>
                    <a:pt x="829289" y="30859"/>
                  </a:lnTo>
                  <a:lnTo>
                    <a:pt x="874143" y="41750"/>
                  </a:lnTo>
                  <a:lnTo>
                    <a:pt x="918365" y="54201"/>
                  </a:lnTo>
                  <a:lnTo>
                    <a:pt x="961925" y="68180"/>
                  </a:lnTo>
                  <a:lnTo>
                    <a:pt x="1004792" y="83657"/>
                  </a:lnTo>
                  <a:lnTo>
                    <a:pt x="1046934" y="100601"/>
                  </a:lnTo>
                  <a:lnTo>
                    <a:pt x="1088321" y="118981"/>
                  </a:lnTo>
                  <a:lnTo>
                    <a:pt x="1128922" y="138766"/>
                  </a:lnTo>
                  <a:lnTo>
                    <a:pt x="1168706" y="159926"/>
                  </a:lnTo>
                  <a:lnTo>
                    <a:pt x="1207642" y="182428"/>
                  </a:lnTo>
                  <a:lnTo>
                    <a:pt x="1245698" y="206242"/>
                  </a:lnTo>
                  <a:lnTo>
                    <a:pt x="1282845" y="231338"/>
                  </a:lnTo>
                  <a:lnTo>
                    <a:pt x="1319051" y="257684"/>
                  </a:lnTo>
                  <a:lnTo>
                    <a:pt x="1354285" y="285249"/>
                  </a:lnTo>
                  <a:lnTo>
                    <a:pt x="1388517" y="314002"/>
                  </a:lnTo>
                  <a:lnTo>
                    <a:pt x="1421715" y="343914"/>
                  </a:lnTo>
                  <a:lnTo>
                    <a:pt x="1453848" y="374951"/>
                  </a:lnTo>
                  <a:lnTo>
                    <a:pt x="1484885" y="407084"/>
                  </a:lnTo>
                  <a:lnTo>
                    <a:pt x="1514797" y="440282"/>
                  </a:lnTo>
                  <a:lnTo>
                    <a:pt x="1543550" y="474514"/>
                  </a:lnTo>
                  <a:lnTo>
                    <a:pt x="1571115" y="509748"/>
                  </a:lnTo>
                  <a:lnTo>
                    <a:pt x="1597461" y="545954"/>
                  </a:lnTo>
                  <a:lnTo>
                    <a:pt x="1622557" y="583101"/>
                  </a:lnTo>
                  <a:lnTo>
                    <a:pt x="1646371" y="621157"/>
                  </a:lnTo>
                  <a:lnTo>
                    <a:pt x="1668873" y="660093"/>
                  </a:lnTo>
                  <a:lnTo>
                    <a:pt x="1690033" y="699877"/>
                  </a:lnTo>
                  <a:lnTo>
                    <a:pt x="1709818" y="740478"/>
                  </a:lnTo>
                  <a:lnTo>
                    <a:pt x="1728198" y="781865"/>
                  </a:lnTo>
                  <a:lnTo>
                    <a:pt x="1745142" y="824007"/>
                  </a:lnTo>
                  <a:lnTo>
                    <a:pt x="1760619" y="866874"/>
                  </a:lnTo>
                  <a:lnTo>
                    <a:pt x="1774598" y="910434"/>
                  </a:lnTo>
                  <a:lnTo>
                    <a:pt x="1787049" y="954656"/>
                  </a:lnTo>
                  <a:lnTo>
                    <a:pt x="1797940" y="999510"/>
                  </a:lnTo>
                  <a:lnTo>
                    <a:pt x="1807240" y="1044964"/>
                  </a:lnTo>
                  <a:lnTo>
                    <a:pt x="1814919" y="1090988"/>
                  </a:lnTo>
                  <a:lnTo>
                    <a:pt x="1820945" y="1137550"/>
                  </a:lnTo>
                  <a:lnTo>
                    <a:pt x="1825288" y="1184620"/>
                  </a:lnTo>
                  <a:lnTo>
                    <a:pt x="1827917" y="1232167"/>
                  </a:lnTo>
                  <a:lnTo>
                    <a:pt x="1828800" y="1280159"/>
                  </a:lnTo>
                  <a:lnTo>
                    <a:pt x="1827917" y="1328152"/>
                  </a:lnTo>
                  <a:lnTo>
                    <a:pt x="1825288" y="1375699"/>
                  </a:lnTo>
                  <a:lnTo>
                    <a:pt x="1820945" y="1422769"/>
                  </a:lnTo>
                  <a:lnTo>
                    <a:pt x="1814919" y="1469331"/>
                  </a:lnTo>
                  <a:lnTo>
                    <a:pt x="1807240" y="1515355"/>
                  </a:lnTo>
                  <a:lnTo>
                    <a:pt x="1797940" y="1560809"/>
                  </a:lnTo>
                  <a:lnTo>
                    <a:pt x="1787049" y="1605663"/>
                  </a:lnTo>
                  <a:lnTo>
                    <a:pt x="1774598" y="1649885"/>
                  </a:lnTo>
                  <a:lnTo>
                    <a:pt x="1768535" y="1668779"/>
                  </a:lnTo>
                </a:path>
              </a:pathLst>
            </a:custGeom>
            <a:ln w="12700">
              <a:solidFill>
                <a:srgbClr val="4990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718819" y="1283970"/>
            <a:ext cx="4996182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rgbClr val="FFFFFF"/>
                </a:solidFill>
              </a:rPr>
              <a:t>MULTI-LINGUAL PATIENT INTAKE ASSISTANT</a:t>
            </a:r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5360923" y="4859528"/>
            <a:ext cx="366902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ABAC4"/>
                </a:solidFill>
                <a:latin typeface="Calibri"/>
                <a:cs typeface="Calibri"/>
              </a:rPr>
              <a:t>·</a:t>
            </a:r>
            <a:r>
              <a:rPr sz="1400" spc="265" dirty="0">
                <a:solidFill>
                  <a:srgbClr val="8ABA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ABAC4"/>
                </a:solidFill>
                <a:latin typeface="Calibri"/>
                <a:cs typeface="Calibri"/>
              </a:rPr>
              <a:t>Group</a:t>
            </a:r>
            <a:r>
              <a:rPr sz="1400" spc="-35" dirty="0">
                <a:solidFill>
                  <a:srgbClr val="8ABAC4"/>
                </a:solidFill>
                <a:latin typeface="Calibri"/>
                <a:cs typeface="Calibri"/>
              </a:rPr>
              <a:t> </a:t>
            </a:r>
            <a:r>
              <a:rPr lang="en-US" sz="1400" spc="-35" dirty="0">
                <a:solidFill>
                  <a:srgbClr val="8ABAC4"/>
                </a:solidFill>
                <a:latin typeface="Calibri"/>
                <a:cs typeface="Calibri"/>
              </a:rPr>
              <a:t>1</a:t>
            </a:r>
            <a:r>
              <a:rPr sz="1400" spc="-25" dirty="0">
                <a:solidFill>
                  <a:srgbClr val="8ABA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ABAC4"/>
                </a:solidFill>
                <a:latin typeface="Calibri"/>
                <a:cs typeface="Calibri"/>
              </a:rPr>
              <a:t>DSA</a:t>
            </a:r>
            <a:r>
              <a:rPr sz="1400" spc="-30" dirty="0">
                <a:solidFill>
                  <a:srgbClr val="8ABA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ABAC4"/>
                </a:solidFill>
                <a:latin typeface="Calibri"/>
                <a:cs typeface="Calibri"/>
              </a:rPr>
              <a:t>Cohort</a:t>
            </a:r>
            <a:r>
              <a:rPr sz="1400" spc="-25" dirty="0">
                <a:solidFill>
                  <a:srgbClr val="8ABAC4"/>
                </a:solidFill>
                <a:latin typeface="Calibri"/>
                <a:cs typeface="Calibri"/>
              </a:rPr>
              <a:t> 3</a:t>
            </a:r>
            <a:r>
              <a:rPr lang="en-US" sz="1400" spc="-25" dirty="0">
                <a:solidFill>
                  <a:srgbClr val="8ABAC4"/>
                </a:solidFill>
                <a:latin typeface="Calibri"/>
                <a:cs typeface="Calibri"/>
              </a:rPr>
              <a:t>7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3826" y="2024846"/>
            <a:ext cx="7115809" cy="1258678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55"/>
              </a:spcBef>
            </a:pPr>
            <a:r>
              <a:rPr lang="en-US" sz="2000" spc="-10" dirty="0">
                <a:solidFill>
                  <a:srgbClr val="A8C5EA"/>
                </a:solidFill>
                <a:latin typeface="Calibri"/>
                <a:cs typeface="Calibri"/>
              </a:rPr>
              <a:t>Breaking Language Barriers in Primary Healthcare Using AI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lang="en-US" sz="1400" spc="254" dirty="0">
                <a:solidFill>
                  <a:srgbClr val="8ABAC4"/>
                </a:solidFill>
                <a:latin typeface="Calibri"/>
                <a:cs typeface="Calibri"/>
              </a:rPr>
              <a:t>Yoruba</a:t>
            </a:r>
            <a:r>
              <a:rPr sz="1400" spc="254" dirty="0">
                <a:solidFill>
                  <a:srgbClr val="8ABA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ABAC4"/>
                </a:solidFill>
                <a:latin typeface="Calibri"/>
                <a:cs typeface="Calibri"/>
              </a:rPr>
              <a:t>·</a:t>
            </a:r>
            <a:r>
              <a:rPr sz="1400" spc="260" dirty="0">
                <a:solidFill>
                  <a:srgbClr val="8ABAC4"/>
                </a:solidFill>
                <a:latin typeface="Calibri"/>
                <a:cs typeface="Calibri"/>
              </a:rPr>
              <a:t> </a:t>
            </a:r>
            <a:r>
              <a:rPr lang="en-US" sz="1400" spc="260" dirty="0">
                <a:solidFill>
                  <a:srgbClr val="8ABAC4"/>
                </a:solidFill>
                <a:latin typeface="Calibri"/>
                <a:cs typeface="Calibri"/>
              </a:rPr>
              <a:t>Igbo</a:t>
            </a:r>
            <a:r>
              <a:rPr sz="1400" spc="275" dirty="0">
                <a:solidFill>
                  <a:srgbClr val="8ABA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ABAC4"/>
                </a:solidFill>
                <a:latin typeface="Calibri"/>
                <a:cs typeface="Calibri"/>
              </a:rPr>
              <a:t>·</a:t>
            </a:r>
            <a:r>
              <a:rPr sz="1400" spc="250" dirty="0">
                <a:solidFill>
                  <a:srgbClr val="8ABAC4"/>
                </a:solidFill>
                <a:latin typeface="Calibri"/>
                <a:cs typeface="Calibri"/>
              </a:rPr>
              <a:t> </a:t>
            </a:r>
            <a:r>
              <a:rPr lang="en-US" sz="1400" spc="-10" dirty="0">
                <a:solidFill>
                  <a:srgbClr val="8ABAC4"/>
                </a:solidFill>
                <a:latin typeface="Calibri"/>
                <a:cs typeface="Calibri"/>
              </a:rPr>
              <a:t>Hausa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lang="en-US" sz="1400" b="1" spc="270" dirty="0">
                <a:solidFill>
                  <a:srgbClr val="01C39A"/>
                </a:solidFill>
                <a:latin typeface="Calibri"/>
                <a:cs typeface="Calibri"/>
              </a:rPr>
              <a:t>Deborah</a:t>
            </a:r>
            <a:r>
              <a:rPr sz="1400" b="1" spc="270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1C39A"/>
                </a:solidFill>
                <a:latin typeface="Calibri"/>
                <a:cs typeface="Calibri"/>
              </a:rPr>
              <a:t>·</a:t>
            </a:r>
            <a:r>
              <a:rPr sz="1400" b="1" spc="290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sz="1400" b="1" dirty="0" err="1">
                <a:solidFill>
                  <a:srgbClr val="01C39A"/>
                </a:solidFill>
                <a:latin typeface="Calibri"/>
                <a:cs typeface="Calibri"/>
              </a:rPr>
              <a:t>J</a:t>
            </a:r>
            <a:r>
              <a:rPr lang="en-US" sz="1400" b="1" dirty="0" err="1">
                <a:solidFill>
                  <a:srgbClr val="01C39A"/>
                </a:solidFill>
                <a:latin typeface="Calibri"/>
                <a:cs typeface="Calibri"/>
              </a:rPr>
              <a:t>esutomi</a:t>
            </a:r>
            <a:r>
              <a:rPr sz="1400" b="1" spc="290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1C39A"/>
                </a:solidFill>
                <a:latin typeface="Calibri"/>
                <a:cs typeface="Calibri"/>
              </a:rPr>
              <a:t>·</a:t>
            </a:r>
            <a:r>
              <a:rPr sz="1400" b="1" spc="290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lang="en-US" sz="1400" b="1" spc="290" dirty="0">
                <a:solidFill>
                  <a:srgbClr val="01C39A"/>
                </a:solidFill>
                <a:latin typeface="Calibri"/>
                <a:cs typeface="Calibri"/>
              </a:rPr>
              <a:t>Favour</a:t>
            </a:r>
            <a:r>
              <a:rPr sz="1400" b="1" spc="270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1C39A"/>
                </a:solidFill>
                <a:latin typeface="Calibri"/>
                <a:cs typeface="Calibri"/>
              </a:rPr>
              <a:t>·</a:t>
            </a:r>
            <a:r>
              <a:rPr sz="1400" b="1" spc="295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lang="en-US" sz="1400" b="1" spc="295" dirty="0">
                <a:solidFill>
                  <a:srgbClr val="01C39A"/>
                </a:solidFill>
                <a:latin typeface="Calibri"/>
                <a:cs typeface="Calibri"/>
              </a:rPr>
              <a:t>Martins</a:t>
            </a:r>
            <a:r>
              <a:rPr sz="1400" b="1" spc="285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1C39A"/>
                </a:solidFill>
                <a:latin typeface="Calibri"/>
                <a:cs typeface="Calibri"/>
              </a:rPr>
              <a:t>·</a:t>
            </a:r>
            <a:r>
              <a:rPr sz="1400" b="1" spc="290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lang="en-US" sz="1400" b="1" spc="-10" dirty="0">
                <a:solidFill>
                  <a:srgbClr val="01C39A"/>
                </a:solidFill>
                <a:latin typeface="Calibri"/>
                <a:cs typeface="Calibri"/>
              </a:rPr>
              <a:t>Osinachi </a:t>
            </a:r>
            <a:r>
              <a:rPr lang="en-US" sz="1400" b="1" dirty="0">
                <a:solidFill>
                  <a:srgbClr val="01C39A"/>
                </a:solidFill>
                <a:latin typeface="Calibri"/>
                <a:cs typeface="Calibri"/>
              </a:rPr>
              <a:t>·</a:t>
            </a:r>
            <a:r>
              <a:rPr lang="en-US" sz="1400" b="1" spc="290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lang="en-US" sz="1400" b="1" spc="-10" dirty="0">
                <a:solidFill>
                  <a:srgbClr val="01C39A"/>
                </a:solidFill>
                <a:latin typeface="Calibri"/>
                <a:cs typeface="Calibri"/>
              </a:rPr>
              <a:t>David </a:t>
            </a:r>
            <a:r>
              <a:rPr lang="en-US" sz="1400" b="1" dirty="0">
                <a:solidFill>
                  <a:srgbClr val="01C39A"/>
                </a:solidFill>
                <a:latin typeface="Calibri"/>
                <a:cs typeface="Calibri"/>
              </a:rPr>
              <a:t>·</a:t>
            </a:r>
            <a:r>
              <a:rPr lang="en-US" sz="1400" b="1" spc="290" dirty="0">
                <a:solidFill>
                  <a:srgbClr val="01C39A"/>
                </a:solidFill>
                <a:latin typeface="Calibri"/>
                <a:cs typeface="Calibri"/>
              </a:rPr>
              <a:t> </a:t>
            </a:r>
            <a:r>
              <a:rPr lang="en-US" sz="1400" b="1" spc="-10" dirty="0">
                <a:solidFill>
                  <a:srgbClr val="01C39A"/>
                </a:solidFill>
                <a:latin typeface="Calibri"/>
                <a:cs typeface="Calibri"/>
              </a:rPr>
              <a:t>Samuel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8009" y="953769"/>
            <a:ext cx="7967980" cy="35560"/>
            <a:chOff x="588009" y="953769"/>
            <a:chExt cx="7967980" cy="35560"/>
          </a:xfrm>
        </p:grpSpPr>
        <p:sp>
          <p:nvSpPr>
            <p:cNvPr id="4" name="object 4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79552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7955280" y="22860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C7D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0" y="22860"/>
                  </a:moveTo>
                  <a:lnTo>
                    <a:pt x="7955280" y="22860"/>
                  </a:lnTo>
                  <a:lnTo>
                    <a:pt x="795528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31780" y="1052974"/>
            <a:ext cx="2788920" cy="1270635"/>
            <a:chOff x="531780" y="1052974"/>
            <a:chExt cx="2788920" cy="12706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780" y="1052974"/>
              <a:ext cx="2788348" cy="12704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115567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80" h="1115695">
                  <a:moveTo>
                    <a:pt x="2560320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042416"/>
                  </a:lnTo>
                  <a:lnTo>
                    <a:pt x="5748" y="1070883"/>
                  </a:lnTo>
                  <a:lnTo>
                    <a:pt x="21426" y="1094136"/>
                  </a:lnTo>
                  <a:lnTo>
                    <a:pt x="44678" y="1109817"/>
                  </a:lnTo>
                  <a:lnTo>
                    <a:pt x="73152" y="1115568"/>
                  </a:lnTo>
                  <a:lnTo>
                    <a:pt x="2560320" y="1115568"/>
                  </a:lnTo>
                  <a:lnTo>
                    <a:pt x="2588787" y="1109817"/>
                  </a:lnTo>
                  <a:lnTo>
                    <a:pt x="2612040" y="1094136"/>
                  </a:lnTo>
                  <a:lnTo>
                    <a:pt x="2627721" y="1070883"/>
                  </a:lnTo>
                  <a:lnTo>
                    <a:pt x="2633472" y="1042416"/>
                  </a:lnTo>
                  <a:lnTo>
                    <a:pt x="2633472" y="73152"/>
                  </a:lnTo>
                  <a:lnTo>
                    <a:pt x="2627721" y="44684"/>
                  </a:lnTo>
                  <a:lnTo>
                    <a:pt x="2612040" y="21431"/>
                  </a:lnTo>
                  <a:lnTo>
                    <a:pt x="2588787" y="575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115567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80" h="1115695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2560320" y="0"/>
                  </a:lnTo>
                  <a:lnTo>
                    <a:pt x="2588787" y="5750"/>
                  </a:lnTo>
                  <a:lnTo>
                    <a:pt x="2612040" y="21431"/>
                  </a:lnTo>
                  <a:lnTo>
                    <a:pt x="2627721" y="44684"/>
                  </a:lnTo>
                  <a:lnTo>
                    <a:pt x="2633472" y="73152"/>
                  </a:lnTo>
                  <a:lnTo>
                    <a:pt x="2633472" y="1042416"/>
                  </a:lnTo>
                  <a:lnTo>
                    <a:pt x="2627721" y="1070883"/>
                  </a:lnTo>
                  <a:lnTo>
                    <a:pt x="2612040" y="1094136"/>
                  </a:lnTo>
                  <a:lnTo>
                    <a:pt x="2588787" y="1109817"/>
                  </a:lnTo>
                  <a:lnTo>
                    <a:pt x="2560320" y="1115568"/>
                  </a:lnTo>
                  <a:lnTo>
                    <a:pt x="73152" y="1115568"/>
                  </a:lnTo>
                  <a:lnTo>
                    <a:pt x="44678" y="1109817"/>
                  </a:lnTo>
                  <a:lnTo>
                    <a:pt x="21426" y="1094136"/>
                  </a:lnTo>
                  <a:lnTo>
                    <a:pt x="5748" y="1070883"/>
                  </a:lnTo>
                  <a:lnTo>
                    <a:pt x="0" y="1042416"/>
                  </a:lnTo>
                  <a:lnTo>
                    <a:pt x="0" y="73152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4088" y="1417319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365759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365759"/>
                  </a:lnTo>
                  <a:lnTo>
                    <a:pt x="4311" y="387137"/>
                  </a:lnTo>
                  <a:lnTo>
                    <a:pt x="16068" y="404574"/>
                  </a:lnTo>
                  <a:lnTo>
                    <a:pt x="33507" y="416319"/>
                  </a:lnTo>
                  <a:lnTo>
                    <a:pt x="54864" y="420624"/>
                  </a:lnTo>
                  <a:lnTo>
                    <a:pt x="365759" y="420624"/>
                  </a:lnTo>
                  <a:lnTo>
                    <a:pt x="387116" y="416319"/>
                  </a:lnTo>
                  <a:lnTo>
                    <a:pt x="404555" y="404574"/>
                  </a:lnTo>
                  <a:lnTo>
                    <a:pt x="416312" y="387137"/>
                  </a:lnTo>
                  <a:lnTo>
                    <a:pt x="420624" y="365759"/>
                  </a:lnTo>
                  <a:lnTo>
                    <a:pt x="420624" y="54863"/>
                  </a:lnTo>
                  <a:lnTo>
                    <a:pt x="416312" y="33486"/>
                  </a:lnTo>
                  <a:lnTo>
                    <a:pt x="404555" y="16049"/>
                  </a:lnTo>
                  <a:lnTo>
                    <a:pt x="387116" y="4304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4088" y="1417319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365759" y="0"/>
                  </a:lnTo>
                  <a:lnTo>
                    <a:pt x="387116" y="4304"/>
                  </a:lnTo>
                  <a:lnTo>
                    <a:pt x="404555" y="16049"/>
                  </a:lnTo>
                  <a:lnTo>
                    <a:pt x="416312" y="33486"/>
                  </a:lnTo>
                  <a:lnTo>
                    <a:pt x="420624" y="54863"/>
                  </a:lnTo>
                  <a:lnTo>
                    <a:pt x="420624" y="365759"/>
                  </a:lnTo>
                  <a:lnTo>
                    <a:pt x="416312" y="387137"/>
                  </a:lnTo>
                  <a:lnTo>
                    <a:pt x="404555" y="404574"/>
                  </a:lnTo>
                  <a:lnTo>
                    <a:pt x="387116" y="416319"/>
                  </a:lnTo>
                  <a:lnTo>
                    <a:pt x="365759" y="420624"/>
                  </a:lnTo>
                  <a:lnTo>
                    <a:pt x="54864" y="420624"/>
                  </a:lnTo>
                  <a:lnTo>
                    <a:pt x="33507" y="416319"/>
                  </a:lnTo>
                  <a:lnTo>
                    <a:pt x="16068" y="404574"/>
                  </a:lnTo>
                  <a:lnTo>
                    <a:pt x="4311" y="387137"/>
                  </a:lnTo>
                  <a:lnTo>
                    <a:pt x="0" y="36575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66038" y="1522602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3756" y="1313129"/>
            <a:ext cx="8953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395F"/>
                </a:solidFill>
                <a:latin typeface="Calibri"/>
                <a:cs typeface="Calibri"/>
              </a:rPr>
              <a:t>The</a:t>
            </a:r>
            <a:r>
              <a:rPr sz="1300" b="1" spc="-10" dirty="0">
                <a:solidFill>
                  <a:srgbClr val="1E395F"/>
                </a:solidFill>
                <a:latin typeface="Calibri"/>
                <a:cs typeface="Calibri"/>
              </a:rPr>
              <a:t> Problem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3756" y="1511426"/>
            <a:ext cx="159011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666666"/>
                </a:solidFill>
                <a:latin typeface="Calibri"/>
                <a:cs typeface="Calibri"/>
              </a:rPr>
              <a:t>How can AI help healthcare workers understand patient who speaks Nigerian Language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48132" y="1052974"/>
            <a:ext cx="2788920" cy="1270635"/>
            <a:chOff x="3348132" y="1052974"/>
            <a:chExt cx="2788920" cy="127063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8132" y="1052974"/>
              <a:ext cx="2788348" cy="127047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410712" y="1115567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256032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042416"/>
                  </a:lnTo>
                  <a:lnTo>
                    <a:pt x="5750" y="1070883"/>
                  </a:lnTo>
                  <a:lnTo>
                    <a:pt x="21431" y="1094136"/>
                  </a:lnTo>
                  <a:lnTo>
                    <a:pt x="44684" y="1109817"/>
                  </a:lnTo>
                  <a:lnTo>
                    <a:pt x="73151" y="1115568"/>
                  </a:lnTo>
                  <a:lnTo>
                    <a:pt x="2560320" y="1115568"/>
                  </a:lnTo>
                  <a:lnTo>
                    <a:pt x="2588787" y="1109817"/>
                  </a:lnTo>
                  <a:lnTo>
                    <a:pt x="2612040" y="1094136"/>
                  </a:lnTo>
                  <a:lnTo>
                    <a:pt x="2627721" y="1070883"/>
                  </a:lnTo>
                  <a:lnTo>
                    <a:pt x="2633472" y="1042416"/>
                  </a:lnTo>
                  <a:lnTo>
                    <a:pt x="2633472" y="73152"/>
                  </a:lnTo>
                  <a:lnTo>
                    <a:pt x="2627721" y="44684"/>
                  </a:lnTo>
                  <a:lnTo>
                    <a:pt x="2612040" y="21431"/>
                  </a:lnTo>
                  <a:lnTo>
                    <a:pt x="2588787" y="575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10712" y="1115567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60320" y="0"/>
                  </a:lnTo>
                  <a:lnTo>
                    <a:pt x="2588787" y="5750"/>
                  </a:lnTo>
                  <a:lnTo>
                    <a:pt x="2612040" y="21431"/>
                  </a:lnTo>
                  <a:lnTo>
                    <a:pt x="2627721" y="44684"/>
                  </a:lnTo>
                  <a:lnTo>
                    <a:pt x="2633472" y="73152"/>
                  </a:lnTo>
                  <a:lnTo>
                    <a:pt x="2633472" y="1042416"/>
                  </a:lnTo>
                  <a:lnTo>
                    <a:pt x="2627721" y="1070883"/>
                  </a:lnTo>
                  <a:lnTo>
                    <a:pt x="2612040" y="1094136"/>
                  </a:lnTo>
                  <a:lnTo>
                    <a:pt x="2588787" y="1109817"/>
                  </a:lnTo>
                  <a:lnTo>
                    <a:pt x="2560320" y="1115568"/>
                  </a:lnTo>
                  <a:lnTo>
                    <a:pt x="73151" y="1115568"/>
                  </a:lnTo>
                  <a:lnTo>
                    <a:pt x="44684" y="1109817"/>
                  </a:lnTo>
                  <a:lnTo>
                    <a:pt x="21431" y="1094136"/>
                  </a:lnTo>
                  <a:lnTo>
                    <a:pt x="5750" y="1070883"/>
                  </a:lnTo>
                  <a:lnTo>
                    <a:pt x="0" y="1042416"/>
                  </a:lnTo>
                  <a:lnTo>
                    <a:pt x="0" y="73152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0440" y="1417319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5">
                  <a:moveTo>
                    <a:pt x="365760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365759"/>
                  </a:lnTo>
                  <a:lnTo>
                    <a:pt x="4304" y="387137"/>
                  </a:lnTo>
                  <a:lnTo>
                    <a:pt x="16049" y="404574"/>
                  </a:lnTo>
                  <a:lnTo>
                    <a:pt x="33486" y="416319"/>
                  </a:lnTo>
                  <a:lnTo>
                    <a:pt x="54863" y="420624"/>
                  </a:lnTo>
                  <a:lnTo>
                    <a:pt x="365760" y="420624"/>
                  </a:lnTo>
                  <a:lnTo>
                    <a:pt x="387137" y="416319"/>
                  </a:lnTo>
                  <a:lnTo>
                    <a:pt x="404574" y="404574"/>
                  </a:lnTo>
                  <a:lnTo>
                    <a:pt x="416319" y="387137"/>
                  </a:lnTo>
                  <a:lnTo>
                    <a:pt x="420624" y="365759"/>
                  </a:lnTo>
                  <a:lnTo>
                    <a:pt x="420624" y="54863"/>
                  </a:lnTo>
                  <a:lnTo>
                    <a:pt x="416319" y="33486"/>
                  </a:lnTo>
                  <a:lnTo>
                    <a:pt x="404574" y="16049"/>
                  </a:lnTo>
                  <a:lnTo>
                    <a:pt x="387137" y="4304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20440" y="1417319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5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65760" y="0"/>
                  </a:lnTo>
                  <a:lnTo>
                    <a:pt x="387137" y="4304"/>
                  </a:lnTo>
                  <a:lnTo>
                    <a:pt x="404574" y="16049"/>
                  </a:lnTo>
                  <a:lnTo>
                    <a:pt x="416319" y="33486"/>
                  </a:lnTo>
                  <a:lnTo>
                    <a:pt x="420624" y="54863"/>
                  </a:lnTo>
                  <a:lnTo>
                    <a:pt x="420624" y="365759"/>
                  </a:lnTo>
                  <a:lnTo>
                    <a:pt x="416319" y="387137"/>
                  </a:lnTo>
                  <a:lnTo>
                    <a:pt x="404574" y="404574"/>
                  </a:lnTo>
                  <a:lnTo>
                    <a:pt x="387137" y="416319"/>
                  </a:lnTo>
                  <a:lnTo>
                    <a:pt x="365760" y="420624"/>
                  </a:lnTo>
                  <a:lnTo>
                    <a:pt x="54863" y="420624"/>
                  </a:lnTo>
                  <a:lnTo>
                    <a:pt x="33486" y="416319"/>
                  </a:lnTo>
                  <a:lnTo>
                    <a:pt x="16049" y="404574"/>
                  </a:lnTo>
                  <a:lnTo>
                    <a:pt x="4304" y="387137"/>
                  </a:lnTo>
                  <a:lnTo>
                    <a:pt x="0" y="36575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82746" y="1522602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20439" y="1313129"/>
            <a:ext cx="8928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395F"/>
                </a:solidFill>
                <a:latin typeface="Calibri"/>
                <a:cs typeface="Calibri"/>
              </a:rPr>
              <a:t>Our</a:t>
            </a:r>
            <a:r>
              <a:rPr sz="1300" b="1" spc="-30" dirty="0">
                <a:solidFill>
                  <a:srgbClr val="1E395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E395F"/>
                </a:solidFill>
                <a:latin typeface="Calibri"/>
                <a:cs typeface="Calibri"/>
              </a:rPr>
              <a:t>Solution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20439" y="1511426"/>
            <a:ext cx="1699513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How</a:t>
            </a:r>
            <a:r>
              <a:rPr sz="1000" spc="-4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lang="en-US" sz="1000" spc="-45" dirty="0">
                <a:solidFill>
                  <a:srgbClr val="666666"/>
                </a:solidFill>
                <a:latin typeface="Calibri"/>
                <a:cs typeface="Calibri"/>
              </a:rPr>
              <a:t>our project helps healthcare workers transform Nigerian language into a clear clinical note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64484" y="1052974"/>
            <a:ext cx="2788920" cy="1270635"/>
            <a:chOff x="6164484" y="1052974"/>
            <a:chExt cx="2788920" cy="127063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4484" y="1052974"/>
              <a:ext cx="2788348" cy="127047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27063" y="1115567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256031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042416"/>
                  </a:lnTo>
                  <a:lnTo>
                    <a:pt x="5750" y="1070883"/>
                  </a:lnTo>
                  <a:lnTo>
                    <a:pt x="21431" y="1094136"/>
                  </a:lnTo>
                  <a:lnTo>
                    <a:pt x="44684" y="1109817"/>
                  </a:lnTo>
                  <a:lnTo>
                    <a:pt x="73151" y="1115568"/>
                  </a:lnTo>
                  <a:lnTo>
                    <a:pt x="2560319" y="1115568"/>
                  </a:lnTo>
                  <a:lnTo>
                    <a:pt x="2588787" y="1109817"/>
                  </a:lnTo>
                  <a:lnTo>
                    <a:pt x="2612040" y="1094136"/>
                  </a:lnTo>
                  <a:lnTo>
                    <a:pt x="2627721" y="1070883"/>
                  </a:lnTo>
                  <a:lnTo>
                    <a:pt x="2633471" y="1042416"/>
                  </a:lnTo>
                  <a:lnTo>
                    <a:pt x="2633471" y="73152"/>
                  </a:lnTo>
                  <a:lnTo>
                    <a:pt x="2627721" y="44684"/>
                  </a:lnTo>
                  <a:lnTo>
                    <a:pt x="2612040" y="21431"/>
                  </a:lnTo>
                  <a:lnTo>
                    <a:pt x="2588787" y="5750"/>
                  </a:lnTo>
                  <a:lnTo>
                    <a:pt x="2560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27063" y="1115567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60319" y="0"/>
                  </a:lnTo>
                  <a:lnTo>
                    <a:pt x="2588787" y="5750"/>
                  </a:lnTo>
                  <a:lnTo>
                    <a:pt x="2612040" y="21431"/>
                  </a:lnTo>
                  <a:lnTo>
                    <a:pt x="2627721" y="44684"/>
                  </a:lnTo>
                  <a:lnTo>
                    <a:pt x="2633471" y="73152"/>
                  </a:lnTo>
                  <a:lnTo>
                    <a:pt x="2633471" y="1042416"/>
                  </a:lnTo>
                  <a:lnTo>
                    <a:pt x="2627721" y="1070883"/>
                  </a:lnTo>
                  <a:lnTo>
                    <a:pt x="2612040" y="1094136"/>
                  </a:lnTo>
                  <a:lnTo>
                    <a:pt x="2588787" y="1109817"/>
                  </a:lnTo>
                  <a:lnTo>
                    <a:pt x="2560319" y="1115568"/>
                  </a:lnTo>
                  <a:lnTo>
                    <a:pt x="73151" y="1115568"/>
                  </a:lnTo>
                  <a:lnTo>
                    <a:pt x="44684" y="1109817"/>
                  </a:lnTo>
                  <a:lnTo>
                    <a:pt x="21431" y="1094136"/>
                  </a:lnTo>
                  <a:lnTo>
                    <a:pt x="5750" y="1070883"/>
                  </a:lnTo>
                  <a:lnTo>
                    <a:pt x="0" y="1042416"/>
                  </a:lnTo>
                  <a:lnTo>
                    <a:pt x="0" y="73152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36791" y="1417319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5">
                  <a:moveTo>
                    <a:pt x="365760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365759"/>
                  </a:lnTo>
                  <a:lnTo>
                    <a:pt x="4304" y="387137"/>
                  </a:lnTo>
                  <a:lnTo>
                    <a:pt x="16049" y="404574"/>
                  </a:lnTo>
                  <a:lnTo>
                    <a:pt x="33486" y="416319"/>
                  </a:lnTo>
                  <a:lnTo>
                    <a:pt x="54863" y="420624"/>
                  </a:lnTo>
                  <a:lnTo>
                    <a:pt x="365760" y="420624"/>
                  </a:lnTo>
                  <a:lnTo>
                    <a:pt x="387137" y="416319"/>
                  </a:lnTo>
                  <a:lnTo>
                    <a:pt x="404574" y="404574"/>
                  </a:lnTo>
                  <a:lnTo>
                    <a:pt x="416319" y="387137"/>
                  </a:lnTo>
                  <a:lnTo>
                    <a:pt x="420624" y="365759"/>
                  </a:lnTo>
                  <a:lnTo>
                    <a:pt x="420624" y="54863"/>
                  </a:lnTo>
                  <a:lnTo>
                    <a:pt x="416319" y="33486"/>
                  </a:lnTo>
                  <a:lnTo>
                    <a:pt x="404574" y="16049"/>
                  </a:lnTo>
                  <a:lnTo>
                    <a:pt x="387137" y="4304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36791" y="1417319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5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65760" y="0"/>
                  </a:lnTo>
                  <a:lnTo>
                    <a:pt x="387137" y="4304"/>
                  </a:lnTo>
                  <a:lnTo>
                    <a:pt x="404574" y="16049"/>
                  </a:lnTo>
                  <a:lnTo>
                    <a:pt x="416319" y="33486"/>
                  </a:lnTo>
                  <a:lnTo>
                    <a:pt x="420624" y="54863"/>
                  </a:lnTo>
                  <a:lnTo>
                    <a:pt x="420624" y="365759"/>
                  </a:lnTo>
                  <a:lnTo>
                    <a:pt x="416319" y="387137"/>
                  </a:lnTo>
                  <a:lnTo>
                    <a:pt x="404574" y="404574"/>
                  </a:lnTo>
                  <a:lnTo>
                    <a:pt x="387137" y="416319"/>
                  </a:lnTo>
                  <a:lnTo>
                    <a:pt x="365760" y="420624"/>
                  </a:lnTo>
                  <a:lnTo>
                    <a:pt x="54863" y="420624"/>
                  </a:lnTo>
                  <a:lnTo>
                    <a:pt x="33486" y="416319"/>
                  </a:lnTo>
                  <a:lnTo>
                    <a:pt x="16049" y="404574"/>
                  </a:lnTo>
                  <a:lnTo>
                    <a:pt x="4304" y="387137"/>
                  </a:lnTo>
                  <a:lnTo>
                    <a:pt x="0" y="36575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99605" y="1522602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37044" y="1313129"/>
            <a:ext cx="14071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395F"/>
                </a:solidFill>
                <a:latin typeface="Calibri"/>
                <a:cs typeface="Calibri"/>
              </a:rPr>
              <a:t>System</a:t>
            </a:r>
            <a:r>
              <a:rPr sz="1300" b="1" spc="-25" dirty="0">
                <a:solidFill>
                  <a:srgbClr val="1E395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E395F"/>
                </a:solidFill>
                <a:latin typeface="Calibri"/>
                <a:cs typeface="Calibri"/>
              </a:rPr>
              <a:t>Architecture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37044" y="1778634"/>
            <a:ext cx="11010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Modules</a:t>
            </a:r>
            <a:r>
              <a:rPr sz="1000" spc="-3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&amp;</a:t>
            </a:r>
            <a:r>
              <a:rPr sz="1000" spc="-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data</a:t>
            </a:r>
            <a:r>
              <a:rPr sz="1000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666666"/>
                </a:solidFill>
                <a:latin typeface="Calibri"/>
                <a:cs typeface="Calibri"/>
              </a:rPr>
              <a:t>flow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31780" y="2351421"/>
            <a:ext cx="2788920" cy="1270635"/>
            <a:chOff x="531780" y="2351421"/>
            <a:chExt cx="2788920" cy="1270635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780" y="2351421"/>
              <a:ext cx="2788348" cy="127047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94360" y="2414015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80" h="1115695">
                  <a:moveTo>
                    <a:pt x="2560320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042415"/>
                  </a:lnTo>
                  <a:lnTo>
                    <a:pt x="5748" y="1070883"/>
                  </a:lnTo>
                  <a:lnTo>
                    <a:pt x="21426" y="1094136"/>
                  </a:lnTo>
                  <a:lnTo>
                    <a:pt x="44678" y="1109817"/>
                  </a:lnTo>
                  <a:lnTo>
                    <a:pt x="73152" y="1115567"/>
                  </a:lnTo>
                  <a:lnTo>
                    <a:pt x="2560320" y="1115567"/>
                  </a:lnTo>
                  <a:lnTo>
                    <a:pt x="2588787" y="1109817"/>
                  </a:lnTo>
                  <a:lnTo>
                    <a:pt x="2612040" y="1094136"/>
                  </a:lnTo>
                  <a:lnTo>
                    <a:pt x="2627721" y="1070883"/>
                  </a:lnTo>
                  <a:lnTo>
                    <a:pt x="2633472" y="1042415"/>
                  </a:lnTo>
                  <a:lnTo>
                    <a:pt x="2633472" y="73151"/>
                  </a:lnTo>
                  <a:lnTo>
                    <a:pt x="2627721" y="44684"/>
                  </a:lnTo>
                  <a:lnTo>
                    <a:pt x="2612040" y="21431"/>
                  </a:lnTo>
                  <a:lnTo>
                    <a:pt x="2588787" y="575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360" y="2414015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80" h="1115695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2560320" y="0"/>
                  </a:lnTo>
                  <a:lnTo>
                    <a:pt x="2588787" y="5750"/>
                  </a:lnTo>
                  <a:lnTo>
                    <a:pt x="2612040" y="21431"/>
                  </a:lnTo>
                  <a:lnTo>
                    <a:pt x="2627721" y="44684"/>
                  </a:lnTo>
                  <a:lnTo>
                    <a:pt x="2633472" y="73151"/>
                  </a:lnTo>
                  <a:lnTo>
                    <a:pt x="2633472" y="1042415"/>
                  </a:lnTo>
                  <a:lnTo>
                    <a:pt x="2627721" y="1070883"/>
                  </a:lnTo>
                  <a:lnTo>
                    <a:pt x="2612040" y="1094136"/>
                  </a:lnTo>
                  <a:lnTo>
                    <a:pt x="2588787" y="1109817"/>
                  </a:lnTo>
                  <a:lnTo>
                    <a:pt x="2560320" y="1115567"/>
                  </a:lnTo>
                  <a:lnTo>
                    <a:pt x="73152" y="1115567"/>
                  </a:lnTo>
                  <a:lnTo>
                    <a:pt x="44678" y="1109817"/>
                  </a:lnTo>
                  <a:lnTo>
                    <a:pt x="21426" y="1094136"/>
                  </a:lnTo>
                  <a:lnTo>
                    <a:pt x="5748" y="1070883"/>
                  </a:lnTo>
                  <a:lnTo>
                    <a:pt x="0" y="1042415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4088" y="271576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365759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365759"/>
                  </a:lnTo>
                  <a:lnTo>
                    <a:pt x="4311" y="387137"/>
                  </a:lnTo>
                  <a:lnTo>
                    <a:pt x="16068" y="404574"/>
                  </a:lnTo>
                  <a:lnTo>
                    <a:pt x="33507" y="416319"/>
                  </a:lnTo>
                  <a:lnTo>
                    <a:pt x="54864" y="420624"/>
                  </a:lnTo>
                  <a:lnTo>
                    <a:pt x="365759" y="420624"/>
                  </a:lnTo>
                  <a:lnTo>
                    <a:pt x="387116" y="416319"/>
                  </a:lnTo>
                  <a:lnTo>
                    <a:pt x="404555" y="404574"/>
                  </a:lnTo>
                  <a:lnTo>
                    <a:pt x="416312" y="387137"/>
                  </a:lnTo>
                  <a:lnTo>
                    <a:pt x="420624" y="365759"/>
                  </a:lnTo>
                  <a:lnTo>
                    <a:pt x="420624" y="54863"/>
                  </a:lnTo>
                  <a:lnTo>
                    <a:pt x="416312" y="33486"/>
                  </a:lnTo>
                  <a:lnTo>
                    <a:pt x="404555" y="16049"/>
                  </a:lnTo>
                  <a:lnTo>
                    <a:pt x="387116" y="4304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4088" y="271576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365759" y="0"/>
                  </a:lnTo>
                  <a:lnTo>
                    <a:pt x="387116" y="4304"/>
                  </a:lnTo>
                  <a:lnTo>
                    <a:pt x="404555" y="16049"/>
                  </a:lnTo>
                  <a:lnTo>
                    <a:pt x="416312" y="33486"/>
                  </a:lnTo>
                  <a:lnTo>
                    <a:pt x="420624" y="54863"/>
                  </a:lnTo>
                  <a:lnTo>
                    <a:pt x="420624" y="365759"/>
                  </a:lnTo>
                  <a:lnTo>
                    <a:pt x="416312" y="387137"/>
                  </a:lnTo>
                  <a:lnTo>
                    <a:pt x="404555" y="404574"/>
                  </a:lnTo>
                  <a:lnTo>
                    <a:pt x="387116" y="416319"/>
                  </a:lnTo>
                  <a:lnTo>
                    <a:pt x="365759" y="420624"/>
                  </a:lnTo>
                  <a:lnTo>
                    <a:pt x="54864" y="420624"/>
                  </a:lnTo>
                  <a:lnTo>
                    <a:pt x="33507" y="416319"/>
                  </a:lnTo>
                  <a:lnTo>
                    <a:pt x="16068" y="404574"/>
                  </a:lnTo>
                  <a:lnTo>
                    <a:pt x="4311" y="387137"/>
                  </a:lnTo>
                  <a:lnTo>
                    <a:pt x="0" y="36575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66038" y="2821305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03756" y="2612516"/>
            <a:ext cx="137922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ASR Component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03756" y="3077336"/>
            <a:ext cx="1480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Building</a:t>
            </a:r>
            <a:r>
              <a:rPr sz="1000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a</a:t>
            </a:r>
            <a:r>
              <a:rPr sz="1000" spc="-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biometric</a:t>
            </a:r>
            <a:r>
              <a:rPr sz="1000" spc="-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66666"/>
                </a:solidFill>
                <a:latin typeface="Calibri"/>
                <a:cs typeface="Calibri"/>
              </a:rPr>
              <a:t>identity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348132" y="2351421"/>
            <a:ext cx="2788920" cy="1270635"/>
            <a:chOff x="3348132" y="2351421"/>
            <a:chExt cx="2788920" cy="1270635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8132" y="2351421"/>
              <a:ext cx="2788348" cy="127047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410712" y="2414015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256032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042415"/>
                  </a:lnTo>
                  <a:lnTo>
                    <a:pt x="5750" y="1070883"/>
                  </a:lnTo>
                  <a:lnTo>
                    <a:pt x="21431" y="1094136"/>
                  </a:lnTo>
                  <a:lnTo>
                    <a:pt x="44684" y="1109817"/>
                  </a:lnTo>
                  <a:lnTo>
                    <a:pt x="73151" y="1115567"/>
                  </a:lnTo>
                  <a:lnTo>
                    <a:pt x="2560320" y="1115567"/>
                  </a:lnTo>
                  <a:lnTo>
                    <a:pt x="2588787" y="1109817"/>
                  </a:lnTo>
                  <a:lnTo>
                    <a:pt x="2612040" y="1094136"/>
                  </a:lnTo>
                  <a:lnTo>
                    <a:pt x="2627721" y="1070883"/>
                  </a:lnTo>
                  <a:lnTo>
                    <a:pt x="2633472" y="1042415"/>
                  </a:lnTo>
                  <a:lnTo>
                    <a:pt x="2633472" y="73151"/>
                  </a:lnTo>
                  <a:lnTo>
                    <a:pt x="2627721" y="44684"/>
                  </a:lnTo>
                  <a:lnTo>
                    <a:pt x="2612040" y="21431"/>
                  </a:lnTo>
                  <a:lnTo>
                    <a:pt x="2588787" y="575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10712" y="2414015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60320" y="0"/>
                  </a:lnTo>
                  <a:lnTo>
                    <a:pt x="2588787" y="5750"/>
                  </a:lnTo>
                  <a:lnTo>
                    <a:pt x="2612040" y="21431"/>
                  </a:lnTo>
                  <a:lnTo>
                    <a:pt x="2627721" y="44684"/>
                  </a:lnTo>
                  <a:lnTo>
                    <a:pt x="2633472" y="73151"/>
                  </a:lnTo>
                  <a:lnTo>
                    <a:pt x="2633472" y="1042415"/>
                  </a:lnTo>
                  <a:lnTo>
                    <a:pt x="2627721" y="1070883"/>
                  </a:lnTo>
                  <a:lnTo>
                    <a:pt x="2612040" y="1094136"/>
                  </a:lnTo>
                  <a:lnTo>
                    <a:pt x="2588787" y="1109817"/>
                  </a:lnTo>
                  <a:lnTo>
                    <a:pt x="2560320" y="1115567"/>
                  </a:lnTo>
                  <a:lnTo>
                    <a:pt x="73151" y="1115567"/>
                  </a:lnTo>
                  <a:lnTo>
                    <a:pt x="44684" y="1109817"/>
                  </a:lnTo>
                  <a:lnTo>
                    <a:pt x="21431" y="1094136"/>
                  </a:lnTo>
                  <a:lnTo>
                    <a:pt x="5750" y="1070883"/>
                  </a:lnTo>
                  <a:lnTo>
                    <a:pt x="0" y="1042415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20440" y="271576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5">
                  <a:moveTo>
                    <a:pt x="365760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365759"/>
                  </a:lnTo>
                  <a:lnTo>
                    <a:pt x="4304" y="387137"/>
                  </a:lnTo>
                  <a:lnTo>
                    <a:pt x="16049" y="404574"/>
                  </a:lnTo>
                  <a:lnTo>
                    <a:pt x="33486" y="416319"/>
                  </a:lnTo>
                  <a:lnTo>
                    <a:pt x="54863" y="420624"/>
                  </a:lnTo>
                  <a:lnTo>
                    <a:pt x="365760" y="420624"/>
                  </a:lnTo>
                  <a:lnTo>
                    <a:pt x="387137" y="416319"/>
                  </a:lnTo>
                  <a:lnTo>
                    <a:pt x="404574" y="404574"/>
                  </a:lnTo>
                  <a:lnTo>
                    <a:pt x="416319" y="387137"/>
                  </a:lnTo>
                  <a:lnTo>
                    <a:pt x="420624" y="365759"/>
                  </a:lnTo>
                  <a:lnTo>
                    <a:pt x="420624" y="54863"/>
                  </a:lnTo>
                  <a:lnTo>
                    <a:pt x="416319" y="33486"/>
                  </a:lnTo>
                  <a:lnTo>
                    <a:pt x="404574" y="16049"/>
                  </a:lnTo>
                  <a:lnTo>
                    <a:pt x="387137" y="4304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20440" y="271576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5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65760" y="0"/>
                  </a:lnTo>
                  <a:lnTo>
                    <a:pt x="387137" y="4304"/>
                  </a:lnTo>
                  <a:lnTo>
                    <a:pt x="404574" y="16049"/>
                  </a:lnTo>
                  <a:lnTo>
                    <a:pt x="416319" y="33486"/>
                  </a:lnTo>
                  <a:lnTo>
                    <a:pt x="420624" y="54863"/>
                  </a:lnTo>
                  <a:lnTo>
                    <a:pt x="420624" y="365759"/>
                  </a:lnTo>
                  <a:lnTo>
                    <a:pt x="416319" y="387137"/>
                  </a:lnTo>
                  <a:lnTo>
                    <a:pt x="404574" y="404574"/>
                  </a:lnTo>
                  <a:lnTo>
                    <a:pt x="387137" y="416319"/>
                  </a:lnTo>
                  <a:lnTo>
                    <a:pt x="365760" y="420624"/>
                  </a:lnTo>
                  <a:lnTo>
                    <a:pt x="54863" y="420624"/>
                  </a:lnTo>
                  <a:lnTo>
                    <a:pt x="33486" y="416319"/>
                  </a:lnTo>
                  <a:lnTo>
                    <a:pt x="16049" y="404574"/>
                  </a:lnTo>
                  <a:lnTo>
                    <a:pt x="4304" y="387137"/>
                  </a:lnTo>
                  <a:lnTo>
                    <a:pt x="0" y="36575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682746" y="2821305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20439" y="2612516"/>
            <a:ext cx="118745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Clinical Note Structuring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20439" y="3077336"/>
            <a:ext cx="16395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666666"/>
                </a:solidFill>
                <a:latin typeface="Calibri"/>
                <a:cs typeface="Calibri"/>
              </a:rPr>
              <a:t>Voting-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based</a:t>
            </a:r>
            <a:r>
              <a:rPr sz="1000" spc="-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identity</a:t>
            </a:r>
            <a:r>
              <a:rPr sz="1000" spc="-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66666"/>
                </a:solidFill>
                <a:latin typeface="Calibri"/>
                <a:cs typeface="Calibri"/>
              </a:rPr>
              <a:t>matching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164484" y="2351421"/>
            <a:ext cx="2788920" cy="1270635"/>
            <a:chOff x="6164484" y="2351421"/>
            <a:chExt cx="2788920" cy="1270635"/>
          </a:xfrm>
        </p:grpSpPr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4484" y="2351421"/>
              <a:ext cx="2788348" cy="127047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227063" y="2414015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256031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042415"/>
                  </a:lnTo>
                  <a:lnTo>
                    <a:pt x="5750" y="1070883"/>
                  </a:lnTo>
                  <a:lnTo>
                    <a:pt x="21431" y="1094136"/>
                  </a:lnTo>
                  <a:lnTo>
                    <a:pt x="44684" y="1109817"/>
                  </a:lnTo>
                  <a:lnTo>
                    <a:pt x="73151" y="1115567"/>
                  </a:lnTo>
                  <a:lnTo>
                    <a:pt x="2560319" y="1115567"/>
                  </a:lnTo>
                  <a:lnTo>
                    <a:pt x="2588787" y="1109817"/>
                  </a:lnTo>
                  <a:lnTo>
                    <a:pt x="2612040" y="1094136"/>
                  </a:lnTo>
                  <a:lnTo>
                    <a:pt x="2627721" y="1070883"/>
                  </a:lnTo>
                  <a:lnTo>
                    <a:pt x="2633471" y="1042415"/>
                  </a:lnTo>
                  <a:lnTo>
                    <a:pt x="2633471" y="73151"/>
                  </a:lnTo>
                  <a:lnTo>
                    <a:pt x="2627721" y="44684"/>
                  </a:lnTo>
                  <a:lnTo>
                    <a:pt x="2612040" y="21431"/>
                  </a:lnTo>
                  <a:lnTo>
                    <a:pt x="2588787" y="5750"/>
                  </a:lnTo>
                  <a:lnTo>
                    <a:pt x="2560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27063" y="2414015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60319" y="0"/>
                  </a:lnTo>
                  <a:lnTo>
                    <a:pt x="2588787" y="5750"/>
                  </a:lnTo>
                  <a:lnTo>
                    <a:pt x="2612040" y="21431"/>
                  </a:lnTo>
                  <a:lnTo>
                    <a:pt x="2627721" y="44684"/>
                  </a:lnTo>
                  <a:lnTo>
                    <a:pt x="2633471" y="73151"/>
                  </a:lnTo>
                  <a:lnTo>
                    <a:pt x="2633471" y="1042415"/>
                  </a:lnTo>
                  <a:lnTo>
                    <a:pt x="2627721" y="1070883"/>
                  </a:lnTo>
                  <a:lnTo>
                    <a:pt x="2612040" y="1094136"/>
                  </a:lnTo>
                  <a:lnTo>
                    <a:pt x="2588787" y="1109817"/>
                  </a:lnTo>
                  <a:lnTo>
                    <a:pt x="2560319" y="1115567"/>
                  </a:lnTo>
                  <a:lnTo>
                    <a:pt x="73151" y="1115567"/>
                  </a:lnTo>
                  <a:lnTo>
                    <a:pt x="44684" y="1109817"/>
                  </a:lnTo>
                  <a:lnTo>
                    <a:pt x="21431" y="1094136"/>
                  </a:lnTo>
                  <a:lnTo>
                    <a:pt x="5750" y="1070883"/>
                  </a:lnTo>
                  <a:lnTo>
                    <a:pt x="0" y="1042415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336791" y="271576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5">
                  <a:moveTo>
                    <a:pt x="365760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365759"/>
                  </a:lnTo>
                  <a:lnTo>
                    <a:pt x="4304" y="387137"/>
                  </a:lnTo>
                  <a:lnTo>
                    <a:pt x="16049" y="404574"/>
                  </a:lnTo>
                  <a:lnTo>
                    <a:pt x="33486" y="416319"/>
                  </a:lnTo>
                  <a:lnTo>
                    <a:pt x="54863" y="420624"/>
                  </a:lnTo>
                  <a:lnTo>
                    <a:pt x="365760" y="420624"/>
                  </a:lnTo>
                  <a:lnTo>
                    <a:pt x="387137" y="416319"/>
                  </a:lnTo>
                  <a:lnTo>
                    <a:pt x="404574" y="404574"/>
                  </a:lnTo>
                  <a:lnTo>
                    <a:pt x="416319" y="387137"/>
                  </a:lnTo>
                  <a:lnTo>
                    <a:pt x="420624" y="365759"/>
                  </a:lnTo>
                  <a:lnTo>
                    <a:pt x="420624" y="54863"/>
                  </a:lnTo>
                  <a:lnTo>
                    <a:pt x="416319" y="33486"/>
                  </a:lnTo>
                  <a:lnTo>
                    <a:pt x="404574" y="16049"/>
                  </a:lnTo>
                  <a:lnTo>
                    <a:pt x="387137" y="4304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36791" y="271576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5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365760" y="0"/>
                  </a:lnTo>
                  <a:lnTo>
                    <a:pt x="387137" y="4304"/>
                  </a:lnTo>
                  <a:lnTo>
                    <a:pt x="404574" y="16049"/>
                  </a:lnTo>
                  <a:lnTo>
                    <a:pt x="416319" y="33486"/>
                  </a:lnTo>
                  <a:lnTo>
                    <a:pt x="420624" y="54863"/>
                  </a:lnTo>
                  <a:lnTo>
                    <a:pt x="420624" y="365759"/>
                  </a:lnTo>
                  <a:lnTo>
                    <a:pt x="416319" y="387137"/>
                  </a:lnTo>
                  <a:lnTo>
                    <a:pt x="404574" y="404574"/>
                  </a:lnTo>
                  <a:lnTo>
                    <a:pt x="387137" y="416319"/>
                  </a:lnTo>
                  <a:lnTo>
                    <a:pt x="365760" y="420624"/>
                  </a:lnTo>
                  <a:lnTo>
                    <a:pt x="54863" y="420624"/>
                  </a:lnTo>
                  <a:lnTo>
                    <a:pt x="33486" y="416319"/>
                  </a:lnTo>
                  <a:lnTo>
                    <a:pt x="16049" y="404574"/>
                  </a:lnTo>
                  <a:lnTo>
                    <a:pt x="4304" y="387137"/>
                  </a:lnTo>
                  <a:lnTo>
                    <a:pt x="0" y="36575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499605" y="2821305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837044" y="2612516"/>
            <a:ext cx="104965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Doctor Review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37044" y="3077336"/>
            <a:ext cx="17011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YOLOv8</a:t>
            </a:r>
            <a:r>
              <a:rPr sz="1000" spc="-1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model</a:t>
            </a:r>
            <a:r>
              <a:rPr sz="1000" spc="-2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training</a:t>
            </a:r>
            <a:r>
              <a:rPr sz="1000" spc="-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&amp;</a:t>
            </a:r>
            <a:r>
              <a:rPr sz="1000" spc="-3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66666"/>
                </a:solidFill>
                <a:latin typeface="Calibri"/>
                <a:cs typeface="Calibri"/>
              </a:rPr>
              <a:t>results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31780" y="3649857"/>
            <a:ext cx="2788920" cy="1270635"/>
            <a:chOff x="531780" y="3649857"/>
            <a:chExt cx="2788920" cy="1270635"/>
          </a:xfrm>
        </p:grpSpPr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780" y="3649857"/>
              <a:ext cx="2788348" cy="127047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94360" y="3712464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80" h="1115695">
                  <a:moveTo>
                    <a:pt x="2560320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042416"/>
                  </a:lnTo>
                  <a:lnTo>
                    <a:pt x="5748" y="1070889"/>
                  </a:lnTo>
                  <a:lnTo>
                    <a:pt x="21426" y="1094141"/>
                  </a:lnTo>
                  <a:lnTo>
                    <a:pt x="44678" y="1109819"/>
                  </a:lnTo>
                  <a:lnTo>
                    <a:pt x="73152" y="1115568"/>
                  </a:lnTo>
                  <a:lnTo>
                    <a:pt x="2560320" y="1115568"/>
                  </a:lnTo>
                  <a:lnTo>
                    <a:pt x="2588787" y="1109819"/>
                  </a:lnTo>
                  <a:lnTo>
                    <a:pt x="2612040" y="1094141"/>
                  </a:lnTo>
                  <a:lnTo>
                    <a:pt x="2627721" y="1070889"/>
                  </a:lnTo>
                  <a:lnTo>
                    <a:pt x="2633472" y="1042416"/>
                  </a:lnTo>
                  <a:lnTo>
                    <a:pt x="2633472" y="73152"/>
                  </a:lnTo>
                  <a:lnTo>
                    <a:pt x="2627721" y="44684"/>
                  </a:lnTo>
                  <a:lnTo>
                    <a:pt x="2612040" y="21431"/>
                  </a:lnTo>
                  <a:lnTo>
                    <a:pt x="2588787" y="575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94360" y="3712464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80" h="1115695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2560320" y="0"/>
                  </a:lnTo>
                  <a:lnTo>
                    <a:pt x="2588787" y="5750"/>
                  </a:lnTo>
                  <a:lnTo>
                    <a:pt x="2612040" y="21431"/>
                  </a:lnTo>
                  <a:lnTo>
                    <a:pt x="2627721" y="44684"/>
                  </a:lnTo>
                  <a:lnTo>
                    <a:pt x="2633472" y="73152"/>
                  </a:lnTo>
                  <a:lnTo>
                    <a:pt x="2633472" y="1042416"/>
                  </a:lnTo>
                  <a:lnTo>
                    <a:pt x="2627721" y="1070889"/>
                  </a:lnTo>
                  <a:lnTo>
                    <a:pt x="2612040" y="1094141"/>
                  </a:lnTo>
                  <a:lnTo>
                    <a:pt x="2588787" y="1109819"/>
                  </a:lnTo>
                  <a:lnTo>
                    <a:pt x="2560320" y="1115568"/>
                  </a:lnTo>
                  <a:lnTo>
                    <a:pt x="73152" y="1115568"/>
                  </a:lnTo>
                  <a:lnTo>
                    <a:pt x="44678" y="1109819"/>
                  </a:lnTo>
                  <a:lnTo>
                    <a:pt x="21426" y="1094141"/>
                  </a:lnTo>
                  <a:lnTo>
                    <a:pt x="5748" y="1070889"/>
                  </a:lnTo>
                  <a:lnTo>
                    <a:pt x="0" y="1042416"/>
                  </a:lnTo>
                  <a:lnTo>
                    <a:pt x="0" y="73152"/>
                  </a:lnTo>
                  <a:close/>
                </a:path>
              </a:pathLst>
            </a:custGeom>
            <a:ln w="9524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04088" y="4014216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365759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365760"/>
                  </a:lnTo>
                  <a:lnTo>
                    <a:pt x="4311" y="387116"/>
                  </a:lnTo>
                  <a:lnTo>
                    <a:pt x="16068" y="404555"/>
                  </a:lnTo>
                  <a:lnTo>
                    <a:pt x="33507" y="416312"/>
                  </a:lnTo>
                  <a:lnTo>
                    <a:pt x="54864" y="420624"/>
                  </a:lnTo>
                  <a:lnTo>
                    <a:pt x="365759" y="420624"/>
                  </a:lnTo>
                  <a:lnTo>
                    <a:pt x="387116" y="416312"/>
                  </a:lnTo>
                  <a:lnTo>
                    <a:pt x="404555" y="404555"/>
                  </a:lnTo>
                  <a:lnTo>
                    <a:pt x="416312" y="387116"/>
                  </a:lnTo>
                  <a:lnTo>
                    <a:pt x="420624" y="365760"/>
                  </a:lnTo>
                  <a:lnTo>
                    <a:pt x="420624" y="54864"/>
                  </a:lnTo>
                  <a:lnTo>
                    <a:pt x="416312" y="33507"/>
                  </a:lnTo>
                  <a:lnTo>
                    <a:pt x="404555" y="16068"/>
                  </a:lnTo>
                  <a:lnTo>
                    <a:pt x="387116" y="4311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04088" y="4014216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0" y="54864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65759" y="0"/>
                  </a:lnTo>
                  <a:lnTo>
                    <a:pt x="387116" y="4311"/>
                  </a:lnTo>
                  <a:lnTo>
                    <a:pt x="404555" y="16068"/>
                  </a:lnTo>
                  <a:lnTo>
                    <a:pt x="416312" y="33507"/>
                  </a:lnTo>
                  <a:lnTo>
                    <a:pt x="420624" y="54864"/>
                  </a:lnTo>
                  <a:lnTo>
                    <a:pt x="420624" y="365760"/>
                  </a:lnTo>
                  <a:lnTo>
                    <a:pt x="416312" y="387116"/>
                  </a:lnTo>
                  <a:lnTo>
                    <a:pt x="404555" y="404555"/>
                  </a:lnTo>
                  <a:lnTo>
                    <a:pt x="387116" y="416312"/>
                  </a:lnTo>
                  <a:lnTo>
                    <a:pt x="365759" y="420624"/>
                  </a:lnTo>
                  <a:lnTo>
                    <a:pt x="54864" y="420624"/>
                  </a:lnTo>
                  <a:lnTo>
                    <a:pt x="33507" y="416312"/>
                  </a:lnTo>
                  <a:lnTo>
                    <a:pt x="16068" y="404555"/>
                  </a:lnTo>
                  <a:lnTo>
                    <a:pt x="4311" y="387116"/>
                  </a:lnTo>
                  <a:lnTo>
                    <a:pt x="0" y="365760"/>
                  </a:lnTo>
                  <a:lnTo>
                    <a:pt x="0" y="54864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66038" y="4120083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03756" y="3911294"/>
            <a:ext cx="157607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Data Storage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03756" y="4376115"/>
            <a:ext cx="15760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Tripwire</a:t>
            </a:r>
            <a:r>
              <a:rPr sz="1000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logic</a:t>
            </a:r>
            <a:r>
              <a:rPr sz="1000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&amp;</a:t>
            </a:r>
            <a:r>
              <a:rPr sz="1000" spc="-3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session</a:t>
            </a:r>
            <a:r>
              <a:rPr sz="1000" spc="-2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66666"/>
                </a:solidFill>
                <a:latin typeface="Calibri"/>
                <a:cs typeface="Calibri"/>
              </a:rPr>
              <a:t>billing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348132" y="3649857"/>
            <a:ext cx="2788920" cy="1270635"/>
            <a:chOff x="3348132" y="3649857"/>
            <a:chExt cx="2788920" cy="1270635"/>
          </a:xfrm>
        </p:grpSpPr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8132" y="3649857"/>
              <a:ext cx="2788348" cy="1270473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410712" y="3712464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256032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042416"/>
                  </a:lnTo>
                  <a:lnTo>
                    <a:pt x="5750" y="1070889"/>
                  </a:lnTo>
                  <a:lnTo>
                    <a:pt x="21431" y="1094141"/>
                  </a:lnTo>
                  <a:lnTo>
                    <a:pt x="44684" y="1109819"/>
                  </a:lnTo>
                  <a:lnTo>
                    <a:pt x="73151" y="1115568"/>
                  </a:lnTo>
                  <a:lnTo>
                    <a:pt x="2560320" y="1115568"/>
                  </a:lnTo>
                  <a:lnTo>
                    <a:pt x="2588787" y="1109819"/>
                  </a:lnTo>
                  <a:lnTo>
                    <a:pt x="2612040" y="1094141"/>
                  </a:lnTo>
                  <a:lnTo>
                    <a:pt x="2627721" y="1070889"/>
                  </a:lnTo>
                  <a:lnTo>
                    <a:pt x="2633472" y="1042416"/>
                  </a:lnTo>
                  <a:lnTo>
                    <a:pt x="2633472" y="73152"/>
                  </a:lnTo>
                  <a:lnTo>
                    <a:pt x="2627721" y="44684"/>
                  </a:lnTo>
                  <a:lnTo>
                    <a:pt x="2612040" y="21431"/>
                  </a:lnTo>
                  <a:lnTo>
                    <a:pt x="2588787" y="5750"/>
                  </a:lnTo>
                  <a:lnTo>
                    <a:pt x="2560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410712" y="3712464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60320" y="0"/>
                  </a:lnTo>
                  <a:lnTo>
                    <a:pt x="2588787" y="5750"/>
                  </a:lnTo>
                  <a:lnTo>
                    <a:pt x="2612040" y="21431"/>
                  </a:lnTo>
                  <a:lnTo>
                    <a:pt x="2627721" y="44684"/>
                  </a:lnTo>
                  <a:lnTo>
                    <a:pt x="2633472" y="73152"/>
                  </a:lnTo>
                  <a:lnTo>
                    <a:pt x="2633472" y="1042416"/>
                  </a:lnTo>
                  <a:lnTo>
                    <a:pt x="2627721" y="1070889"/>
                  </a:lnTo>
                  <a:lnTo>
                    <a:pt x="2612040" y="1094141"/>
                  </a:lnTo>
                  <a:lnTo>
                    <a:pt x="2588787" y="1109819"/>
                  </a:lnTo>
                  <a:lnTo>
                    <a:pt x="2560320" y="1115568"/>
                  </a:lnTo>
                  <a:lnTo>
                    <a:pt x="73151" y="1115568"/>
                  </a:lnTo>
                  <a:lnTo>
                    <a:pt x="44684" y="1109819"/>
                  </a:lnTo>
                  <a:lnTo>
                    <a:pt x="21431" y="1094141"/>
                  </a:lnTo>
                  <a:lnTo>
                    <a:pt x="5750" y="1070889"/>
                  </a:lnTo>
                  <a:lnTo>
                    <a:pt x="0" y="1042416"/>
                  </a:lnTo>
                  <a:lnTo>
                    <a:pt x="0" y="73152"/>
                  </a:lnTo>
                  <a:close/>
                </a:path>
              </a:pathLst>
            </a:custGeom>
            <a:ln w="9524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520440" y="4014216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4">
                  <a:moveTo>
                    <a:pt x="365760" y="0"/>
                  </a:moveTo>
                  <a:lnTo>
                    <a:pt x="54863" y="0"/>
                  </a:lnTo>
                  <a:lnTo>
                    <a:pt x="33486" y="4311"/>
                  </a:lnTo>
                  <a:lnTo>
                    <a:pt x="16049" y="16068"/>
                  </a:lnTo>
                  <a:lnTo>
                    <a:pt x="4304" y="33507"/>
                  </a:lnTo>
                  <a:lnTo>
                    <a:pt x="0" y="54864"/>
                  </a:lnTo>
                  <a:lnTo>
                    <a:pt x="0" y="365760"/>
                  </a:lnTo>
                  <a:lnTo>
                    <a:pt x="4304" y="387116"/>
                  </a:lnTo>
                  <a:lnTo>
                    <a:pt x="16049" y="404555"/>
                  </a:lnTo>
                  <a:lnTo>
                    <a:pt x="33486" y="416312"/>
                  </a:lnTo>
                  <a:lnTo>
                    <a:pt x="54863" y="420624"/>
                  </a:lnTo>
                  <a:lnTo>
                    <a:pt x="365760" y="420624"/>
                  </a:lnTo>
                  <a:lnTo>
                    <a:pt x="387137" y="416312"/>
                  </a:lnTo>
                  <a:lnTo>
                    <a:pt x="404574" y="404555"/>
                  </a:lnTo>
                  <a:lnTo>
                    <a:pt x="416319" y="387116"/>
                  </a:lnTo>
                  <a:lnTo>
                    <a:pt x="420624" y="365760"/>
                  </a:lnTo>
                  <a:lnTo>
                    <a:pt x="420624" y="54864"/>
                  </a:lnTo>
                  <a:lnTo>
                    <a:pt x="416319" y="33507"/>
                  </a:lnTo>
                  <a:lnTo>
                    <a:pt x="404574" y="16068"/>
                  </a:lnTo>
                  <a:lnTo>
                    <a:pt x="387137" y="4311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520440" y="4014216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4">
                  <a:moveTo>
                    <a:pt x="0" y="54864"/>
                  </a:moveTo>
                  <a:lnTo>
                    <a:pt x="4304" y="33507"/>
                  </a:lnTo>
                  <a:lnTo>
                    <a:pt x="16049" y="16068"/>
                  </a:lnTo>
                  <a:lnTo>
                    <a:pt x="33486" y="4311"/>
                  </a:lnTo>
                  <a:lnTo>
                    <a:pt x="54863" y="0"/>
                  </a:lnTo>
                  <a:lnTo>
                    <a:pt x="365760" y="0"/>
                  </a:lnTo>
                  <a:lnTo>
                    <a:pt x="387137" y="4311"/>
                  </a:lnTo>
                  <a:lnTo>
                    <a:pt x="404574" y="16068"/>
                  </a:lnTo>
                  <a:lnTo>
                    <a:pt x="416319" y="33507"/>
                  </a:lnTo>
                  <a:lnTo>
                    <a:pt x="420624" y="54864"/>
                  </a:lnTo>
                  <a:lnTo>
                    <a:pt x="420624" y="365760"/>
                  </a:lnTo>
                  <a:lnTo>
                    <a:pt x="416319" y="387116"/>
                  </a:lnTo>
                  <a:lnTo>
                    <a:pt x="404574" y="404555"/>
                  </a:lnTo>
                  <a:lnTo>
                    <a:pt x="387137" y="416312"/>
                  </a:lnTo>
                  <a:lnTo>
                    <a:pt x="365760" y="420624"/>
                  </a:lnTo>
                  <a:lnTo>
                    <a:pt x="54863" y="420624"/>
                  </a:lnTo>
                  <a:lnTo>
                    <a:pt x="33486" y="416312"/>
                  </a:lnTo>
                  <a:lnTo>
                    <a:pt x="16049" y="404555"/>
                  </a:lnTo>
                  <a:lnTo>
                    <a:pt x="4304" y="387116"/>
                  </a:lnTo>
                  <a:lnTo>
                    <a:pt x="0" y="365760"/>
                  </a:lnTo>
                  <a:lnTo>
                    <a:pt x="0" y="54864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682746" y="4120083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020439" y="3911294"/>
            <a:ext cx="11195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395F"/>
                </a:solidFill>
                <a:latin typeface="Calibri"/>
                <a:cs typeface="Calibri"/>
              </a:rPr>
              <a:t>Results</a:t>
            </a:r>
            <a:r>
              <a:rPr sz="1300" b="1" spc="-10" dirty="0">
                <a:solidFill>
                  <a:srgbClr val="1E395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E395F"/>
                </a:solidFill>
                <a:latin typeface="Calibri"/>
                <a:cs typeface="Calibri"/>
              </a:rPr>
              <a:t>&amp;</a:t>
            </a:r>
            <a:r>
              <a:rPr sz="1300" b="1" spc="-20" dirty="0">
                <a:solidFill>
                  <a:srgbClr val="1E395F"/>
                </a:solidFill>
                <a:latin typeface="Calibri"/>
                <a:cs typeface="Calibri"/>
              </a:rPr>
              <a:t> Demo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020439" y="4376115"/>
            <a:ext cx="13163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Live</a:t>
            </a:r>
            <a:r>
              <a:rPr sz="1000" spc="-3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system</a:t>
            </a:r>
            <a:r>
              <a:rPr sz="1000" spc="-2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66666"/>
                </a:solidFill>
                <a:latin typeface="Calibri"/>
                <a:cs typeface="Calibri"/>
              </a:rPr>
              <a:t>performance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164484" y="3649857"/>
            <a:ext cx="2788920" cy="1270635"/>
            <a:chOff x="6164484" y="3649857"/>
            <a:chExt cx="2788920" cy="1270635"/>
          </a:xfrm>
        </p:grpSpPr>
        <p:pic>
          <p:nvPicPr>
            <p:cNvPr id="79" name="object 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4484" y="3649857"/>
              <a:ext cx="2788348" cy="1270473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6227063" y="3712464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256031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042416"/>
                  </a:lnTo>
                  <a:lnTo>
                    <a:pt x="5750" y="1070889"/>
                  </a:lnTo>
                  <a:lnTo>
                    <a:pt x="21431" y="1094141"/>
                  </a:lnTo>
                  <a:lnTo>
                    <a:pt x="44684" y="1109819"/>
                  </a:lnTo>
                  <a:lnTo>
                    <a:pt x="73151" y="1115568"/>
                  </a:lnTo>
                  <a:lnTo>
                    <a:pt x="2560319" y="1115568"/>
                  </a:lnTo>
                  <a:lnTo>
                    <a:pt x="2588787" y="1109819"/>
                  </a:lnTo>
                  <a:lnTo>
                    <a:pt x="2612040" y="1094141"/>
                  </a:lnTo>
                  <a:lnTo>
                    <a:pt x="2627721" y="1070889"/>
                  </a:lnTo>
                  <a:lnTo>
                    <a:pt x="2633471" y="1042416"/>
                  </a:lnTo>
                  <a:lnTo>
                    <a:pt x="2633471" y="73152"/>
                  </a:lnTo>
                  <a:lnTo>
                    <a:pt x="2627721" y="44684"/>
                  </a:lnTo>
                  <a:lnTo>
                    <a:pt x="2612040" y="21431"/>
                  </a:lnTo>
                  <a:lnTo>
                    <a:pt x="2588787" y="5750"/>
                  </a:lnTo>
                  <a:lnTo>
                    <a:pt x="2560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27063" y="3712464"/>
              <a:ext cx="2633980" cy="1115695"/>
            </a:xfrm>
            <a:custGeom>
              <a:avLst/>
              <a:gdLst/>
              <a:ahLst/>
              <a:cxnLst/>
              <a:rect l="l" t="t" r="r" b="b"/>
              <a:pathLst>
                <a:path w="2633979" h="1115695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60319" y="0"/>
                  </a:lnTo>
                  <a:lnTo>
                    <a:pt x="2588787" y="5750"/>
                  </a:lnTo>
                  <a:lnTo>
                    <a:pt x="2612040" y="21431"/>
                  </a:lnTo>
                  <a:lnTo>
                    <a:pt x="2627721" y="44684"/>
                  </a:lnTo>
                  <a:lnTo>
                    <a:pt x="2633471" y="73152"/>
                  </a:lnTo>
                  <a:lnTo>
                    <a:pt x="2633471" y="1042416"/>
                  </a:lnTo>
                  <a:lnTo>
                    <a:pt x="2627721" y="1070889"/>
                  </a:lnTo>
                  <a:lnTo>
                    <a:pt x="2612040" y="1094141"/>
                  </a:lnTo>
                  <a:lnTo>
                    <a:pt x="2588787" y="1109819"/>
                  </a:lnTo>
                  <a:lnTo>
                    <a:pt x="2560319" y="1115568"/>
                  </a:lnTo>
                  <a:lnTo>
                    <a:pt x="73151" y="1115568"/>
                  </a:lnTo>
                  <a:lnTo>
                    <a:pt x="44684" y="1109819"/>
                  </a:lnTo>
                  <a:lnTo>
                    <a:pt x="21431" y="1094141"/>
                  </a:lnTo>
                  <a:lnTo>
                    <a:pt x="5750" y="1070889"/>
                  </a:lnTo>
                  <a:lnTo>
                    <a:pt x="0" y="1042416"/>
                  </a:lnTo>
                  <a:lnTo>
                    <a:pt x="0" y="73152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336791" y="4014216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4">
                  <a:moveTo>
                    <a:pt x="365760" y="0"/>
                  </a:moveTo>
                  <a:lnTo>
                    <a:pt x="54863" y="0"/>
                  </a:lnTo>
                  <a:lnTo>
                    <a:pt x="33486" y="4311"/>
                  </a:lnTo>
                  <a:lnTo>
                    <a:pt x="16049" y="16068"/>
                  </a:lnTo>
                  <a:lnTo>
                    <a:pt x="4304" y="33507"/>
                  </a:lnTo>
                  <a:lnTo>
                    <a:pt x="0" y="54864"/>
                  </a:lnTo>
                  <a:lnTo>
                    <a:pt x="0" y="365760"/>
                  </a:lnTo>
                  <a:lnTo>
                    <a:pt x="4304" y="387116"/>
                  </a:lnTo>
                  <a:lnTo>
                    <a:pt x="16049" y="404555"/>
                  </a:lnTo>
                  <a:lnTo>
                    <a:pt x="33486" y="416312"/>
                  </a:lnTo>
                  <a:lnTo>
                    <a:pt x="54863" y="420624"/>
                  </a:lnTo>
                  <a:lnTo>
                    <a:pt x="365760" y="420624"/>
                  </a:lnTo>
                  <a:lnTo>
                    <a:pt x="387137" y="416312"/>
                  </a:lnTo>
                  <a:lnTo>
                    <a:pt x="404574" y="404555"/>
                  </a:lnTo>
                  <a:lnTo>
                    <a:pt x="416319" y="387116"/>
                  </a:lnTo>
                  <a:lnTo>
                    <a:pt x="420624" y="365760"/>
                  </a:lnTo>
                  <a:lnTo>
                    <a:pt x="420624" y="54864"/>
                  </a:lnTo>
                  <a:lnTo>
                    <a:pt x="416319" y="33507"/>
                  </a:lnTo>
                  <a:lnTo>
                    <a:pt x="404574" y="16068"/>
                  </a:lnTo>
                  <a:lnTo>
                    <a:pt x="387137" y="4311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336791" y="4014216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4" h="421004">
                  <a:moveTo>
                    <a:pt x="0" y="54864"/>
                  </a:moveTo>
                  <a:lnTo>
                    <a:pt x="4304" y="33507"/>
                  </a:lnTo>
                  <a:lnTo>
                    <a:pt x="16049" y="16068"/>
                  </a:lnTo>
                  <a:lnTo>
                    <a:pt x="33486" y="4311"/>
                  </a:lnTo>
                  <a:lnTo>
                    <a:pt x="54863" y="0"/>
                  </a:lnTo>
                  <a:lnTo>
                    <a:pt x="365760" y="0"/>
                  </a:lnTo>
                  <a:lnTo>
                    <a:pt x="387137" y="4311"/>
                  </a:lnTo>
                  <a:lnTo>
                    <a:pt x="404574" y="16068"/>
                  </a:lnTo>
                  <a:lnTo>
                    <a:pt x="416319" y="33507"/>
                  </a:lnTo>
                  <a:lnTo>
                    <a:pt x="420624" y="54864"/>
                  </a:lnTo>
                  <a:lnTo>
                    <a:pt x="420624" y="365760"/>
                  </a:lnTo>
                  <a:lnTo>
                    <a:pt x="416319" y="387116"/>
                  </a:lnTo>
                  <a:lnTo>
                    <a:pt x="404574" y="404555"/>
                  </a:lnTo>
                  <a:lnTo>
                    <a:pt x="387137" y="416312"/>
                  </a:lnTo>
                  <a:lnTo>
                    <a:pt x="365760" y="420624"/>
                  </a:lnTo>
                  <a:lnTo>
                    <a:pt x="54863" y="420624"/>
                  </a:lnTo>
                  <a:lnTo>
                    <a:pt x="33486" y="416312"/>
                  </a:lnTo>
                  <a:lnTo>
                    <a:pt x="16049" y="404555"/>
                  </a:lnTo>
                  <a:lnTo>
                    <a:pt x="4304" y="387116"/>
                  </a:lnTo>
                  <a:lnTo>
                    <a:pt x="0" y="365760"/>
                  </a:lnTo>
                  <a:lnTo>
                    <a:pt x="0" y="54864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6499605" y="4120083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837044" y="3911294"/>
            <a:ext cx="171767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395F"/>
                </a:solidFill>
                <a:latin typeface="Calibri"/>
                <a:cs typeface="Calibri"/>
              </a:rPr>
              <a:t>Limitations</a:t>
            </a:r>
            <a:r>
              <a:rPr sz="1300" b="1" spc="-20" dirty="0">
                <a:solidFill>
                  <a:srgbClr val="1E395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E395F"/>
                </a:solidFill>
                <a:latin typeface="Calibri"/>
                <a:cs typeface="Calibri"/>
              </a:rPr>
              <a:t>&amp;</a:t>
            </a:r>
            <a:r>
              <a:rPr sz="1300" b="1" spc="-35" dirty="0">
                <a:solidFill>
                  <a:srgbClr val="1E395F"/>
                </a:solidFill>
                <a:latin typeface="Calibri"/>
                <a:cs typeface="Calibri"/>
              </a:rPr>
              <a:t> 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837044" y="4376115"/>
            <a:ext cx="162813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Honest</a:t>
            </a:r>
            <a:r>
              <a:rPr sz="1000" spc="-4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assessment</a:t>
            </a:r>
            <a:r>
              <a:rPr sz="1000" spc="-1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66666"/>
                </a:solidFill>
                <a:latin typeface="Calibri"/>
                <a:cs typeface="Calibri"/>
              </a:rPr>
              <a:t>&amp;</a:t>
            </a:r>
            <a:r>
              <a:rPr sz="1000" spc="-4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66666"/>
                </a:solidFill>
                <a:latin typeface="Calibri"/>
                <a:cs typeface="Calibri"/>
              </a:rPr>
              <a:t>roadmap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009" y="194818"/>
            <a:ext cx="2207260" cy="360680"/>
            <a:chOff x="588009" y="194818"/>
            <a:chExt cx="2207260" cy="360680"/>
          </a:xfrm>
        </p:grpSpPr>
        <p:sp>
          <p:nvSpPr>
            <p:cNvPr id="3" name="object 3"/>
            <p:cNvSpPr/>
            <p:nvPr/>
          </p:nvSpPr>
          <p:spPr>
            <a:xfrm>
              <a:off x="594359" y="201168"/>
              <a:ext cx="2194560" cy="347980"/>
            </a:xfrm>
            <a:custGeom>
              <a:avLst/>
              <a:gdLst/>
              <a:ahLst/>
              <a:cxnLst/>
              <a:rect l="l" t="t" r="r" b="b"/>
              <a:pathLst>
                <a:path w="2194560" h="347980">
                  <a:moveTo>
                    <a:pt x="2020824" y="0"/>
                  </a:moveTo>
                  <a:lnTo>
                    <a:pt x="173736" y="0"/>
                  </a:ln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2"/>
                  </a:lnTo>
                  <a:lnTo>
                    <a:pt x="2020824" y="347472"/>
                  </a:lnTo>
                  <a:lnTo>
                    <a:pt x="2067030" y="341270"/>
                  </a:lnTo>
                  <a:lnTo>
                    <a:pt x="2108538" y="323765"/>
                  </a:lnTo>
                  <a:lnTo>
                    <a:pt x="2143696" y="296608"/>
                  </a:lnTo>
                  <a:lnTo>
                    <a:pt x="2170853" y="261450"/>
                  </a:lnTo>
                  <a:lnTo>
                    <a:pt x="2188358" y="219942"/>
                  </a:lnTo>
                  <a:lnTo>
                    <a:pt x="2194560" y="173736"/>
                  </a:lnTo>
                  <a:lnTo>
                    <a:pt x="2188358" y="127529"/>
                  </a:lnTo>
                  <a:lnTo>
                    <a:pt x="2170853" y="86021"/>
                  </a:lnTo>
                  <a:lnTo>
                    <a:pt x="2143696" y="50863"/>
                  </a:lnTo>
                  <a:lnTo>
                    <a:pt x="2108538" y="23706"/>
                  </a:lnTo>
                  <a:lnTo>
                    <a:pt x="2067030" y="6201"/>
                  </a:lnTo>
                  <a:lnTo>
                    <a:pt x="2020824" y="0"/>
                  </a:lnTo>
                  <a:close/>
                </a:path>
              </a:pathLst>
            </a:custGeom>
            <a:solidFill>
              <a:srgbClr val="E8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4359" y="201168"/>
              <a:ext cx="2194560" cy="347980"/>
            </a:xfrm>
            <a:custGeom>
              <a:avLst/>
              <a:gdLst/>
              <a:ahLst/>
              <a:cxnLst/>
              <a:rect l="l" t="t" r="r" b="b"/>
              <a:pathLst>
                <a:path w="2194560" h="347980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020824" y="0"/>
                  </a:lnTo>
                  <a:lnTo>
                    <a:pt x="2067030" y="6201"/>
                  </a:lnTo>
                  <a:lnTo>
                    <a:pt x="2108538" y="23706"/>
                  </a:lnTo>
                  <a:lnTo>
                    <a:pt x="2143696" y="50863"/>
                  </a:lnTo>
                  <a:lnTo>
                    <a:pt x="2170853" y="86021"/>
                  </a:lnTo>
                  <a:lnTo>
                    <a:pt x="2188358" y="127529"/>
                  </a:lnTo>
                  <a:lnTo>
                    <a:pt x="2194560" y="173736"/>
                  </a:lnTo>
                  <a:lnTo>
                    <a:pt x="2188358" y="219942"/>
                  </a:lnTo>
                  <a:lnTo>
                    <a:pt x="2170853" y="261450"/>
                  </a:lnTo>
                  <a:lnTo>
                    <a:pt x="2143696" y="296608"/>
                  </a:lnTo>
                  <a:lnTo>
                    <a:pt x="2108538" y="323765"/>
                  </a:lnTo>
                  <a:lnTo>
                    <a:pt x="2067030" y="341270"/>
                  </a:lnTo>
                  <a:lnTo>
                    <a:pt x="2020824" y="347472"/>
                  </a:lnTo>
                  <a:lnTo>
                    <a:pt x="173736" y="347472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6"/>
                  </a:lnTo>
                  <a:close/>
                </a:path>
              </a:pathLst>
            </a:custGeom>
            <a:ln w="12699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60475" y="268935"/>
            <a:ext cx="86296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1E395F"/>
                </a:solidFill>
                <a:latin typeface="Calibri"/>
                <a:cs typeface="Calibri"/>
              </a:rPr>
              <a:t>THE</a:t>
            </a:r>
            <a:r>
              <a:rPr sz="1100" b="1" spc="-10" dirty="0">
                <a:solidFill>
                  <a:srgbClr val="1E395F"/>
                </a:solidFill>
                <a:latin typeface="Calibri"/>
                <a:cs typeface="Calibri"/>
              </a:rPr>
              <a:t> PROBLEM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1659" y="688593"/>
            <a:ext cx="74733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Language Barriers Create Gaps in Patient Care</a:t>
            </a:r>
            <a:endParaRPr spc="-20" dirty="0"/>
          </a:p>
        </p:txBody>
      </p:sp>
      <p:grpSp>
        <p:nvGrpSpPr>
          <p:cNvPr id="7" name="object 7"/>
          <p:cNvGrpSpPr/>
          <p:nvPr/>
        </p:nvGrpSpPr>
        <p:grpSpPr>
          <a:xfrm>
            <a:off x="588009" y="1292097"/>
            <a:ext cx="7967980" cy="35560"/>
            <a:chOff x="588009" y="1292097"/>
            <a:chExt cx="7967980" cy="35560"/>
          </a:xfrm>
        </p:grpSpPr>
        <p:sp>
          <p:nvSpPr>
            <p:cNvPr id="8" name="object 8"/>
            <p:cNvSpPr/>
            <p:nvPr/>
          </p:nvSpPr>
          <p:spPr>
            <a:xfrm>
              <a:off x="594359" y="1298447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79552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7955280" y="22860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C7D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59" y="1298447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0" y="22860"/>
                  </a:moveTo>
                  <a:lnTo>
                    <a:pt x="7955280" y="22860"/>
                  </a:lnTo>
                  <a:lnTo>
                    <a:pt x="795528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29475" y="1566520"/>
            <a:ext cx="2286000" cy="2990352"/>
            <a:chOff x="1789048" y="1400537"/>
            <a:chExt cx="2716785" cy="3400818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9048" y="1400537"/>
              <a:ext cx="2716785" cy="340081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82200" y="1452514"/>
              <a:ext cx="2560320" cy="3246119"/>
            </a:xfrm>
            <a:custGeom>
              <a:avLst/>
              <a:gdLst/>
              <a:ahLst/>
              <a:cxnLst/>
              <a:rect l="l" t="t" r="r" b="b"/>
              <a:pathLst>
                <a:path w="2560320" h="3246120">
                  <a:moveTo>
                    <a:pt x="248704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172853"/>
                  </a:lnTo>
                  <a:lnTo>
                    <a:pt x="5750" y="3201326"/>
                  </a:lnTo>
                  <a:lnTo>
                    <a:pt x="21431" y="3224579"/>
                  </a:lnTo>
                  <a:lnTo>
                    <a:pt x="44684" y="3240256"/>
                  </a:lnTo>
                  <a:lnTo>
                    <a:pt x="73151" y="3246005"/>
                  </a:lnTo>
                  <a:lnTo>
                    <a:pt x="2487041" y="3246005"/>
                  </a:lnTo>
                  <a:lnTo>
                    <a:pt x="2515508" y="3240256"/>
                  </a:lnTo>
                  <a:lnTo>
                    <a:pt x="2538761" y="3224579"/>
                  </a:lnTo>
                  <a:lnTo>
                    <a:pt x="2554442" y="3201326"/>
                  </a:lnTo>
                  <a:lnTo>
                    <a:pt x="2560193" y="3172853"/>
                  </a:lnTo>
                  <a:lnTo>
                    <a:pt x="2560193" y="73151"/>
                  </a:lnTo>
                  <a:lnTo>
                    <a:pt x="2554442" y="44684"/>
                  </a:lnTo>
                  <a:lnTo>
                    <a:pt x="2538761" y="21431"/>
                  </a:lnTo>
                  <a:lnTo>
                    <a:pt x="2515508" y="5750"/>
                  </a:lnTo>
                  <a:lnTo>
                    <a:pt x="24870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852929" y="1463040"/>
              <a:ext cx="2560320" cy="3246120"/>
            </a:xfrm>
            <a:custGeom>
              <a:avLst/>
              <a:gdLst/>
              <a:ahLst/>
              <a:cxnLst/>
              <a:rect l="l" t="t" r="r" b="b"/>
              <a:pathLst>
                <a:path w="2560320" h="324612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487041" y="0"/>
                  </a:lnTo>
                  <a:lnTo>
                    <a:pt x="2515508" y="5750"/>
                  </a:lnTo>
                  <a:lnTo>
                    <a:pt x="2538761" y="21431"/>
                  </a:lnTo>
                  <a:lnTo>
                    <a:pt x="2554442" y="44684"/>
                  </a:lnTo>
                  <a:lnTo>
                    <a:pt x="2560193" y="73151"/>
                  </a:lnTo>
                  <a:lnTo>
                    <a:pt x="2560193" y="3172853"/>
                  </a:lnTo>
                  <a:lnTo>
                    <a:pt x="2554442" y="3201326"/>
                  </a:lnTo>
                  <a:lnTo>
                    <a:pt x="2538761" y="3224579"/>
                  </a:lnTo>
                  <a:lnTo>
                    <a:pt x="2515508" y="3240256"/>
                  </a:lnTo>
                  <a:lnTo>
                    <a:pt x="2487041" y="3246005"/>
                  </a:lnTo>
                  <a:lnTo>
                    <a:pt x="73151" y="3246005"/>
                  </a:lnTo>
                  <a:lnTo>
                    <a:pt x="44684" y="3240256"/>
                  </a:lnTo>
                  <a:lnTo>
                    <a:pt x="21431" y="3224579"/>
                  </a:lnTo>
                  <a:lnTo>
                    <a:pt x="5750" y="3201326"/>
                  </a:lnTo>
                  <a:lnTo>
                    <a:pt x="0" y="3172853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85617" y="1627632"/>
              <a:ext cx="713105" cy="713105"/>
            </a:xfrm>
            <a:custGeom>
              <a:avLst/>
              <a:gdLst/>
              <a:ahLst/>
              <a:cxnLst/>
              <a:rect l="l" t="t" r="r" b="b"/>
              <a:pathLst>
                <a:path w="713104" h="713105">
                  <a:moveTo>
                    <a:pt x="0" y="356488"/>
                  </a:moveTo>
                  <a:lnTo>
                    <a:pt x="3254" y="308122"/>
                  </a:lnTo>
                  <a:lnTo>
                    <a:pt x="12736" y="261731"/>
                  </a:lnTo>
                  <a:lnTo>
                    <a:pt x="28019" y="217741"/>
                  </a:lnTo>
                  <a:lnTo>
                    <a:pt x="48678" y="176577"/>
                  </a:lnTo>
                  <a:lnTo>
                    <a:pt x="74289" y="138663"/>
                  </a:lnTo>
                  <a:lnTo>
                    <a:pt x="104425" y="104425"/>
                  </a:lnTo>
                  <a:lnTo>
                    <a:pt x="138663" y="74289"/>
                  </a:lnTo>
                  <a:lnTo>
                    <a:pt x="176577" y="48678"/>
                  </a:lnTo>
                  <a:lnTo>
                    <a:pt x="217741" y="28019"/>
                  </a:lnTo>
                  <a:lnTo>
                    <a:pt x="261731" y="12736"/>
                  </a:lnTo>
                  <a:lnTo>
                    <a:pt x="308122" y="3254"/>
                  </a:lnTo>
                  <a:lnTo>
                    <a:pt x="356488" y="0"/>
                  </a:lnTo>
                  <a:lnTo>
                    <a:pt x="404884" y="3254"/>
                  </a:lnTo>
                  <a:lnTo>
                    <a:pt x="451299" y="12736"/>
                  </a:lnTo>
                  <a:lnTo>
                    <a:pt x="495309" y="28019"/>
                  </a:lnTo>
                  <a:lnTo>
                    <a:pt x="536490" y="48678"/>
                  </a:lnTo>
                  <a:lnTo>
                    <a:pt x="574416" y="74289"/>
                  </a:lnTo>
                  <a:lnTo>
                    <a:pt x="608663" y="104425"/>
                  </a:lnTo>
                  <a:lnTo>
                    <a:pt x="638806" y="138663"/>
                  </a:lnTo>
                  <a:lnTo>
                    <a:pt x="664421" y="176577"/>
                  </a:lnTo>
                  <a:lnTo>
                    <a:pt x="685083" y="217741"/>
                  </a:lnTo>
                  <a:lnTo>
                    <a:pt x="700367" y="261731"/>
                  </a:lnTo>
                  <a:lnTo>
                    <a:pt x="709849" y="308122"/>
                  </a:lnTo>
                  <a:lnTo>
                    <a:pt x="713105" y="356488"/>
                  </a:lnTo>
                  <a:lnTo>
                    <a:pt x="709849" y="404884"/>
                  </a:lnTo>
                  <a:lnTo>
                    <a:pt x="700367" y="451299"/>
                  </a:lnTo>
                  <a:lnTo>
                    <a:pt x="685083" y="495309"/>
                  </a:lnTo>
                  <a:lnTo>
                    <a:pt x="664421" y="536490"/>
                  </a:lnTo>
                  <a:lnTo>
                    <a:pt x="638806" y="574416"/>
                  </a:lnTo>
                  <a:lnTo>
                    <a:pt x="608663" y="608663"/>
                  </a:lnTo>
                  <a:lnTo>
                    <a:pt x="574416" y="638806"/>
                  </a:lnTo>
                  <a:lnTo>
                    <a:pt x="536490" y="664421"/>
                  </a:lnTo>
                  <a:lnTo>
                    <a:pt x="495309" y="685083"/>
                  </a:lnTo>
                  <a:lnTo>
                    <a:pt x="451299" y="700367"/>
                  </a:lnTo>
                  <a:lnTo>
                    <a:pt x="404884" y="709849"/>
                  </a:lnTo>
                  <a:lnTo>
                    <a:pt x="356488" y="713104"/>
                  </a:lnTo>
                  <a:lnTo>
                    <a:pt x="308122" y="709849"/>
                  </a:lnTo>
                  <a:lnTo>
                    <a:pt x="261731" y="700367"/>
                  </a:lnTo>
                  <a:lnTo>
                    <a:pt x="217741" y="685083"/>
                  </a:lnTo>
                  <a:lnTo>
                    <a:pt x="176577" y="664421"/>
                  </a:lnTo>
                  <a:lnTo>
                    <a:pt x="138663" y="638806"/>
                  </a:lnTo>
                  <a:lnTo>
                    <a:pt x="104425" y="608663"/>
                  </a:lnTo>
                  <a:lnTo>
                    <a:pt x="74289" y="574416"/>
                  </a:lnTo>
                  <a:lnTo>
                    <a:pt x="48678" y="536490"/>
                  </a:lnTo>
                  <a:lnTo>
                    <a:pt x="28019" y="495309"/>
                  </a:lnTo>
                  <a:lnTo>
                    <a:pt x="12736" y="451299"/>
                  </a:lnTo>
                  <a:lnTo>
                    <a:pt x="3254" y="404884"/>
                  </a:lnTo>
                  <a:lnTo>
                    <a:pt x="0" y="356488"/>
                  </a:lnTo>
                  <a:close/>
                </a:path>
              </a:pathLst>
            </a:custGeom>
            <a:ln w="12700">
              <a:solidFill>
                <a:srgbClr val="DF7A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43001" y="2680358"/>
            <a:ext cx="12954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395F"/>
                </a:solidFill>
                <a:latin typeface="Calibri"/>
                <a:cs typeface="Calibri"/>
              </a:rPr>
              <a:t>L</a:t>
            </a:r>
            <a:r>
              <a:rPr lang="en-US" sz="1600" b="1" dirty="0">
                <a:solidFill>
                  <a:srgbClr val="1E395F"/>
                </a:solidFill>
                <a:latin typeface="Calibri"/>
                <a:cs typeface="Calibri"/>
              </a:rPr>
              <a:t>anguage Barrier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1953" y="3387421"/>
            <a:ext cx="2079847" cy="1012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en-US" sz="1300" dirty="0">
                <a:solidFill>
                  <a:srgbClr val="666666"/>
                </a:solidFill>
                <a:latin typeface="Calibri"/>
                <a:cs typeface="Calibri"/>
              </a:rPr>
              <a:t>Patients may struggle to communicate symptoms accurately when they do not speak the healthcare provider’s preferred language.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92549" y="1681764"/>
            <a:ext cx="2285800" cy="2892794"/>
            <a:chOff x="4850884" y="1400537"/>
            <a:chExt cx="2715021" cy="3400818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0884" y="1400537"/>
              <a:ext cx="2715021" cy="340081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13757" y="1463040"/>
              <a:ext cx="2560320" cy="3246120"/>
            </a:xfrm>
            <a:custGeom>
              <a:avLst/>
              <a:gdLst/>
              <a:ahLst/>
              <a:cxnLst/>
              <a:rect l="l" t="t" r="r" b="b"/>
              <a:pathLst>
                <a:path w="2560320" h="3246120">
                  <a:moveTo>
                    <a:pt x="2487041" y="0"/>
                  </a:moveTo>
                  <a:lnTo>
                    <a:pt x="73025" y="0"/>
                  </a:lnTo>
                  <a:lnTo>
                    <a:pt x="44576" y="5732"/>
                  </a:lnTo>
                  <a:lnTo>
                    <a:pt x="21367" y="21383"/>
                  </a:lnTo>
                  <a:lnTo>
                    <a:pt x="5730" y="44630"/>
                  </a:lnTo>
                  <a:lnTo>
                    <a:pt x="0" y="73151"/>
                  </a:lnTo>
                  <a:lnTo>
                    <a:pt x="0" y="3172802"/>
                  </a:lnTo>
                  <a:lnTo>
                    <a:pt x="5730" y="3201276"/>
                  </a:lnTo>
                  <a:lnTo>
                    <a:pt x="21367" y="3224528"/>
                  </a:lnTo>
                  <a:lnTo>
                    <a:pt x="44576" y="3240205"/>
                  </a:lnTo>
                  <a:lnTo>
                    <a:pt x="73025" y="3245954"/>
                  </a:lnTo>
                  <a:lnTo>
                    <a:pt x="2487041" y="3245954"/>
                  </a:lnTo>
                  <a:lnTo>
                    <a:pt x="2515508" y="3240205"/>
                  </a:lnTo>
                  <a:lnTo>
                    <a:pt x="2538761" y="3224528"/>
                  </a:lnTo>
                  <a:lnTo>
                    <a:pt x="2554442" y="3201276"/>
                  </a:lnTo>
                  <a:lnTo>
                    <a:pt x="2560192" y="3172802"/>
                  </a:lnTo>
                  <a:lnTo>
                    <a:pt x="2560192" y="73151"/>
                  </a:lnTo>
                  <a:lnTo>
                    <a:pt x="2554442" y="44630"/>
                  </a:lnTo>
                  <a:lnTo>
                    <a:pt x="2538761" y="21383"/>
                  </a:lnTo>
                  <a:lnTo>
                    <a:pt x="2515508" y="5732"/>
                  </a:lnTo>
                  <a:lnTo>
                    <a:pt x="24870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13757" y="1463040"/>
              <a:ext cx="2560320" cy="3246120"/>
            </a:xfrm>
            <a:custGeom>
              <a:avLst/>
              <a:gdLst/>
              <a:ahLst/>
              <a:cxnLst/>
              <a:rect l="l" t="t" r="r" b="b"/>
              <a:pathLst>
                <a:path w="2560320" h="3246120">
                  <a:moveTo>
                    <a:pt x="0" y="73151"/>
                  </a:moveTo>
                  <a:lnTo>
                    <a:pt x="5730" y="44630"/>
                  </a:lnTo>
                  <a:lnTo>
                    <a:pt x="21367" y="21383"/>
                  </a:lnTo>
                  <a:lnTo>
                    <a:pt x="44576" y="5732"/>
                  </a:lnTo>
                  <a:lnTo>
                    <a:pt x="73025" y="0"/>
                  </a:lnTo>
                  <a:lnTo>
                    <a:pt x="2487041" y="0"/>
                  </a:lnTo>
                  <a:lnTo>
                    <a:pt x="2515508" y="5732"/>
                  </a:lnTo>
                  <a:lnTo>
                    <a:pt x="2538761" y="21383"/>
                  </a:lnTo>
                  <a:lnTo>
                    <a:pt x="2554442" y="44630"/>
                  </a:lnTo>
                  <a:lnTo>
                    <a:pt x="2560192" y="73151"/>
                  </a:lnTo>
                  <a:lnTo>
                    <a:pt x="2560192" y="3172802"/>
                  </a:lnTo>
                  <a:lnTo>
                    <a:pt x="2554442" y="3201276"/>
                  </a:lnTo>
                  <a:lnTo>
                    <a:pt x="2538761" y="3224528"/>
                  </a:lnTo>
                  <a:lnTo>
                    <a:pt x="2515508" y="3240205"/>
                  </a:lnTo>
                  <a:lnTo>
                    <a:pt x="2487041" y="3245954"/>
                  </a:lnTo>
                  <a:lnTo>
                    <a:pt x="73025" y="3245954"/>
                  </a:lnTo>
                  <a:lnTo>
                    <a:pt x="44576" y="3240205"/>
                  </a:lnTo>
                  <a:lnTo>
                    <a:pt x="21367" y="3224528"/>
                  </a:lnTo>
                  <a:lnTo>
                    <a:pt x="5730" y="3201276"/>
                  </a:lnTo>
                  <a:lnTo>
                    <a:pt x="0" y="3172802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46445" y="1627632"/>
              <a:ext cx="713105" cy="713105"/>
            </a:xfrm>
            <a:custGeom>
              <a:avLst/>
              <a:gdLst/>
              <a:ahLst/>
              <a:cxnLst/>
              <a:rect l="l" t="t" r="r" b="b"/>
              <a:pathLst>
                <a:path w="713104" h="713105">
                  <a:moveTo>
                    <a:pt x="0" y="356488"/>
                  </a:moveTo>
                  <a:lnTo>
                    <a:pt x="3254" y="308122"/>
                  </a:lnTo>
                  <a:lnTo>
                    <a:pt x="12736" y="261731"/>
                  </a:lnTo>
                  <a:lnTo>
                    <a:pt x="28019" y="217741"/>
                  </a:lnTo>
                  <a:lnTo>
                    <a:pt x="48678" y="176577"/>
                  </a:lnTo>
                  <a:lnTo>
                    <a:pt x="74289" y="138663"/>
                  </a:lnTo>
                  <a:lnTo>
                    <a:pt x="104425" y="104425"/>
                  </a:lnTo>
                  <a:lnTo>
                    <a:pt x="138663" y="74289"/>
                  </a:lnTo>
                  <a:lnTo>
                    <a:pt x="176577" y="48678"/>
                  </a:lnTo>
                  <a:lnTo>
                    <a:pt x="217741" y="28019"/>
                  </a:lnTo>
                  <a:lnTo>
                    <a:pt x="261731" y="12736"/>
                  </a:lnTo>
                  <a:lnTo>
                    <a:pt x="308122" y="3254"/>
                  </a:lnTo>
                  <a:lnTo>
                    <a:pt x="356488" y="0"/>
                  </a:lnTo>
                  <a:lnTo>
                    <a:pt x="404884" y="3254"/>
                  </a:lnTo>
                  <a:lnTo>
                    <a:pt x="451299" y="12736"/>
                  </a:lnTo>
                  <a:lnTo>
                    <a:pt x="495309" y="28019"/>
                  </a:lnTo>
                  <a:lnTo>
                    <a:pt x="536490" y="48678"/>
                  </a:lnTo>
                  <a:lnTo>
                    <a:pt x="574416" y="74289"/>
                  </a:lnTo>
                  <a:lnTo>
                    <a:pt x="608663" y="104425"/>
                  </a:lnTo>
                  <a:lnTo>
                    <a:pt x="638806" y="138663"/>
                  </a:lnTo>
                  <a:lnTo>
                    <a:pt x="664421" y="176577"/>
                  </a:lnTo>
                  <a:lnTo>
                    <a:pt x="685083" y="217741"/>
                  </a:lnTo>
                  <a:lnTo>
                    <a:pt x="700367" y="261731"/>
                  </a:lnTo>
                  <a:lnTo>
                    <a:pt x="709849" y="308122"/>
                  </a:lnTo>
                  <a:lnTo>
                    <a:pt x="713104" y="356488"/>
                  </a:lnTo>
                  <a:lnTo>
                    <a:pt x="709849" y="404884"/>
                  </a:lnTo>
                  <a:lnTo>
                    <a:pt x="700367" y="451299"/>
                  </a:lnTo>
                  <a:lnTo>
                    <a:pt x="685083" y="495309"/>
                  </a:lnTo>
                  <a:lnTo>
                    <a:pt x="664421" y="536490"/>
                  </a:lnTo>
                  <a:lnTo>
                    <a:pt x="638806" y="574416"/>
                  </a:lnTo>
                  <a:lnTo>
                    <a:pt x="608663" y="608663"/>
                  </a:lnTo>
                  <a:lnTo>
                    <a:pt x="574416" y="638806"/>
                  </a:lnTo>
                  <a:lnTo>
                    <a:pt x="536490" y="664421"/>
                  </a:lnTo>
                  <a:lnTo>
                    <a:pt x="495309" y="685083"/>
                  </a:lnTo>
                  <a:lnTo>
                    <a:pt x="451299" y="700367"/>
                  </a:lnTo>
                  <a:lnTo>
                    <a:pt x="404884" y="709849"/>
                  </a:lnTo>
                  <a:lnTo>
                    <a:pt x="356488" y="713104"/>
                  </a:lnTo>
                  <a:lnTo>
                    <a:pt x="308122" y="709849"/>
                  </a:lnTo>
                  <a:lnTo>
                    <a:pt x="261731" y="700367"/>
                  </a:lnTo>
                  <a:lnTo>
                    <a:pt x="217741" y="685083"/>
                  </a:lnTo>
                  <a:lnTo>
                    <a:pt x="176577" y="664421"/>
                  </a:lnTo>
                  <a:lnTo>
                    <a:pt x="138663" y="638806"/>
                  </a:lnTo>
                  <a:lnTo>
                    <a:pt x="104425" y="608663"/>
                  </a:lnTo>
                  <a:lnTo>
                    <a:pt x="74289" y="574416"/>
                  </a:lnTo>
                  <a:lnTo>
                    <a:pt x="48678" y="536490"/>
                  </a:lnTo>
                  <a:lnTo>
                    <a:pt x="28019" y="495309"/>
                  </a:lnTo>
                  <a:lnTo>
                    <a:pt x="12736" y="451299"/>
                  </a:lnTo>
                  <a:lnTo>
                    <a:pt x="3254" y="404884"/>
                  </a:lnTo>
                  <a:lnTo>
                    <a:pt x="0" y="356488"/>
                  </a:lnTo>
                  <a:close/>
                </a:path>
              </a:pathLst>
            </a:custGeom>
            <a:ln w="12700">
              <a:solidFill>
                <a:srgbClr val="7A5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191001" y="2557497"/>
            <a:ext cx="15240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b="1" dirty="0">
                <a:solidFill>
                  <a:srgbClr val="1E395F"/>
                </a:solidFill>
                <a:latin typeface="Calibri"/>
                <a:cs typeface="Calibri"/>
              </a:rPr>
              <a:t>Documentation Burden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62401" y="3304081"/>
            <a:ext cx="1905000" cy="8124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 marR="5080" indent="-68580">
              <a:lnSpc>
                <a:spcPct val="100000"/>
              </a:lnSpc>
              <a:spcBef>
                <a:spcPts val="95"/>
              </a:spcBef>
            </a:pPr>
            <a:r>
              <a:rPr lang="en-US" sz="1300" spc="-10" dirty="0">
                <a:solidFill>
                  <a:srgbClr val="666666"/>
                </a:solidFill>
                <a:latin typeface="Calibri"/>
                <a:cs typeface="Calibri"/>
              </a:rPr>
              <a:t>Doctors spend additional time interpreting patient’s speech and manually documenting information.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28" name="object 19">
            <a:extLst>
              <a:ext uri="{FF2B5EF4-FFF2-40B4-BE49-F238E27FC236}">
                <a16:creationId xmlns:a16="http://schemas.microsoft.com/office/drawing/2014/main" id="{30FC71ED-7DF7-5274-6B54-581E42120765}"/>
              </a:ext>
            </a:extLst>
          </p:cNvPr>
          <p:cNvGrpSpPr/>
          <p:nvPr/>
        </p:nvGrpSpPr>
        <p:grpSpPr>
          <a:xfrm>
            <a:off x="6426434" y="1719624"/>
            <a:ext cx="2123018" cy="2833124"/>
            <a:chOff x="4850884" y="1400537"/>
            <a:chExt cx="2715021" cy="3400818"/>
          </a:xfrm>
        </p:grpSpPr>
        <p:pic>
          <p:nvPicPr>
            <p:cNvPr id="29" name="object 20">
              <a:extLst>
                <a:ext uri="{FF2B5EF4-FFF2-40B4-BE49-F238E27FC236}">
                  <a16:creationId xmlns:a16="http://schemas.microsoft.com/office/drawing/2014/main" id="{6B44161B-286D-A71F-8621-C10890B66A9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0884" y="1400537"/>
              <a:ext cx="2715021" cy="3400818"/>
            </a:xfrm>
            <a:prstGeom prst="rect">
              <a:avLst/>
            </a:prstGeom>
          </p:spPr>
        </p:pic>
        <p:sp>
          <p:nvSpPr>
            <p:cNvPr id="30" name="object 21">
              <a:extLst>
                <a:ext uri="{FF2B5EF4-FFF2-40B4-BE49-F238E27FC236}">
                  <a16:creationId xmlns:a16="http://schemas.microsoft.com/office/drawing/2014/main" id="{48579432-0B81-AC11-C3D0-FE5B788051A7}"/>
                </a:ext>
              </a:extLst>
            </p:cNvPr>
            <p:cNvSpPr/>
            <p:nvPr/>
          </p:nvSpPr>
          <p:spPr>
            <a:xfrm>
              <a:off x="4913757" y="1463040"/>
              <a:ext cx="2560320" cy="3246120"/>
            </a:xfrm>
            <a:custGeom>
              <a:avLst/>
              <a:gdLst/>
              <a:ahLst/>
              <a:cxnLst/>
              <a:rect l="l" t="t" r="r" b="b"/>
              <a:pathLst>
                <a:path w="2560320" h="3246120">
                  <a:moveTo>
                    <a:pt x="2487041" y="0"/>
                  </a:moveTo>
                  <a:lnTo>
                    <a:pt x="73025" y="0"/>
                  </a:lnTo>
                  <a:lnTo>
                    <a:pt x="44576" y="5732"/>
                  </a:lnTo>
                  <a:lnTo>
                    <a:pt x="21367" y="21383"/>
                  </a:lnTo>
                  <a:lnTo>
                    <a:pt x="5730" y="44630"/>
                  </a:lnTo>
                  <a:lnTo>
                    <a:pt x="0" y="73151"/>
                  </a:lnTo>
                  <a:lnTo>
                    <a:pt x="0" y="3172802"/>
                  </a:lnTo>
                  <a:lnTo>
                    <a:pt x="5730" y="3201276"/>
                  </a:lnTo>
                  <a:lnTo>
                    <a:pt x="21367" y="3224528"/>
                  </a:lnTo>
                  <a:lnTo>
                    <a:pt x="44576" y="3240205"/>
                  </a:lnTo>
                  <a:lnTo>
                    <a:pt x="73025" y="3245954"/>
                  </a:lnTo>
                  <a:lnTo>
                    <a:pt x="2487041" y="3245954"/>
                  </a:lnTo>
                  <a:lnTo>
                    <a:pt x="2515508" y="3240205"/>
                  </a:lnTo>
                  <a:lnTo>
                    <a:pt x="2538761" y="3224528"/>
                  </a:lnTo>
                  <a:lnTo>
                    <a:pt x="2554442" y="3201276"/>
                  </a:lnTo>
                  <a:lnTo>
                    <a:pt x="2560192" y="3172802"/>
                  </a:lnTo>
                  <a:lnTo>
                    <a:pt x="2560192" y="73151"/>
                  </a:lnTo>
                  <a:lnTo>
                    <a:pt x="2554442" y="44630"/>
                  </a:lnTo>
                  <a:lnTo>
                    <a:pt x="2538761" y="21383"/>
                  </a:lnTo>
                  <a:lnTo>
                    <a:pt x="2515508" y="5732"/>
                  </a:lnTo>
                  <a:lnTo>
                    <a:pt x="24870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22">
              <a:extLst>
                <a:ext uri="{FF2B5EF4-FFF2-40B4-BE49-F238E27FC236}">
                  <a16:creationId xmlns:a16="http://schemas.microsoft.com/office/drawing/2014/main" id="{D09759E3-1B73-6603-264A-10CEB198F32F}"/>
                </a:ext>
              </a:extLst>
            </p:cNvPr>
            <p:cNvSpPr/>
            <p:nvPr/>
          </p:nvSpPr>
          <p:spPr>
            <a:xfrm>
              <a:off x="4913757" y="1463040"/>
              <a:ext cx="2560320" cy="3246120"/>
            </a:xfrm>
            <a:custGeom>
              <a:avLst/>
              <a:gdLst/>
              <a:ahLst/>
              <a:cxnLst/>
              <a:rect l="l" t="t" r="r" b="b"/>
              <a:pathLst>
                <a:path w="2560320" h="3246120">
                  <a:moveTo>
                    <a:pt x="0" y="73151"/>
                  </a:moveTo>
                  <a:lnTo>
                    <a:pt x="5730" y="44630"/>
                  </a:lnTo>
                  <a:lnTo>
                    <a:pt x="21367" y="21383"/>
                  </a:lnTo>
                  <a:lnTo>
                    <a:pt x="44576" y="5732"/>
                  </a:lnTo>
                  <a:lnTo>
                    <a:pt x="73025" y="0"/>
                  </a:lnTo>
                  <a:lnTo>
                    <a:pt x="2487041" y="0"/>
                  </a:lnTo>
                  <a:lnTo>
                    <a:pt x="2515508" y="5732"/>
                  </a:lnTo>
                  <a:lnTo>
                    <a:pt x="2538761" y="21383"/>
                  </a:lnTo>
                  <a:lnTo>
                    <a:pt x="2554442" y="44630"/>
                  </a:lnTo>
                  <a:lnTo>
                    <a:pt x="2560192" y="73151"/>
                  </a:lnTo>
                  <a:lnTo>
                    <a:pt x="2560192" y="3172802"/>
                  </a:lnTo>
                  <a:lnTo>
                    <a:pt x="2554442" y="3201276"/>
                  </a:lnTo>
                  <a:lnTo>
                    <a:pt x="2538761" y="3224528"/>
                  </a:lnTo>
                  <a:lnTo>
                    <a:pt x="2515508" y="3240205"/>
                  </a:lnTo>
                  <a:lnTo>
                    <a:pt x="2487041" y="3245954"/>
                  </a:lnTo>
                  <a:lnTo>
                    <a:pt x="73025" y="3245954"/>
                  </a:lnTo>
                  <a:lnTo>
                    <a:pt x="44576" y="3240205"/>
                  </a:lnTo>
                  <a:lnTo>
                    <a:pt x="21367" y="3224528"/>
                  </a:lnTo>
                  <a:lnTo>
                    <a:pt x="5730" y="3201276"/>
                  </a:lnTo>
                  <a:lnTo>
                    <a:pt x="0" y="3172802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4">
              <a:extLst>
                <a:ext uri="{FF2B5EF4-FFF2-40B4-BE49-F238E27FC236}">
                  <a16:creationId xmlns:a16="http://schemas.microsoft.com/office/drawing/2014/main" id="{D0E1C79C-F30A-9620-4A39-BF46148CB345}"/>
                </a:ext>
              </a:extLst>
            </p:cNvPr>
            <p:cNvSpPr/>
            <p:nvPr/>
          </p:nvSpPr>
          <p:spPr>
            <a:xfrm>
              <a:off x="5846445" y="1627632"/>
              <a:ext cx="713105" cy="713105"/>
            </a:xfrm>
            <a:custGeom>
              <a:avLst/>
              <a:gdLst/>
              <a:ahLst/>
              <a:cxnLst/>
              <a:rect l="l" t="t" r="r" b="b"/>
              <a:pathLst>
                <a:path w="713104" h="713105">
                  <a:moveTo>
                    <a:pt x="0" y="356488"/>
                  </a:moveTo>
                  <a:lnTo>
                    <a:pt x="3254" y="308122"/>
                  </a:lnTo>
                  <a:lnTo>
                    <a:pt x="12736" y="261731"/>
                  </a:lnTo>
                  <a:lnTo>
                    <a:pt x="28019" y="217741"/>
                  </a:lnTo>
                  <a:lnTo>
                    <a:pt x="48678" y="176577"/>
                  </a:lnTo>
                  <a:lnTo>
                    <a:pt x="74289" y="138663"/>
                  </a:lnTo>
                  <a:lnTo>
                    <a:pt x="104425" y="104425"/>
                  </a:lnTo>
                  <a:lnTo>
                    <a:pt x="138663" y="74289"/>
                  </a:lnTo>
                  <a:lnTo>
                    <a:pt x="176577" y="48678"/>
                  </a:lnTo>
                  <a:lnTo>
                    <a:pt x="217741" y="28019"/>
                  </a:lnTo>
                  <a:lnTo>
                    <a:pt x="261731" y="12736"/>
                  </a:lnTo>
                  <a:lnTo>
                    <a:pt x="308122" y="3254"/>
                  </a:lnTo>
                  <a:lnTo>
                    <a:pt x="356488" y="0"/>
                  </a:lnTo>
                  <a:lnTo>
                    <a:pt x="404884" y="3254"/>
                  </a:lnTo>
                  <a:lnTo>
                    <a:pt x="451299" y="12736"/>
                  </a:lnTo>
                  <a:lnTo>
                    <a:pt x="495309" y="28019"/>
                  </a:lnTo>
                  <a:lnTo>
                    <a:pt x="536490" y="48678"/>
                  </a:lnTo>
                  <a:lnTo>
                    <a:pt x="574416" y="74289"/>
                  </a:lnTo>
                  <a:lnTo>
                    <a:pt x="608663" y="104425"/>
                  </a:lnTo>
                  <a:lnTo>
                    <a:pt x="638806" y="138663"/>
                  </a:lnTo>
                  <a:lnTo>
                    <a:pt x="664421" y="176577"/>
                  </a:lnTo>
                  <a:lnTo>
                    <a:pt x="685083" y="217741"/>
                  </a:lnTo>
                  <a:lnTo>
                    <a:pt x="700367" y="261731"/>
                  </a:lnTo>
                  <a:lnTo>
                    <a:pt x="709849" y="308122"/>
                  </a:lnTo>
                  <a:lnTo>
                    <a:pt x="713104" y="356488"/>
                  </a:lnTo>
                  <a:lnTo>
                    <a:pt x="709849" y="404884"/>
                  </a:lnTo>
                  <a:lnTo>
                    <a:pt x="700367" y="451299"/>
                  </a:lnTo>
                  <a:lnTo>
                    <a:pt x="685083" y="495309"/>
                  </a:lnTo>
                  <a:lnTo>
                    <a:pt x="664421" y="536490"/>
                  </a:lnTo>
                  <a:lnTo>
                    <a:pt x="638806" y="574416"/>
                  </a:lnTo>
                  <a:lnTo>
                    <a:pt x="608663" y="608663"/>
                  </a:lnTo>
                  <a:lnTo>
                    <a:pt x="574416" y="638806"/>
                  </a:lnTo>
                  <a:lnTo>
                    <a:pt x="536490" y="664421"/>
                  </a:lnTo>
                  <a:lnTo>
                    <a:pt x="495309" y="685083"/>
                  </a:lnTo>
                  <a:lnTo>
                    <a:pt x="451299" y="700367"/>
                  </a:lnTo>
                  <a:lnTo>
                    <a:pt x="404884" y="709849"/>
                  </a:lnTo>
                  <a:lnTo>
                    <a:pt x="356488" y="713104"/>
                  </a:lnTo>
                  <a:lnTo>
                    <a:pt x="308122" y="709849"/>
                  </a:lnTo>
                  <a:lnTo>
                    <a:pt x="261731" y="700367"/>
                  </a:lnTo>
                  <a:lnTo>
                    <a:pt x="217741" y="685083"/>
                  </a:lnTo>
                  <a:lnTo>
                    <a:pt x="176577" y="664421"/>
                  </a:lnTo>
                  <a:lnTo>
                    <a:pt x="138663" y="638806"/>
                  </a:lnTo>
                  <a:lnTo>
                    <a:pt x="104425" y="608663"/>
                  </a:lnTo>
                  <a:lnTo>
                    <a:pt x="74289" y="574416"/>
                  </a:lnTo>
                  <a:lnTo>
                    <a:pt x="48678" y="536490"/>
                  </a:lnTo>
                  <a:lnTo>
                    <a:pt x="28019" y="495309"/>
                  </a:lnTo>
                  <a:lnTo>
                    <a:pt x="12736" y="451299"/>
                  </a:lnTo>
                  <a:lnTo>
                    <a:pt x="3254" y="404884"/>
                  </a:lnTo>
                  <a:lnTo>
                    <a:pt x="0" y="356488"/>
                  </a:lnTo>
                  <a:close/>
                </a:path>
              </a:pathLst>
            </a:custGeom>
            <a:ln w="12700">
              <a:solidFill>
                <a:srgbClr val="7A5E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35931320-CCDF-0415-012A-D15DC00F0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473" y="1766205"/>
            <a:ext cx="629133" cy="62703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106A6B9-1476-CAC7-9670-204D7D6C9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9711" y="1849078"/>
            <a:ext cx="670379" cy="65913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4E1C165-8A06-FC78-2340-FF61C1CD25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6694" y="1883047"/>
            <a:ext cx="659278" cy="64559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1026FF7-DAA2-DE40-ED1B-061287D0ABB7}"/>
              </a:ext>
            </a:extLst>
          </p:cNvPr>
          <p:cNvSpPr txBox="1"/>
          <p:nvPr/>
        </p:nvSpPr>
        <p:spPr>
          <a:xfrm>
            <a:off x="6477875" y="253484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b="1" dirty="0">
                <a:solidFill>
                  <a:srgbClr val="1E395F"/>
                </a:solidFill>
                <a:latin typeface="Calibri"/>
                <a:cs typeface="Calibri"/>
              </a:rPr>
              <a:t>Loss of Clinical Details</a:t>
            </a:r>
            <a:endParaRPr lang="en-US" sz="1600" dirty="0">
              <a:latin typeface="Calibri"/>
              <a:cs typeface="Calibri"/>
            </a:endParaRPr>
          </a:p>
        </p:txBody>
      </p:sp>
      <p:sp>
        <p:nvSpPr>
          <p:cNvPr id="44" name="object 27">
            <a:extLst>
              <a:ext uri="{FF2B5EF4-FFF2-40B4-BE49-F238E27FC236}">
                <a16:creationId xmlns:a16="http://schemas.microsoft.com/office/drawing/2014/main" id="{0FC4F8BD-DEAE-F445-0C8D-5863653F787B}"/>
              </a:ext>
            </a:extLst>
          </p:cNvPr>
          <p:cNvSpPr txBox="1"/>
          <p:nvPr/>
        </p:nvSpPr>
        <p:spPr>
          <a:xfrm>
            <a:off x="6524122" y="2873400"/>
            <a:ext cx="1905000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 marR="5080" indent="-68580">
              <a:lnSpc>
                <a:spcPct val="100000"/>
              </a:lnSpc>
              <a:spcBef>
                <a:spcPts val="95"/>
              </a:spcBef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When someone translates or summarizes the patient's speech, important details such as how long the symptom has existed, severity, location, and medical history can be lost.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009" y="194818"/>
            <a:ext cx="2390140" cy="360680"/>
            <a:chOff x="588009" y="194818"/>
            <a:chExt cx="2390140" cy="360680"/>
          </a:xfrm>
        </p:grpSpPr>
        <p:sp>
          <p:nvSpPr>
            <p:cNvPr id="3" name="object 3"/>
            <p:cNvSpPr/>
            <p:nvPr/>
          </p:nvSpPr>
          <p:spPr>
            <a:xfrm>
              <a:off x="594359" y="201168"/>
              <a:ext cx="2377440" cy="347980"/>
            </a:xfrm>
            <a:custGeom>
              <a:avLst/>
              <a:gdLst/>
              <a:ahLst/>
              <a:cxnLst/>
              <a:rect l="l" t="t" r="r" b="b"/>
              <a:pathLst>
                <a:path w="2377440" h="347980">
                  <a:moveTo>
                    <a:pt x="2203704" y="0"/>
                  </a:moveTo>
                  <a:lnTo>
                    <a:pt x="173736" y="0"/>
                  </a:ln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2"/>
                  </a:lnTo>
                  <a:lnTo>
                    <a:pt x="2203704" y="347472"/>
                  </a:lnTo>
                  <a:lnTo>
                    <a:pt x="2249910" y="341270"/>
                  </a:lnTo>
                  <a:lnTo>
                    <a:pt x="2291418" y="323765"/>
                  </a:lnTo>
                  <a:lnTo>
                    <a:pt x="2326576" y="296608"/>
                  </a:lnTo>
                  <a:lnTo>
                    <a:pt x="2353733" y="261450"/>
                  </a:lnTo>
                  <a:lnTo>
                    <a:pt x="2371238" y="219942"/>
                  </a:lnTo>
                  <a:lnTo>
                    <a:pt x="2377440" y="173736"/>
                  </a:lnTo>
                  <a:lnTo>
                    <a:pt x="2371238" y="127529"/>
                  </a:lnTo>
                  <a:lnTo>
                    <a:pt x="2353733" y="86021"/>
                  </a:lnTo>
                  <a:lnTo>
                    <a:pt x="2326576" y="50863"/>
                  </a:lnTo>
                  <a:lnTo>
                    <a:pt x="2291418" y="23706"/>
                  </a:lnTo>
                  <a:lnTo>
                    <a:pt x="2249910" y="6201"/>
                  </a:lnTo>
                  <a:lnTo>
                    <a:pt x="2203704" y="0"/>
                  </a:lnTo>
                  <a:close/>
                </a:path>
              </a:pathLst>
            </a:custGeom>
            <a:solidFill>
              <a:srgbClr val="E8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4359" y="201168"/>
              <a:ext cx="2377440" cy="347980"/>
            </a:xfrm>
            <a:custGeom>
              <a:avLst/>
              <a:gdLst/>
              <a:ahLst/>
              <a:cxnLst/>
              <a:rect l="l" t="t" r="r" b="b"/>
              <a:pathLst>
                <a:path w="2377440" h="347980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203704" y="0"/>
                  </a:lnTo>
                  <a:lnTo>
                    <a:pt x="2249910" y="6201"/>
                  </a:lnTo>
                  <a:lnTo>
                    <a:pt x="2291418" y="23706"/>
                  </a:lnTo>
                  <a:lnTo>
                    <a:pt x="2326576" y="50863"/>
                  </a:lnTo>
                  <a:lnTo>
                    <a:pt x="2353733" y="86021"/>
                  </a:lnTo>
                  <a:lnTo>
                    <a:pt x="2371238" y="127529"/>
                  </a:lnTo>
                  <a:lnTo>
                    <a:pt x="2377440" y="173736"/>
                  </a:lnTo>
                  <a:lnTo>
                    <a:pt x="2371238" y="219942"/>
                  </a:lnTo>
                  <a:lnTo>
                    <a:pt x="2353733" y="261450"/>
                  </a:lnTo>
                  <a:lnTo>
                    <a:pt x="2326576" y="296608"/>
                  </a:lnTo>
                  <a:lnTo>
                    <a:pt x="2291418" y="323765"/>
                  </a:lnTo>
                  <a:lnTo>
                    <a:pt x="2249910" y="341270"/>
                  </a:lnTo>
                  <a:lnTo>
                    <a:pt x="2203704" y="347472"/>
                  </a:lnTo>
                  <a:lnTo>
                    <a:pt x="173736" y="347472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6"/>
                  </a:lnTo>
                  <a:close/>
                </a:path>
              </a:pathLst>
            </a:custGeom>
            <a:ln w="12699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8386" y="268935"/>
            <a:ext cx="92900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1E395F"/>
                </a:solidFill>
                <a:latin typeface="Calibri"/>
                <a:cs typeface="Calibri"/>
              </a:rPr>
              <a:t>OUR</a:t>
            </a:r>
            <a:r>
              <a:rPr sz="1100" b="1" spc="-15" dirty="0">
                <a:solidFill>
                  <a:srgbClr val="1E395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1E395F"/>
                </a:solidFill>
                <a:latin typeface="Calibri"/>
                <a:cs typeface="Calibri"/>
              </a:rPr>
              <a:t>SOLUTION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1659" y="688593"/>
            <a:ext cx="8030476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600" spc="-25" dirty="0"/>
              <a:t>AI POWERED MULTI-LINGUAL PATIENT INTAKE ASSISTANT</a:t>
            </a:r>
            <a:endParaRPr sz="2600"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456689" y="167347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08701" y="167347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684769" y="167347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Shape 8">
            <a:extLst>
              <a:ext uri="{FF2B5EF4-FFF2-40B4-BE49-F238E27FC236}">
                <a16:creationId xmlns:a16="http://schemas.microsoft.com/office/drawing/2014/main" id="{A01CE96A-9AE8-1B39-FB2F-8EFB5C70EDAE}"/>
              </a:ext>
            </a:extLst>
          </p:cNvPr>
          <p:cNvSpPr/>
          <p:nvPr/>
        </p:nvSpPr>
        <p:spPr>
          <a:xfrm>
            <a:off x="2041044" y="1503398"/>
            <a:ext cx="1548748" cy="2439952"/>
          </a:xfrm>
          <a:prstGeom prst="roundRect">
            <a:avLst>
              <a:gd name="adj" fmla="val 344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1" name="Shape 9">
            <a:extLst>
              <a:ext uri="{FF2B5EF4-FFF2-40B4-BE49-F238E27FC236}">
                <a16:creationId xmlns:a16="http://schemas.microsoft.com/office/drawing/2014/main" id="{D5A5BA7D-4523-9E3D-980C-12FDE66FB9BF}"/>
              </a:ext>
            </a:extLst>
          </p:cNvPr>
          <p:cNvSpPr/>
          <p:nvPr/>
        </p:nvSpPr>
        <p:spPr>
          <a:xfrm>
            <a:off x="2445956" y="1720427"/>
            <a:ext cx="674212" cy="640080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39361BFC-4362-F9F3-525F-66A81F3D3C72}"/>
              </a:ext>
            </a:extLst>
          </p:cNvPr>
          <p:cNvSpPr/>
          <p:nvPr/>
        </p:nvSpPr>
        <p:spPr>
          <a:xfrm>
            <a:off x="1513158" y="1731998"/>
            <a:ext cx="2611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5" name="Text 11">
            <a:extLst>
              <a:ext uri="{FF2B5EF4-FFF2-40B4-BE49-F238E27FC236}">
                <a16:creationId xmlns:a16="http://schemas.microsoft.com/office/drawing/2014/main" id="{5431D547-F91A-9DE0-9A9A-9FCAE2686D2D}"/>
              </a:ext>
            </a:extLst>
          </p:cNvPr>
          <p:cNvSpPr/>
          <p:nvPr/>
        </p:nvSpPr>
        <p:spPr>
          <a:xfrm>
            <a:off x="2105981" y="2554958"/>
            <a:ext cx="13230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</a:t>
            </a:r>
            <a:endParaRPr lang="en-US" sz="1600" dirty="0"/>
          </a:p>
        </p:txBody>
      </p:sp>
      <p:sp>
        <p:nvSpPr>
          <p:cNvPr id="87" name="Text 12">
            <a:extLst>
              <a:ext uri="{FF2B5EF4-FFF2-40B4-BE49-F238E27FC236}">
                <a16:creationId xmlns:a16="http://schemas.microsoft.com/office/drawing/2014/main" id="{1FF82ABC-456D-29C5-44A4-8C93B584F43C}"/>
              </a:ext>
            </a:extLst>
          </p:cNvPr>
          <p:cNvSpPr/>
          <p:nvPr/>
        </p:nvSpPr>
        <p:spPr>
          <a:xfrm>
            <a:off x="2105981" y="3057878"/>
            <a:ext cx="1323019" cy="656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NCAIR/N-ATLaS ASR converts speech to text</a:t>
            </a:r>
            <a:endParaRPr lang="en-US" sz="1150" dirty="0"/>
          </a:p>
        </p:txBody>
      </p:sp>
      <p:sp>
        <p:nvSpPr>
          <p:cNvPr id="89" name="Shape 2">
            <a:extLst>
              <a:ext uri="{FF2B5EF4-FFF2-40B4-BE49-F238E27FC236}">
                <a16:creationId xmlns:a16="http://schemas.microsoft.com/office/drawing/2014/main" id="{3230D094-C298-0B83-7034-AEBE7F65BEF7}"/>
              </a:ext>
            </a:extLst>
          </p:cNvPr>
          <p:cNvSpPr/>
          <p:nvPr/>
        </p:nvSpPr>
        <p:spPr>
          <a:xfrm>
            <a:off x="386212" y="1495002"/>
            <a:ext cx="1461963" cy="2439952"/>
          </a:xfrm>
          <a:prstGeom prst="roundRect">
            <a:avLst>
              <a:gd name="adj" fmla="val 344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DDA251E1-10A2-656D-F11E-843027D6158B}"/>
              </a:ext>
            </a:extLst>
          </p:cNvPr>
          <p:cNvSpPr/>
          <p:nvPr/>
        </p:nvSpPr>
        <p:spPr>
          <a:xfrm>
            <a:off x="724970" y="1731998"/>
            <a:ext cx="731720" cy="640080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3" name="Text 4">
            <a:extLst>
              <a:ext uri="{FF2B5EF4-FFF2-40B4-BE49-F238E27FC236}">
                <a16:creationId xmlns:a16="http://schemas.microsoft.com/office/drawing/2014/main" id="{7491D044-242A-9E56-C1E4-5F368651A3F1}"/>
              </a:ext>
            </a:extLst>
          </p:cNvPr>
          <p:cNvSpPr/>
          <p:nvPr/>
        </p:nvSpPr>
        <p:spPr>
          <a:xfrm>
            <a:off x="382181" y="1731998"/>
            <a:ext cx="13943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5" name="Text 5">
            <a:extLst>
              <a:ext uri="{FF2B5EF4-FFF2-40B4-BE49-F238E27FC236}">
                <a16:creationId xmlns:a16="http://schemas.microsoft.com/office/drawing/2014/main" id="{91FD4614-1659-7889-2A1A-993803B2D8F3}"/>
              </a:ext>
            </a:extLst>
          </p:cNvPr>
          <p:cNvSpPr/>
          <p:nvPr/>
        </p:nvSpPr>
        <p:spPr>
          <a:xfrm>
            <a:off x="254820" y="2554958"/>
            <a:ext cx="1762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600" dirty="0"/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F9F76E15-4E3D-8B2F-06E5-D0E344A75EC6}"/>
              </a:ext>
            </a:extLst>
          </p:cNvPr>
          <p:cNvSpPr/>
          <p:nvPr/>
        </p:nvSpPr>
        <p:spPr>
          <a:xfrm>
            <a:off x="441562" y="3057878"/>
            <a:ext cx="1335014" cy="85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speaks symptoms in Yoruba, Igbo, or Hausa</a:t>
            </a:r>
            <a:endParaRPr lang="en-US" sz="1150" dirty="0"/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DABED38C-7423-D9F3-C821-908EAC119DBB}"/>
              </a:ext>
            </a:extLst>
          </p:cNvPr>
          <p:cNvSpPr/>
          <p:nvPr/>
        </p:nvSpPr>
        <p:spPr>
          <a:xfrm>
            <a:off x="3737861" y="1495001"/>
            <a:ext cx="1553569" cy="2439953"/>
          </a:xfrm>
          <a:prstGeom prst="roundRect">
            <a:avLst>
              <a:gd name="adj" fmla="val 344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1" name="Shape 15">
            <a:extLst>
              <a:ext uri="{FF2B5EF4-FFF2-40B4-BE49-F238E27FC236}">
                <a16:creationId xmlns:a16="http://schemas.microsoft.com/office/drawing/2014/main" id="{0C014FA7-14AB-ED9B-F424-B8241649A872}"/>
              </a:ext>
            </a:extLst>
          </p:cNvPr>
          <p:cNvSpPr/>
          <p:nvPr/>
        </p:nvSpPr>
        <p:spPr>
          <a:xfrm>
            <a:off x="4162997" y="1686278"/>
            <a:ext cx="741980" cy="640080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6">
            <a:extLst>
              <a:ext uri="{FF2B5EF4-FFF2-40B4-BE49-F238E27FC236}">
                <a16:creationId xmlns:a16="http://schemas.microsoft.com/office/drawing/2014/main" id="{A0EA13E8-310F-0BA5-91D9-904AA21F2DDB}"/>
              </a:ext>
            </a:extLst>
          </p:cNvPr>
          <p:cNvSpPr/>
          <p:nvPr/>
        </p:nvSpPr>
        <p:spPr>
          <a:xfrm>
            <a:off x="3124200" y="1686278"/>
            <a:ext cx="28430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8F96C172-59D1-674D-0F53-128EB91B68F1}"/>
              </a:ext>
            </a:extLst>
          </p:cNvPr>
          <p:cNvSpPr/>
          <p:nvPr/>
        </p:nvSpPr>
        <p:spPr>
          <a:xfrm>
            <a:off x="2971799" y="2509238"/>
            <a:ext cx="31638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07" name="Text 18">
            <a:extLst>
              <a:ext uri="{FF2B5EF4-FFF2-40B4-BE49-F238E27FC236}">
                <a16:creationId xmlns:a16="http://schemas.microsoft.com/office/drawing/2014/main" id="{57287C5E-E0D9-0769-DD31-72270DC5E2B7}"/>
              </a:ext>
            </a:extLst>
          </p:cNvPr>
          <p:cNvSpPr/>
          <p:nvPr/>
        </p:nvSpPr>
        <p:spPr>
          <a:xfrm>
            <a:off x="3758192" y="3012158"/>
            <a:ext cx="1560494" cy="76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N-ATLaS LLM turns transcript into an English clinical note</a:t>
            </a:r>
            <a:endParaRPr lang="en-US" sz="1150" dirty="0"/>
          </a:p>
        </p:txBody>
      </p:sp>
      <p:sp>
        <p:nvSpPr>
          <p:cNvPr id="109" name="Shape 20">
            <a:extLst>
              <a:ext uri="{FF2B5EF4-FFF2-40B4-BE49-F238E27FC236}">
                <a16:creationId xmlns:a16="http://schemas.microsoft.com/office/drawing/2014/main" id="{22E8E641-FA9C-ED04-A309-8181AB087024}"/>
              </a:ext>
            </a:extLst>
          </p:cNvPr>
          <p:cNvSpPr/>
          <p:nvPr/>
        </p:nvSpPr>
        <p:spPr>
          <a:xfrm>
            <a:off x="5442904" y="1495001"/>
            <a:ext cx="1623477" cy="2448349"/>
          </a:xfrm>
          <a:prstGeom prst="roundRect">
            <a:avLst>
              <a:gd name="adj" fmla="val 344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hape 21">
            <a:extLst>
              <a:ext uri="{FF2B5EF4-FFF2-40B4-BE49-F238E27FC236}">
                <a16:creationId xmlns:a16="http://schemas.microsoft.com/office/drawing/2014/main" id="{3EED022B-3A25-8370-DAFC-7E3BE12CF569}"/>
              </a:ext>
            </a:extLst>
          </p:cNvPr>
          <p:cNvSpPr/>
          <p:nvPr/>
        </p:nvSpPr>
        <p:spPr>
          <a:xfrm>
            <a:off x="5918705" y="1686278"/>
            <a:ext cx="640080" cy="640080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3" name="Text 22">
            <a:extLst>
              <a:ext uri="{FF2B5EF4-FFF2-40B4-BE49-F238E27FC236}">
                <a16:creationId xmlns:a16="http://schemas.microsoft.com/office/drawing/2014/main" id="{6B061EE6-6402-F90F-2490-90B4E3EF13FF}"/>
              </a:ext>
            </a:extLst>
          </p:cNvPr>
          <p:cNvSpPr/>
          <p:nvPr/>
        </p:nvSpPr>
        <p:spPr>
          <a:xfrm>
            <a:off x="4904977" y="1640558"/>
            <a:ext cx="26113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15" name="Text 23">
            <a:extLst>
              <a:ext uri="{FF2B5EF4-FFF2-40B4-BE49-F238E27FC236}">
                <a16:creationId xmlns:a16="http://schemas.microsoft.com/office/drawing/2014/main" id="{0320F44B-D162-4104-C8B1-37F1E49C26C3}"/>
              </a:ext>
            </a:extLst>
          </p:cNvPr>
          <p:cNvSpPr/>
          <p:nvPr/>
        </p:nvSpPr>
        <p:spPr>
          <a:xfrm>
            <a:off x="4294818" y="2463518"/>
            <a:ext cx="382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600" dirty="0"/>
          </a:p>
        </p:txBody>
      </p:sp>
      <p:sp>
        <p:nvSpPr>
          <p:cNvPr id="117" name="Text 24">
            <a:extLst>
              <a:ext uri="{FF2B5EF4-FFF2-40B4-BE49-F238E27FC236}">
                <a16:creationId xmlns:a16="http://schemas.microsoft.com/office/drawing/2014/main" id="{35001F8F-A273-24D7-B97B-99C2102054E0}"/>
              </a:ext>
            </a:extLst>
          </p:cNvPr>
          <p:cNvSpPr/>
          <p:nvPr/>
        </p:nvSpPr>
        <p:spPr>
          <a:xfrm>
            <a:off x="5479479" y="2940094"/>
            <a:ext cx="1558540" cy="72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checks and edits the note before it's saved</a:t>
            </a:r>
            <a:endParaRPr lang="en-US" sz="1150" dirty="0"/>
          </a:p>
        </p:txBody>
      </p:sp>
      <p:sp>
        <p:nvSpPr>
          <p:cNvPr id="119" name="Shape 26">
            <a:extLst>
              <a:ext uri="{FF2B5EF4-FFF2-40B4-BE49-F238E27FC236}">
                <a16:creationId xmlns:a16="http://schemas.microsoft.com/office/drawing/2014/main" id="{FA3398D3-4FA7-561C-BF9C-9C44D19E1BB2}"/>
              </a:ext>
            </a:extLst>
          </p:cNvPr>
          <p:cNvSpPr/>
          <p:nvPr/>
        </p:nvSpPr>
        <p:spPr>
          <a:xfrm>
            <a:off x="7197646" y="1495000"/>
            <a:ext cx="1691534" cy="2448349"/>
          </a:xfrm>
          <a:prstGeom prst="roundRect">
            <a:avLst>
              <a:gd name="adj" fmla="val 344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hape 27">
            <a:extLst>
              <a:ext uri="{FF2B5EF4-FFF2-40B4-BE49-F238E27FC236}">
                <a16:creationId xmlns:a16="http://schemas.microsoft.com/office/drawing/2014/main" id="{BE0AC275-BAA4-43FD-9F01-9D95E303BEED}"/>
              </a:ext>
            </a:extLst>
          </p:cNvPr>
          <p:cNvSpPr/>
          <p:nvPr/>
        </p:nvSpPr>
        <p:spPr>
          <a:xfrm>
            <a:off x="7631406" y="1640558"/>
            <a:ext cx="640080" cy="640080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28">
            <a:extLst>
              <a:ext uri="{FF2B5EF4-FFF2-40B4-BE49-F238E27FC236}">
                <a16:creationId xmlns:a16="http://schemas.microsoft.com/office/drawing/2014/main" id="{8091B3C6-9F47-B0AF-DB33-A307D2A053CE}"/>
              </a:ext>
            </a:extLst>
          </p:cNvPr>
          <p:cNvSpPr/>
          <p:nvPr/>
        </p:nvSpPr>
        <p:spPr>
          <a:xfrm>
            <a:off x="7362238" y="1669486"/>
            <a:ext cx="1216152" cy="565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25" name="Text 29">
            <a:extLst>
              <a:ext uri="{FF2B5EF4-FFF2-40B4-BE49-F238E27FC236}">
                <a16:creationId xmlns:a16="http://schemas.microsoft.com/office/drawing/2014/main" id="{FE5B0C58-24E9-E50B-48E3-34961F5346E4}"/>
              </a:ext>
            </a:extLst>
          </p:cNvPr>
          <p:cNvSpPr/>
          <p:nvPr/>
        </p:nvSpPr>
        <p:spPr>
          <a:xfrm>
            <a:off x="6692583" y="2417798"/>
            <a:ext cx="24893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600" dirty="0"/>
          </a:p>
        </p:txBody>
      </p:sp>
      <p:sp>
        <p:nvSpPr>
          <p:cNvPr id="127" name="Text 30">
            <a:extLst>
              <a:ext uri="{FF2B5EF4-FFF2-40B4-BE49-F238E27FC236}">
                <a16:creationId xmlns:a16="http://schemas.microsoft.com/office/drawing/2014/main" id="{9EF59BD4-2716-8166-C9A5-371309D470E6}"/>
              </a:ext>
            </a:extLst>
          </p:cNvPr>
          <p:cNvSpPr/>
          <p:nvPr/>
        </p:nvSpPr>
        <p:spPr>
          <a:xfrm>
            <a:off x="7362238" y="2920718"/>
            <a:ext cx="1314593" cy="79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note goes into the intake workflow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pc="-25" dirty="0"/>
              <a:t>AUDIO QUALITY CHECK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588009" y="953769"/>
            <a:ext cx="7967980" cy="35560"/>
            <a:chOff x="588009" y="953769"/>
            <a:chExt cx="7967980" cy="35560"/>
          </a:xfrm>
        </p:grpSpPr>
        <p:sp>
          <p:nvSpPr>
            <p:cNvPr id="4" name="object 4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79552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7955280" y="22860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C7D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0" y="22860"/>
                  </a:moveTo>
                  <a:lnTo>
                    <a:pt x="7955280" y="22860"/>
                  </a:lnTo>
                  <a:lnTo>
                    <a:pt x="795528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0" name="IconBg 400"/>
          <p:cNvSpPr/>
          <p:nvPr/>
        </p:nvSpPr>
        <p:spPr>
          <a:xfrm>
            <a:off x="1278769" y="1230000"/>
            <a:ext cx="620000" cy="62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1" name="IconGlyph 401"/>
          <p:cNvSpPr txBox="1"/>
          <p:nvPr/>
        </p:nvSpPr>
        <p:spPr>
          <a:xfrm>
            <a:off x="127876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⏱</a:t>
            </a:r>
            <a:endParaRPr lang="en-US" sz="2000" dirty="0"/>
          </a:p>
        </p:txBody>
      </p:sp>
      <p:sp>
        <p:nvSpPr>
          <p:cNvPr id="402" name="StepNum 402"/>
          <p:cNvSpPr/>
          <p:nvPr/>
        </p:nvSpPr>
        <p:spPr>
          <a:xfrm>
            <a:off x="170876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403" name="Label 403"/>
          <p:cNvSpPr/>
          <p:nvPr/>
        </p:nvSpPr>
        <p:spPr>
          <a:xfrm>
            <a:off x="59435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Too Short</a:t>
            </a:r>
          </a:p>
        </p:txBody>
      </p:sp>
      <p:sp>
        <p:nvSpPr>
          <p:cNvPr id="404" name="Caption 404"/>
          <p:cNvSpPr/>
          <p:nvPr/>
        </p:nvSpPr>
        <p:spPr>
          <a:xfrm>
            <a:off x="64435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Recording is too brief to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contain any usable speech</a:t>
            </a:r>
          </a:p>
        </p:txBody>
      </p:sp>
      <p:sp>
        <p:nvSpPr>
          <p:cNvPr id="405" name="Arrow 405"/>
          <p:cNvSpPr/>
          <p:nvPr/>
        </p:nvSpPr>
        <p:spPr>
          <a:xfrm>
            <a:off x="2453179" y="1449000"/>
            <a:ext cx="260000" cy="182000"/>
          </a:xfrm>
          <a:prstGeom prst="rightArrow">
            <a:avLst/>
          </a:prstGeom>
          <a:solidFill>
            <a:srgbClr val="C7DD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IconBg 406"/>
          <p:cNvSpPr/>
          <p:nvPr/>
        </p:nvSpPr>
        <p:spPr>
          <a:xfrm>
            <a:off x="3267589" y="1230000"/>
            <a:ext cx="620000" cy="62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onGlyph 407"/>
          <p:cNvSpPr txBox="1"/>
          <p:nvPr/>
        </p:nvSpPr>
        <p:spPr>
          <a:xfrm>
            <a:off x="326758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🔈</a:t>
            </a:r>
            <a:endParaRPr lang="en-US" sz="2000" dirty="0"/>
          </a:p>
        </p:txBody>
      </p:sp>
      <p:sp>
        <p:nvSpPr>
          <p:cNvPr id="408" name="StepNum 408"/>
          <p:cNvSpPr/>
          <p:nvPr/>
        </p:nvSpPr>
        <p:spPr>
          <a:xfrm>
            <a:off x="369758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09" name="Label 409"/>
          <p:cNvSpPr/>
          <p:nvPr/>
        </p:nvSpPr>
        <p:spPr>
          <a:xfrm>
            <a:off x="258317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Too Quiet</a:t>
            </a:r>
          </a:p>
        </p:txBody>
      </p:sp>
      <p:sp>
        <p:nvSpPr>
          <p:cNvPr id="410" name="Caption 410"/>
          <p:cNvSpPr/>
          <p:nvPr/>
        </p:nvSpPr>
        <p:spPr>
          <a:xfrm>
            <a:off x="263317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Volume is too low to make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out speech clearly</a:t>
            </a:r>
          </a:p>
        </p:txBody>
      </p:sp>
      <p:sp>
        <p:nvSpPr>
          <p:cNvPr id="411" name="Arrow 411"/>
          <p:cNvSpPr/>
          <p:nvPr/>
        </p:nvSpPr>
        <p:spPr>
          <a:xfrm>
            <a:off x="4441999" y="1449000"/>
            <a:ext cx="260000" cy="182000"/>
          </a:xfrm>
          <a:prstGeom prst="rightArrow">
            <a:avLst/>
          </a:prstGeom>
          <a:solidFill>
            <a:srgbClr val="C7DD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2" name="IconBg 412"/>
          <p:cNvSpPr/>
          <p:nvPr/>
        </p:nvSpPr>
        <p:spPr>
          <a:xfrm>
            <a:off x="5256409" y="1230000"/>
            <a:ext cx="620000" cy="62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3" name="IconGlyph 413"/>
          <p:cNvSpPr txBox="1"/>
          <p:nvPr/>
        </p:nvSpPr>
        <p:spPr>
          <a:xfrm>
            <a:off x="525640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🔇</a:t>
            </a:r>
            <a:endParaRPr lang="en-US" sz="2000" dirty="0"/>
          </a:p>
        </p:txBody>
      </p:sp>
      <p:sp>
        <p:nvSpPr>
          <p:cNvPr id="414" name="StepNum 414"/>
          <p:cNvSpPr/>
          <p:nvPr/>
        </p:nvSpPr>
        <p:spPr>
          <a:xfrm>
            <a:off x="568640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15" name="Label 415"/>
          <p:cNvSpPr/>
          <p:nvPr/>
        </p:nvSpPr>
        <p:spPr>
          <a:xfrm>
            <a:off x="457199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Empty</a:t>
            </a:r>
          </a:p>
        </p:txBody>
      </p:sp>
      <p:sp>
        <p:nvSpPr>
          <p:cNvPr id="416" name="Caption 416"/>
          <p:cNvSpPr/>
          <p:nvPr/>
        </p:nvSpPr>
        <p:spPr>
          <a:xfrm>
            <a:off x="462199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No speech was captured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in the recording at all</a:t>
            </a:r>
          </a:p>
        </p:txBody>
      </p:sp>
      <p:sp>
        <p:nvSpPr>
          <p:cNvPr id="417" name="Arrow 417"/>
          <p:cNvSpPr/>
          <p:nvPr/>
        </p:nvSpPr>
        <p:spPr>
          <a:xfrm>
            <a:off x="6430819" y="1449000"/>
            <a:ext cx="260000" cy="182000"/>
          </a:xfrm>
          <a:prstGeom prst="rightArrow">
            <a:avLst/>
          </a:prstGeom>
          <a:solidFill>
            <a:srgbClr val="C7DD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8" name="IconBg 418"/>
          <p:cNvSpPr/>
          <p:nvPr/>
        </p:nvSpPr>
        <p:spPr>
          <a:xfrm>
            <a:off x="7245229" y="1230000"/>
            <a:ext cx="620000" cy="62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9" name="IconGlyph 419"/>
          <p:cNvSpPr txBox="1"/>
          <p:nvPr/>
        </p:nvSpPr>
        <p:spPr>
          <a:xfrm>
            <a:off x="724522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⚠️</a:t>
            </a:r>
            <a:endParaRPr lang="en-US" sz="2000" dirty="0"/>
          </a:p>
        </p:txBody>
      </p:sp>
      <p:sp>
        <p:nvSpPr>
          <p:cNvPr id="420" name="StepNum 420"/>
          <p:cNvSpPr/>
          <p:nvPr/>
        </p:nvSpPr>
        <p:spPr>
          <a:xfrm>
            <a:off x="767522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421" name="Label 421"/>
          <p:cNvSpPr/>
          <p:nvPr/>
        </p:nvSpPr>
        <p:spPr>
          <a:xfrm>
            <a:off x="656081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Badly Recorded</a:t>
            </a:r>
          </a:p>
        </p:txBody>
      </p:sp>
      <p:sp>
        <p:nvSpPr>
          <p:cNvPr id="422" name="Caption 422"/>
          <p:cNvSpPr/>
          <p:nvPr/>
        </p:nvSpPr>
        <p:spPr>
          <a:xfrm>
            <a:off x="661081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Audio is distorted, noisy,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or otherwise corrupted</a:t>
            </a:r>
          </a:p>
        </p:txBody>
      </p:sp>
      <p:sp>
        <p:nvSpPr>
          <p:cNvPr id="423" name="FooterCard 423"/>
          <p:cNvSpPr/>
          <p:nvPr/>
        </p:nvSpPr>
        <p:spPr>
          <a:xfrm>
            <a:off x="594359" y="2900000"/>
            <a:ext cx="7955280" cy="9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4" name="IconBg 424"/>
          <p:cNvSpPr/>
          <p:nvPr/>
        </p:nvSpPr>
        <p:spPr>
          <a:xfrm>
            <a:off x="814359" y="3110000"/>
            <a:ext cx="480000" cy="480000"/>
          </a:xfrm>
          <a:prstGeom prst="ellipse">
            <a:avLst/>
          </a:prstGeom>
          <a:solidFill>
            <a:srgbClr val="1E39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5" name="IconGlyph 425"/>
          <p:cNvSpPr txBox="1"/>
          <p:nvPr/>
        </p:nvSpPr>
        <p:spPr>
          <a:xfrm>
            <a:off x="814359" y="3110000"/>
            <a:ext cx="4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🛑</a:t>
            </a:r>
            <a:endParaRPr lang="en-US" sz="2000" dirty="0"/>
          </a:p>
        </p:txBody>
      </p:sp>
      <p:sp>
        <p:nvSpPr>
          <p:cNvPr id="426" name="FooterText 426"/>
          <p:cNvSpPr/>
          <p:nvPr/>
        </p:nvSpPr>
        <p:spPr>
          <a:xfrm>
            <a:off x="1494359" y="2900000"/>
            <a:ext cx="685528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95F"/>
                </a:solidFill>
                <a:latin typeface="Calibri"/>
                <a:cs typeface="Calibri"/>
              </a:rPr>
              <a:t>Why it matters: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rPr>
              <a:t>bad audio gives unreliable results and wastes processing time, so it's filtered out before reaching the ASR, note structuring, or review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pc="-25" dirty="0"/>
              <a:t>ASR COMPONENT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588009" y="953769"/>
            <a:ext cx="7967980" cy="35560"/>
            <a:chOff x="588009" y="953769"/>
            <a:chExt cx="7967980" cy="35560"/>
          </a:xfrm>
        </p:grpSpPr>
        <p:sp>
          <p:nvSpPr>
            <p:cNvPr id="4" name="object 4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79552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7955280" y="22860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C7D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0" y="22860"/>
                  </a:moveTo>
                  <a:lnTo>
                    <a:pt x="7955280" y="22860"/>
                  </a:lnTo>
                  <a:lnTo>
                    <a:pt x="795528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0" name="IconBg 400"/>
          <p:cNvSpPr/>
          <p:nvPr/>
        </p:nvSpPr>
        <p:spPr>
          <a:xfrm>
            <a:off x="1278769" y="1230000"/>
            <a:ext cx="620000" cy="62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1" name="IconGlyph 401"/>
          <p:cNvSpPr txBox="1"/>
          <p:nvPr/>
        </p:nvSpPr>
        <p:spPr>
          <a:xfrm>
            <a:off x="127876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🎤</a:t>
            </a:r>
            <a:endParaRPr lang="en-US" sz="2000" dirty="0"/>
          </a:p>
        </p:txBody>
      </p:sp>
      <p:sp>
        <p:nvSpPr>
          <p:cNvPr id="402" name="StepNum 402"/>
          <p:cNvSpPr/>
          <p:nvPr/>
        </p:nvSpPr>
        <p:spPr>
          <a:xfrm>
            <a:off x="170876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403" name="Label 403"/>
          <p:cNvSpPr/>
          <p:nvPr/>
        </p:nvSpPr>
        <p:spPr>
          <a:xfrm>
            <a:off x="59435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Audio Input</a:t>
            </a:r>
          </a:p>
        </p:txBody>
      </p:sp>
      <p:sp>
        <p:nvSpPr>
          <p:cNvPr id="404" name="Caption 404"/>
          <p:cNvSpPr/>
          <p:nvPr/>
        </p:nvSpPr>
        <p:spPr>
          <a:xfrm>
            <a:off x="64435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Patient's spoken symptoms are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captured as raw audio</a:t>
            </a:r>
          </a:p>
        </p:txBody>
      </p:sp>
      <p:sp>
        <p:nvSpPr>
          <p:cNvPr id="405" name="Arrow 405"/>
          <p:cNvSpPr/>
          <p:nvPr/>
        </p:nvSpPr>
        <p:spPr>
          <a:xfrm>
            <a:off x="2453179" y="1449000"/>
            <a:ext cx="260000" cy="182000"/>
          </a:xfrm>
          <a:prstGeom prst="rightArrow">
            <a:avLst/>
          </a:prstGeom>
          <a:solidFill>
            <a:srgbClr val="C7DD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IconBg 406"/>
          <p:cNvSpPr/>
          <p:nvPr/>
        </p:nvSpPr>
        <p:spPr>
          <a:xfrm>
            <a:off x="3267589" y="1230000"/>
            <a:ext cx="620000" cy="62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onGlyph 407"/>
          <p:cNvSpPr txBox="1"/>
          <p:nvPr/>
        </p:nvSpPr>
        <p:spPr>
          <a:xfrm>
            <a:off x="326758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🌐</a:t>
            </a:r>
            <a:endParaRPr lang="en-US" sz="2000" dirty="0"/>
          </a:p>
        </p:txBody>
      </p:sp>
      <p:sp>
        <p:nvSpPr>
          <p:cNvPr id="408" name="StepNum 408"/>
          <p:cNvSpPr/>
          <p:nvPr/>
        </p:nvSpPr>
        <p:spPr>
          <a:xfrm>
            <a:off x="369758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09" name="Label 409"/>
          <p:cNvSpPr/>
          <p:nvPr/>
        </p:nvSpPr>
        <p:spPr>
          <a:xfrm>
            <a:off x="258317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Language Detection</a:t>
            </a:r>
          </a:p>
        </p:txBody>
      </p:sp>
      <p:sp>
        <p:nvSpPr>
          <p:cNvPr id="410" name="Caption 410"/>
          <p:cNvSpPr/>
          <p:nvPr/>
        </p:nvSpPr>
        <p:spPr>
          <a:xfrm>
            <a:off x="263317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System identifies or confirms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Yoruba, Igbo, or Hausa</a:t>
            </a:r>
          </a:p>
        </p:txBody>
      </p:sp>
      <p:sp>
        <p:nvSpPr>
          <p:cNvPr id="411" name="Arrow 411"/>
          <p:cNvSpPr/>
          <p:nvPr/>
        </p:nvSpPr>
        <p:spPr>
          <a:xfrm>
            <a:off x="4441999" y="1449000"/>
            <a:ext cx="260000" cy="182000"/>
          </a:xfrm>
          <a:prstGeom prst="rightArrow">
            <a:avLst/>
          </a:prstGeom>
          <a:solidFill>
            <a:srgbClr val="C7DD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2" name="IconBg 412"/>
          <p:cNvSpPr/>
          <p:nvPr/>
        </p:nvSpPr>
        <p:spPr>
          <a:xfrm>
            <a:off x="5256409" y="1230000"/>
            <a:ext cx="620000" cy="62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3" name="IconGlyph 413"/>
          <p:cNvSpPr txBox="1"/>
          <p:nvPr/>
        </p:nvSpPr>
        <p:spPr>
          <a:xfrm>
            <a:off x="525640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🧠</a:t>
            </a:r>
            <a:endParaRPr lang="en-US" sz="2000" dirty="0"/>
          </a:p>
        </p:txBody>
      </p:sp>
      <p:sp>
        <p:nvSpPr>
          <p:cNvPr id="414" name="StepNum 414"/>
          <p:cNvSpPr/>
          <p:nvPr/>
        </p:nvSpPr>
        <p:spPr>
          <a:xfrm>
            <a:off x="568640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15" name="Label 415"/>
          <p:cNvSpPr/>
          <p:nvPr/>
        </p:nvSpPr>
        <p:spPr>
          <a:xfrm>
            <a:off x="457199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Language-Specific ASR</a:t>
            </a:r>
          </a:p>
        </p:txBody>
      </p:sp>
      <p:sp>
        <p:nvSpPr>
          <p:cNvPr id="416" name="Caption 416"/>
          <p:cNvSpPr/>
          <p:nvPr/>
        </p:nvSpPr>
        <p:spPr>
          <a:xfrm>
            <a:off x="462199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NCAIR's model for that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language transcribes the audio</a:t>
            </a:r>
          </a:p>
        </p:txBody>
      </p:sp>
      <p:sp>
        <p:nvSpPr>
          <p:cNvPr id="417" name="Arrow 417"/>
          <p:cNvSpPr/>
          <p:nvPr/>
        </p:nvSpPr>
        <p:spPr>
          <a:xfrm>
            <a:off x="6430819" y="1449000"/>
            <a:ext cx="260000" cy="182000"/>
          </a:xfrm>
          <a:prstGeom prst="rightArrow">
            <a:avLst/>
          </a:prstGeom>
          <a:solidFill>
            <a:srgbClr val="C7DD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8" name="IconBg 418"/>
          <p:cNvSpPr/>
          <p:nvPr/>
        </p:nvSpPr>
        <p:spPr>
          <a:xfrm>
            <a:off x="7245229" y="1230000"/>
            <a:ext cx="620000" cy="62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9" name="IconGlyph 419"/>
          <p:cNvSpPr txBox="1"/>
          <p:nvPr/>
        </p:nvSpPr>
        <p:spPr>
          <a:xfrm>
            <a:off x="724522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📄</a:t>
            </a:r>
            <a:endParaRPr lang="en-US" sz="2000" dirty="0"/>
          </a:p>
        </p:txBody>
      </p:sp>
      <p:sp>
        <p:nvSpPr>
          <p:cNvPr id="420" name="StepNum 420"/>
          <p:cNvSpPr/>
          <p:nvPr/>
        </p:nvSpPr>
        <p:spPr>
          <a:xfrm>
            <a:off x="767522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421" name="Label 421"/>
          <p:cNvSpPr/>
          <p:nvPr/>
        </p:nvSpPr>
        <p:spPr>
          <a:xfrm>
            <a:off x="656081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Text Transcript</a:t>
            </a:r>
          </a:p>
        </p:txBody>
      </p:sp>
      <p:sp>
        <p:nvSpPr>
          <p:cNvPr id="422" name="Caption 422"/>
          <p:cNvSpPr/>
          <p:nvPr/>
        </p:nvSpPr>
        <p:spPr>
          <a:xfrm>
            <a:off x="661081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Clean text output is passed to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N-ATLaS for structuring</a:t>
            </a:r>
          </a:p>
        </p:txBody>
      </p:sp>
      <p:sp>
        <p:nvSpPr>
          <p:cNvPr id="423" name="FooterCard 423"/>
          <p:cNvSpPr/>
          <p:nvPr/>
        </p:nvSpPr>
        <p:spPr>
          <a:xfrm>
            <a:off x="594359" y="2900000"/>
            <a:ext cx="7955280" cy="9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4" name="IconBg 424"/>
          <p:cNvSpPr/>
          <p:nvPr/>
        </p:nvSpPr>
        <p:spPr>
          <a:xfrm>
            <a:off x="814359" y="3110000"/>
            <a:ext cx="480000" cy="480000"/>
          </a:xfrm>
          <a:prstGeom prst="ellipse">
            <a:avLst/>
          </a:prstGeom>
          <a:solidFill>
            <a:srgbClr val="1E39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5" name="IconGlyph 425"/>
          <p:cNvSpPr txBox="1"/>
          <p:nvPr/>
        </p:nvSpPr>
        <p:spPr>
          <a:xfrm>
            <a:off x="814359" y="3110000"/>
            <a:ext cx="4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⚡</a:t>
            </a:r>
            <a:endParaRPr lang="en-US" sz="2000" dirty="0"/>
          </a:p>
        </p:txBody>
      </p:sp>
      <p:sp>
        <p:nvSpPr>
          <p:cNvPr id="426" name="FooterText 426"/>
          <p:cNvSpPr/>
          <p:nvPr/>
        </p:nvSpPr>
        <p:spPr>
          <a:xfrm>
            <a:off x="1494359" y="2900000"/>
            <a:ext cx="685528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95F"/>
                </a:solidFill>
                <a:latin typeface="Calibri"/>
                <a:cs typeface="Calibri"/>
              </a:rPr>
              <a:t>Runs locally: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rPr>
              <a:t>models are downloaded from Hugging Face once, cached locally, and run on the available GPU — no external API needed per patient.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CLINICAL NOTE STRUCTURING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588009" y="953769"/>
            <a:ext cx="7967980" cy="35560"/>
            <a:chOff x="588009" y="953769"/>
            <a:chExt cx="7967980" cy="35560"/>
          </a:xfrm>
        </p:grpSpPr>
        <p:sp>
          <p:nvSpPr>
            <p:cNvPr id="4" name="object 4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79552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7955280" y="22860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C7D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0" y="22860"/>
                  </a:moveTo>
                  <a:lnTo>
                    <a:pt x="7955280" y="22860"/>
                  </a:lnTo>
                  <a:lnTo>
                    <a:pt x="795528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23568" y="1589659"/>
            <a:ext cx="2254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P1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88107" y="1589659"/>
            <a:ext cx="2254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P2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52569" y="1589659"/>
            <a:ext cx="2254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P3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17158" y="1589659"/>
            <a:ext cx="2254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P4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81619" y="1589659"/>
            <a:ext cx="2254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P5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4" name="Shape 7">
            <a:extLst>
              <a:ext uri="{FF2B5EF4-FFF2-40B4-BE49-F238E27FC236}">
                <a16:creationId xmlns:a16="http://schemas.microsoft.com/office/drawing/2014/main" id="{2743DFBC-3EA1-69B7-BD90-E4977F9CA7C9}"/>
              </a:ext>
            </a:extLst>
          </p:cNvPr>
          <p:cNvSpPr/>
          <p:nvPr/>
        </p:nvSpPr>
        <p:spPr>
          <a:xfrm>
            <a:off x="2988024" y="1138658"/>
            <a:ext cx="681432" cy="625273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🎤</a:t>
            </a:r>
            <a:endParaRPr lang="en-US" sz="1800" dirty="0"/>
          </a:p>
        </p:txBody>
      </p:sp>
      <p:sp>
        <p:nvSpPr>
          <p:cNvPr id="66" name="Text 9">
            <a:extLst>
              <a:ext uri="{FF2B5EF4-FFF2-40B4-BE49-F238E27FC236}">
                <a16:creationId xmlns:a16="http://schemas.microsoft.com/office/drawing/2014/main" id="{23E3AC1C-71F3-78D3-9259-EA84DC243C1B}"/>
              </a:ext>
            </a:extLst>
          </p:cNvPr>
          <p:cNvSpPr/>
          <p:nvPr/>
        </p:nvSpPr>
        <p:spPr>
          <a:xfrm>
            <a:off x="2043832" y="1763931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NCAIR ASR</a:t>
            </a:r>
            <a:endParaRPr lang="en-US" sz="1400" dirty="0"/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3E76C26A-AB4C-6CD5-0244-6A79A1E2D811}"/>
              </a:ext>
            </a:extLst>
          </p:cNvPr>
          <p:cNvSpPr/>
          <p:nvPr/>
        </p:nvSpPr>
        <p:spPr>
          <a:xfrm>
            <a:off x="2197463" y="1886284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Whisper-based models transcribe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native-language text</a:t>
            </a:r>
            <a:endParaRPr lang="en-US" sz="1000" dirty="0"/>
          </a:p>
        </p:txBody>
      </p:sp>
      <p:sp>
        <p:nvSpPr>
          <p:cNvPr id="70" name="Shape 12">
            <a:extLst>
              <a:ext uri="{FF2B5EF4-FFF2-40B4-BE49-F238E27FC236}">
                <a16:creationId xmlns:a16="http://schemas.microsoft.com/office/drawing/2014/main" id="{19E8AFBB-3292-C4DD-855E-45A841535CFD}"/>
              </a:ext>
            </a:extLst>
          </p:cNvPr>
          <p:cNvSpPr/>
          <p:nvPr/>
        </p:nvSpPr>
        <p:spPr>
          <a:xfrm>
            <a:off x="4968900" y="1094993"/>
            <a:ext cx="681432" cy="659845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dirty="0"/>
          </a:p>
        </p:txBody>
      </p:sp>
      <p:sp>
        <p:nvSpPr>
          <p:cNvPr id="74" name="Text 14">
            <a:extLst>
              <a:ext uri="{FF2B5EF4-FFF2-40B4-BE49-F238E27FC236}">
                <a16:creationId xmlns:a16="http://schemas.microsoft.com/office/drawing/2014/main" id="{E79B7733-BA2C-FF0E-6FE8-7D1886B4FB06}"/>
              </a:ext>
            </a:extLst>
          </p:cNvPr>
          <p:cNvSpPr/>
          <p:nvPr/>
        </p:nvSpPr>
        <p:spPr>
          <a:xfrm>
            <a:off x="3944909" y="1772639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N-ATLaS-LLM</a:t>
            </a:r>
            <a:endParaRPr lang="en-US" sz="1400" dirty="0"/>
          </a:p>
        </p:txBody>
      </p:sp>
      <p:sp>
        <p:nvSpPr>
          <p:cNvPr id="76" name="Text 15">
            <a:extLst>
              <a:ext uri="{FF2B5EF4-FFF2-40B4-BE49-F238E27FC236}">
                <a16:creationId xmlns:a16="http://schemas.microsoft.com/office/drawing/2014/main" id="{BA5005D4-3978-C320-8F02-3F7280E64800}"/>
              </a:ext>
            </a:extLst>
          </p:cNvPr>
          <p:cNvSpPr/>
          <p:nvPr/>
        </p:nvSpPr>
        <p:spPr>
          <a:xfrm>
            <a:off x="4150216" y="1951468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transcript into a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English clinical note</a:t>
            </a:r>
            <a:endParaRPr lang="en-US" sz="1000" dirty="0"/>
          </a:p>
        </p:txBody>
      </p:sp>
      <p:sp>
        <p:nvSpPr>
          <p:cNvPr id="78" name="Shape 17">
            <a:extLst>
              <a:ext uri="{FF2B5EF4-FFF2-40B4-BE49-F238E27FC236}">
                <a16:creationId xmlns:a16="http://schemas.microsoft.com/office/drawing/2014/main" id="{1CB21E01-4313-791C-5780-192DEFFD0507}"/>
              </a:ext>
            </a:extLst>
          </p:cNvPr>
          <p:cNvSpPr/>
          <p:nvPr/>
        </p:nvSpPr>
        <p:spPr>
          <a:xfrm>
            <a:off x="6945913" y="1069468"/>
            <a:ext cx="681432" cy="6945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👩‍⚕️</a:t>
            </a:r>
            <a:endParaRPr lang="en-US" sz="1800" dirty="0"/>
          </a:p>
        </p:txBody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E0A41D69-82C0-5201-A1C3-251A0077F5C6}"/>
              </a:ext>
            </a:extLst>
          </p:cNvPr>
          <p:cNvSpPr/>
          <p:nvPr/>
        </p:nvSpPr>
        <p:spPr>
          <a:xfrm>
            <a:off x="6036595" y="1779272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consults</a:t>
            </a:r>
            <a:endParaRPr lang="en-US" sz="1400" dirty="0"/>
          </a:p>
        </p:txBody>
      </p:sp>
      <p:sp>
        <p:nvSpPr>
          <p:cNvPr id="83" name="Text 20">
            <a:extLst>
              <a:ext uri="{FF2B5EF4-FFF2-40B4-BE49-F238E27FC236}">
                <a16:creationId xmlns:a16="http://schemas.microsoft.com/office/drawing/2014/main" id="{DF58FFE6-7CDE-DE53-E4CE-71BDC063ECE8}"/>
              </a:ext>
            </a:extLst>
          </p:cNvPr>
          <p:cNvSpPr/>
          <p:nvPr/>
        </p:nvSpPr>
        <p:spPr>
          <a:xfrm>
            <a:off x="6003653" y="2000758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structured SOAP note,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translation lost</a:t>
            </a:r>
            <a:endParaRPr lang="en-US" sz="1000" dirty="0"/>
          </a:p>
        </p:txBody>
      </p:sp>
      <p:sp>
        <p:nvSpPr>
          <p:cNvPr id="910" name="StepCard1"/>
          <p:cNvSpPr/>
          <p:nvPr/>
        </p:nvSpPr>
        <p:spPr>
          <a:xfrm>
            <a:off x="425431" y="2450338"/>
            <a:ext cx="2626687" cy="190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1" name="StepIconBg1"/>
          <p:cNvSpPr/>
          <p:nvPr/>
        </p:nvSpPr>
        <p:spPr>
          <a:xfrm>
            <a:off x="1508774" y="2600338"/>
            <a:ext cx="460000" cy="46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" name="StepIconGlyph1"/>
          <p:cNvSpPr txBox="1"/>
          <p:nvPr/>
        </p:nvSpPr>
        <p:spPr>
          <a:xfrm>
            <a:off x="1508774" y="2600338"/>
            <a:ext cx="4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🧾</a:t>
            </a:r>
            <a:endParaRPr lang="en-US" sz="2000" dirty="0"/>
          </a:p>
        </p:txBody>
      </p:sp>
      <p:sp>
        <p:nvSpPr>
          <p:cNvPr id="913" name="StepTitle1"/>
          <p:cNvSpPr/>
          <p:nvPr/>
        </p:nvSpPr>
        <p:spPr>
          <a:xfrm>
            <a:off x="555431" y="3120338"/>
            <a:ext cx="236668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0"/>
                </a:solidFill>
                <a:latin typeface="Calibri" pitchFamily="34" charset="0"/>
                <a:cs typeface="Calibri" pitchFamily="34" charset="-120"/>
              </a:rPr>
              <a:t>Structures the Note</a:t>
            </a:r>
            <a:endParaRPr lang="en-US" sz="1200" dirty="0"/>
          </a:p>
        </p:txBody>
      </p:sp>
      <p:sp>
        <p:nvSpPr>
          <p:cNvPr id="914" name="StepDesc1"/>
          <p:cNvSpPr/>
          <p:nvPr/>
        </p:nvSpPr>
        <p:spPr>
          <a:xfrm>
            <a:off x="555431" y="3420338"/>
            <a:ext cx="2366687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cs typeface="Calibri" pitchFamily="34" charset="-120"/>
              </a:rPr>
              <a:t>Turns the ASR transcript into a clean, English clinical note.</a:t>
            </a:r>
            <a:endParaRPr lang="en-US" sz="1000" dirty="0"/>
          </a:p>
        </p:txBody>
      </p:sp>
      <p:sp>
        <p:nvSpPr>
          <p:cNvPr id="920" name="StepCard2"/>
          <p:cNvSpPr/>
          <p:nvPr/>
        </p:nvSpPr>
        <p:spPr>
          <a:xfrm>
            <a:off x="3232118" y="2450338"/>
            <a:ext cx="2626687" cy="190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1" name="StepIconBg2"/>
          <p:cNvSpPr/>
          <p:nvPr/>
        </p:nvSpPr>
        <p:spPr>
          <a:xfrm>
            <a:off x="4315461" y="2600338"/>
            <a:ext cx="460000" cy="46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2" name="StepIconGlyph2"/>
          <p:cNvSpPr txBox="1"/>
          <p:nvPr/>
        </p:nvSpPr>
        <p:spPr>
          <a:xfrm>
            <a:off x="4315461" y="2600338"/>
            <a:ext cx="4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🎯</a:t>
            </a:r>
            <a:endParaRPr lang="en-US" sz="2000" dirty="0"/>
          </a:p>
        </p:txBody>
      </p:sp>
      <p:sp>
        <p:nvSpPr>
          <p:cNvPr id="923" name="StepTitle2"/>
          <p:cNvSpPr/>
          <p:nvPr/>
        </p:nvSpPr>
        <p:spPr>
          <a:xfrm>
            <a:off x="3362118" y="3120338"/>
            <a:ext cx="236668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0"/>
                </a:solidFill>
                <a:latin typeface="Calibri" pitchFamily="34" charset="0"/>
                <a:cs typeface="Calibri" pitchFamily="34" charset="-120"/>
              </a:rPr>
              <a:t>Stays Grounded</a:t>
            </a:r>
            <a:endParaRPr lang="en-US" sz="1200" dirty="0"/>
          </a:p>
        </p:txBody>
      </p:sp>
      <p:sp>
        <p:nvSpPr>
          <p:cNvPr id="924" name="StepDesc2"/>
          <p:cNvSpPr/>
          <p:nvPr/>
        </p:nvSpPr>
        <p:spPr>
          <a:xfrm>
            <a:off x="3362118" y="3420338"/>
            <a:ext cx="2366687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cs typeface="Calibri" pitchFamily="34" charset="-120"/>
              </a:rPr>
              <a:t>Every detail stays tied to what the patient actually said.</a:t>
            </a:r>
            <a:endParaRPr lang="en-US" sz="1000" dirty="0"/>
          </a:p>
        </p:txBody>
      </p:sp>
      <p:sp>
        <p:nvSpPr>
          <p:cNvPr id="930" name="StepCard3"/>
          <p:cNvSpPr/>
          <p:nvPr/>
        </p:nvSpPr>
        <p:spPr>
          <a:xfrm>
            <a:off x="6038805" y="2450338"/>
            <a:ext cx="2626687" cy="1900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1" name="StepIconBg3"/>
          <p:cNvSpPr/>
          <p:nvPr/>
        </p:nvSpPr>
        <p:spPr>
          <a:xfrm>
            <a:off x="7122148" y="2600338"/>
            <a:ext cx="460000" cy="460000"/>
          </a:xfrm>
          <a:prstGeom prst="ellipse">
            <a:avLst/>
          </a:prstGeom>
          <a:solidFill>
            <a:srgbClr val="1E39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2" name="StepIconGlyph3"/>
          <p:cNvSpPr txBox="1"/>
          <p:nvPr/>
        </p:nvSpPr>
        <p:spPr>
          <a:xfrm>
            <a:off x="7122148" y="2600338"/>
            <a:ext cx="4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✅</a:t>
            </a:r>
            <a:endParaRPr lang="en-US" sz="2000" dirty="0"/>
          </a:p>
        </p:txBody>
      </p:sp>
      <p:sp>
        <p:nvSpPr>
          <p:cNvPr id="933" name="StepTitle3"/>
          <p:cNvSpPr/>
          <p:nvPr/>
        </p:nvSpPr>
        <p:spPr>
          <a:xfrm>
            <a:off x="6168805" y="3120338"/>
            <a:ext cx="2366687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0"/>
                </a:solidFill>
                <a:latin typeface="Calibri" pitchFamily="34" charset="0"/>
                <a:cs typeface="Calibri" pitchFamily="34" charset="-120"/>
              </a:rPr>
              <a:t>Reviewed Before Saving</a:t>
            </a:r>
            <a:endParaRPr lang="en-US" sz="1200" dirty="0"/>
          </a:p>
        </p:txBody>
      </p:sp>
      <p:sp>
        <p:nvSpPr>
          <p:cNvPr id="934" name="StepDesc3"/>
          <p:cNvSpPr/>
          <p:nvPr/>
        </p:nvSpPr>
        <p:spPr>
          <a:xfrm>
            <a:off x="6168805" y="3420338"/>
            <a:ext cx="2366687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cs typeface="Calibri" pitchFamily="34" charset="-120"/>
              </a:rPr>
              <a:t>A healthcare worker checks the note before it's saved.</a:t>
            </a:r>
            <a:endParaRPr lang="en-US" sz="1000" dirty="0"/>
          </a:p>
        </p:txBody>
      </p:sp>
      <p:sp>
        <p:nvSpPr>
          <p:cNvPr id="87" name="Shape 2">
            <a:extLst>
              <a:ext uri="{FF2B5EF4-FFF2-40B4-BE49-F238E27FC236}">
                <a16:creationId xmlns:a16="http://schemas.microsoft.com/office/drawing/2014/main" id="{F84FD924-D856-D935-5AA6-0B5A142BF532}"/>
              </a:ext>
            </a:extLst>
          </p:cNvPr>
          <p:cNvSpPr/>
          <p:nvPr/>
        </p:nvSpPr>
        <p:spPr>
          <a:xfrm>
            <a:off x="1224210" y="1104085"/>
            <a:ext cx="640471" cy="65984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</a:rPr>
              <a:t>🗣</a:t>
            </a:r>
            <a:endParaRPr lang="en-US" sz="1800" dirty="0"/>
          </a:p>
        </p:txBody>
      </p:sp>
      <p:sp>
        <p:nvSpPr>
          <p:cNvPr id="89" name="Text 4">
            <a:extLst>
              <a:ext uri="{FF2B5EF4-FFF2-40B4-BE49-F238E27FC236}">
                <a16:creationId xmlns:a16="http://schemas.microsoft.com/office/drawing/2014/main" id="{BC42F6A5-5A5D-1161-DE9B-CD9D6D394814}"/>
              </a:ext>
            </a:extLst>
          </p:cNvPr>
          <p:cNvSpPr/>
          <p:nvPr/>
        </p:nvSpPr>
        <p:spPr>
          <a:xfrm>
            <a:off x="209249" y="1747877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speaks</a:t>
            </a:r>
            <a:endParaRPr lang="en-US" sz="1400" dirty="0"/>
          </a:p>
        </p:txBody>
      </p:sp>
      <p:sp>
        <p:nvSpPr>
          <p:cNvPr id="91" name="Text 5">
            <a:extLst>
              <a:ext uri="{FF2B5EF4-FFF2-40B4-BE49-F238E27FC236}">
                <a16:creationId xmlns:a16="http://schemas.microsoft.com/office/drawing/2014/main" id="{1CDFA6CD-7CB1-00B1-E351-103ED137C154}"/>
              </a:ext>
            </a:extLst>
          </p:cNvPr>
          <p:cNvSpPr/>
          <p:nvPr/>
        </p:nvSpPr>
        <p:spPr>
          <a:xfrm>
            <a:off x="197960" y="1859434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spoken in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Yoruba / Igbo / Hausa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Keyword Extraction and Doctor Review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588009" y="953769"/>
            <a:ext cx="7967980" cy="35560"/>
            <a:chOff x="588009" y="953769"/>
            <a:chExt cx="7967980" cy="35560"/>
          </a:xfrm>
        </p:grpSpPr>
        <p:sp>
          <p:nvSpPr>
            <p:cNvPr id="4" name="object 4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79552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7955280" y="22860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C7D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0" y="22860"/>
                  </a:moveTo>
                  <a:lnTo>
                    <a:pt x="7955280" y="22860"/>
                  </a:lnTo>
                  <a:lnTo>
                    <a:pt x="795528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94359" y="3767328"/>
            <a:ext cx="3566160" cy="42100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021715">
              <a:lnSpc>
                <a:spcPct val="100000"/>
              </a:lnSpc>
              <a:spcBef>
                <a:spcPts val="795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Vote</a:t>
            </a: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buffer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(5</a:t>
            </a:r>
            <a:r>
              <a:rPr sz="13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frames)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0" name="IconBg 200"/>
          <p:cNvSpPr/>
          <p:nvPr/>
        </p:nvSpPr>
        <p:spPr>
          <a:xfrm>
            <a:off x="1278769" y="1230000"/>
            <a:ext cx="620000" cy="62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IconGlyph 201"/>
          <p:cNvSpPr txBox="1"/>
          <p:nvPr/>
        </p:nvSpPr>
        <p:spPr>
          <a:xfrm>
            <a:off x="127876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🗣</a:t>
            </a:r>
            <a:endParaRPr lang="en-US" sz="2000" dirty="0"/>
          </a:p>
        </p:txBody>
      </p:sp>
      <p:sp>
        <p:nvSpPr>
          <p:cNvPr id="202" name="StepNum 202"/>
          <p:cNvSpPr/>
          <p:nvPr/>
        </p:nvSpPr>
        <p:spPr>
          <a:xfrm>
            <a:off x="170876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3" name="Label 203"/>
          <p:cNvSpPr/>
          <p:nvPr/>
        </p:nvSpPr>
        <p:spPr>
          <a:xfrm>
            <a:off x="59435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Patient Transcript</a:t>
            </a:r>
          </a:p>
        </p:txBody>
      </p:sp>
      <p:sp>
        <p:nvSpPr>
          <p:cNvPr id="204" name="Caption 204"/>
          <p:cNvSpPr/>
          <p:nvPr/>
        </p:nvSpPr>
        <p:spPr>
          <a:xfrm>
            <a:off x="64435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Raw transcript in the patient's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own language, before anything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is saved</a:t>
            </a:r>
          </a:p>
        </p:txBody>
      </p:sp>
      <p:sp>
        <p:nvSpPr>
          <p:cNvPr id="205" name="Arrow 205"/>
          <p:cNvSpPr/>
          <p:nvPr/>
        </p:nvSpPr>
        <p:spPr>
          <a:xfrm>
            <a:off x="2453179" y="1449000"/>
            <a:ext cx="260000" cy="182000"/>
          </a:xfrm>
          <a:prstGeom prst="rightArrow">
            <a:avLst/>
          </a:prstGeom>
          <a:solidFill>
            <a:srgbClr val="C7DD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IconBg 206"/>
          <p:cNvSpPr/>
          <p:nvPr/>
        </p:nvSpPr>
        <p:spPr>
          <a:xfrm>
            <a:off x="3267589" y="1230000"/>
            <a:ext cx="620000" cy="62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IconGlyph 207"/>
          <p:cNvSpPr txBox="1"/>
          <p:nvPr/>
        </p:nvSpPr>
        <p:spPr>
          <a:xfrm>
            <a:off x="326758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🔍</a:t>
            </a:r>
            <a:endParaRPr lang="en-US" sz="2000" dirty="0"/>
          </a:p>
        </p:txBody>
      </p:sp>
      <p:sp>
        <p:nvSpPr>
          <p:cNvPr id="208" name="StepNum 208"/>
          <p:cNvSpPr/>
          <p:nvPr/>
        </p:nvSpPr>
        <p:spPr>
          <a:xfrm>
            <a:off x="369758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09" name="Label 209"/>
          <p:cNvSpPr/>
          <p:nvPr/>
        </p:nvSpPr>
        <p:spPr>
          <a:xfrm>
            <a:off x="258317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Extract Keywords</a:t>
            </a:r>
          </a:p>
        </p:txBody>
      </p:sp>
      <p:sp>
        <p:nvSpPr>
          <p:cNvPr id="210" name="Caption 210"/>
          <p:cNvSpPr/>
          <p:nvPr/>
        </p:nvSpPr>
        <p:spPr>
          <a:xfrm>
            <a:off x="263317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Pulls chief complaint, severity,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history, and duration for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the doctor</a:t>
            </a:r>
          </a:p>
        </p:txBody>
      </p:sp>
      <p:sp>
        <p:nvSpPr>
          <p:cNvPr id="211" name="Arrow 211"/>
          <p:cNvSpPr/>
          <p:nvPr/>
        </p:nvSpPr>
        <p:spPr>
          <a:xfrm>
            <a:off x="4441999" y="1449000"/>
            <a:ext cx="260000" cy="182000"/>
          </a:xfrm>
          <a:prstGeom prst="rightArrow">
            <a:avLst/>
          </a:prstGeom>
          <a:solidFill>
            <a:srgbClr val="C7DD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IconBg 212"/>
          <p:cNvSpPr/>
          <p:nvPr/>
        </p:nvSpPr>
        <p:spPr>
          <a:xfrm>
            <a:off x="5256409" y="1230000"/>
            <a:ext cx="620000" cy="62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IconGlyph 213"/>
          <p:cNvSpPr txBox="1"/>
          <p:nvPr/>
        </p:nvSpPr>
        <p:spPr>
          <a:xfrm>
            <a:off x="525640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📋</a:t>
            </a:r>
            <a:endParaRPr lang="en-US" sz="2000" dirty="0"/>
          </a:p>
        </p:txBody>
      </p:sp>
      <p:sp>
        <p:nvSpPr>
          <p:cNvPr id="214" name="StepNum 214"/>
          <p:cNvSpPr/>
          <p:nvPr/>
        </p:nvSpPr>
        <p:spPr>
          <a:xfrm>
            <a:off x="568640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15" name="Label 215"/>
          <p:cNvSpPr/>
          <p:nvPr/>
        </p:nvSpPr>
        <p:spPr>
          <a:xfrm>
            <a:off x="457199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Build List</a:t>
            </a:r>
          </a:p>
        </p:txBody>
      </p:sp>
      <p:sp>
        <p:nvSpPr>
          <p:cNvPr id="216" name="Caption 216"/>
          <p:cNvSpPr/>
          <p:nvPr/>
        </p:nvSpPr>
        <p:spPr>
          <a:xfrm>
            <a:off x="462199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Extracted terms are compiled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into a Python list of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keywords</a:t>
            </a:r>
          </a:p>
        </p:txBody>
      </p:sp>
      <p:sp>
        <p:nvSpPr>
          <p:cNvPr id="217" name="Arrow 217"/>
          <p:cNvSpPr/>
          <p:nvPr/>
        </p:nvSpPr>
        <p:spPr>
          <a:xfrm>
            <a:off x="6430819" y="1449000"/>
            <a:ext cx="260000" cy="182000"/>
          </a:xfrm>
          <a:prstGeom prst="rightArrow">
            <a:avLst/>
          </a:prstGeom>
          <a:solidFill>
            <a:srgbClr val="C7DD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IconBg 218"/>
          <p:cNvSpPr/>
          <p:nvPr/>
        </p:nvSpPr>
        <p:spPr>
          <a:xfrm>
            <a:off x="7245229" y="1230000"/>
            <a:ext cx="620000" cy="62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IconGlyph 219"/>
          <p:cNvSpPr txBox="1"/>
          <p:nvPr/>
        </p:nvSpPr>
        <p:spPr>
          <a:xfrm>
            <a:off x="7245229" y="123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{ }</a:t>
            </a:r>
            <a:endParaRPr lang="en-US" sz="2000" dirty="0"/>
          </a:p>
        </p:txBody>
      </p:sp>
      <p:sp>
        <p:nvSpPr>
          <p:cNvPr id="220" name="StepNum 220"/>
          <p:cNvSpPr/>
          <p:nvPr/>
        </p:nvSpPr>
        <p:spPr>
          <a:xfrm>
            <a:off x="7675229" y="1190000"/>
            <a:ext cx="228600" cy="228600"/>
          </a:xfrm>
          <a:prstGeom prst="ellipse">
            <a:avLst/>
          </a:prstGeom>
          <a:solidFill>
            <a:srgbClr val="1E395F"/>
          </a:solidFill>
          <a:ln w="12700">
            <a:solidFill>
              <a:srgbClr val="FFFFFF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21" name="Label 221"/>
          <p:cNvSpPr/>
          <p:nvPr/>
        </p:nvSpPr>
        <p:spPr>
          <a:xfrm>
            <a:off x="6560819" y="1940000"/>
            <a:ext cx="19888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Convert to JSON</a:t>
            </a:r>
          </a:p>
        </p:txBody>
      </p:sp>
      <p:sp>
        <p:nvSpPr>
          <p:cNvPr id="222" name="Caption 222"/>
          <p:cNvSpPr/>
          <p:nvPr/>
        </p:nvSpPr>
        <p:spPr>
          <a:xfrm>
            <a:off x="6610819" y="2270000"/>
            <a:ext cx="188882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json.dumps() formats the 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to fit the extracted_keywords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C7A7E"/>
                </a:solidFill>
                <a:latin typeface="Calibri"/>
                <a:cs typeface="Calibri"/>
              </a:rPr>
              <a:t>column</a:t>
            </a:r>
          </a:p>
        </p:txBody>
      </p:sp>
      <p:sp>
        <p:nvSpPr>
          <p:cNvPr id="223" name="FooterCard 223"/>
          <p:cNvSpPr/>
          <p:nvPr/>
        </p:nvSpPr>
        <p:spPr>
          <a:xfrm>
            <a:off x="594359" y="3720000"/>
            <a:ext cx="7955280" cy="9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4" name="IconBg 224"/>
          <p:cNvSpPr/>
          <p:nvPr/>
        </p:nvSpPr>
        <p:spPr>
          <a:xfrm>
            <a:off x="814359" y="3930000"/>
            <a:ext cx="480000" cy="480000"/>
          </a:xfrm>
          <a:prstGeom prst="ellipse">
            <a:avLst/>
          </a:prstGeom>
          <a:solidFill>
            <a:srgbClr val="1E39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5" name="IconGlyph 225"/>
          <p:cNvSpPr txBox="1"/>
          <p:nvPr/>
        </p:nvSpPr>
        <p:spPr>
          <a:xfrm>
            <a:off x="814359" y="3930000"/>
            <a:ext cx="4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🩺</a:t>
            </a:r>
            <a:endParaRPr lang="en-US" sz="2000" dirty="0"/>
          </a:p>
        </p:txBody>
      </p:sp>
      <p:sp>
        <p:nvSpPr>
          <p:cNvPr id="226" name="FooterText 226"/>
          <p:cNvSpPr/>
          <p:nvPr/>
        </p:nvSpPr>
        <p:spPr>
          <a:xfrm>
            <a:off x="1494359" y="3720000"/>
            <a:ext cx="685528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95F"/>
                </a:solidFill>
                <a:latin typeface="Calibri"/>
                <a:cs typeface="Calibri"/>
              </a:rPr>
              <a:t>Doctor review: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cs typeface="Calibri"/>
              </a:rPr>
              <a:t>before the record is saved, the doctor checks the extracted keywords in the notebook for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332740" cy="5156200"/>
            <a:chOff x="-6350" y="-6350"/>
            <a:chExt cx="33274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1645920"/>
              <a:ext cx="320040" cy="3497579"/>
            </a:xfrm>
            <a:custGeom>
              <a:avLst/>
              <a:gdLst/>
              <a:ahLst/>
              <a:cxnLst/>
              <a:rect l="l" t="t" r="r" b="b"/>
              <a:pathLst>
                <a:path w="320040" h="3497579">
                  <a:moveTo>
                    <a:pt x="0" y="3497579"/>
                  </a:moveTo>
                  <a:lnTo>
                    <a:pt x="320040" y="3497579"/>
                  </a:lnTo>
                  <a:lnTo>
                    <a:pt x="320040" y="0"/>
                  </a:lnTo>
                  <a:lnTo>
                    <a:pt x="0" y="0"/>
                  </a:lnTo>
                  <a:lnTo>
                    <a:pt x="0" y="3497579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136"/>
              <a:ext cx="320040" cy="5137785"/>
            </a:xfrm>
            <a:custGeom>
              <a:avLst/>
              <a:gdLst/>
              <a:ahLst/>
              <a:cxnLst/>
              <a:rect l="l" t="t" r="r" b="b"/>
              <a:pathLst>
                <a:path w="320040" h="5137785">
                  <a:moveTo>
                    <a:pt x="320040" y="5137363"/>
                  </a:moveTo>
                  <a:lnTo>
                    <a:pt x="320040" y="0"/>
                  </a:lnTo>
                  <a:lnTo>
                    <a:pt x="0" y="0"/>
                  </a:lnTo>
                  <a:lnTo>
                    <a:pt x="0" y="5137363"/>
                  </a:lnTo>
                </a:path>
              </a:pathLst>
            </a:custGeom>
            <a:ln w="12700">
              <a:solidFill>
                <a:srgbClr val="F4F6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320040" cy="1645920"/>
            </a:xfrm>
            <a:custGeom>
              <a:avLst/>
              <a:gdLst/>
              <a:ahLst/>
              <a:cxnLst/>
              <a:rect l="l" t="t" r="r" b="b"/>
              <a:pathLst>
                <a:path w="320040" h="1645920">
                  <a:moveTo>
                    <a:pt x="320040" y="0"/>
                  </a:moveTo>
                  <a:lnTo>
                    <a:pt x="0" y="0"/>
                  </a:lnTo>
                  <a:lnTo>
                    <a:pt x="0" y="1645920"/>
                  </a:lnTo>
                  <a:lnTo>
                    <a:pt x="320040" y="1645920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320040" cy="1645920"/>
            </a:xfrm>
            <a:custGeom>
              <a:avLst/>
              <a:gdLst/>
              <a:ahLst/>
              <a:cxnLst/>
              <a:rect l="l" t="t" r="r" b="b"/>
              <a:pathLst>
                <a:path w="320040" h="1645920">
                  <a:moveTo>
                    <a:pt x="0" y="1645920"/>
                  </a:moveTo>
                  <a:lnTo>
                    <a:pt x="320040" y="1645920"/>
                  </a:lnTo>
                  <a:lnTo>
                    <a:pt x="320040" y="0"/>
                  </a:lnTo>
                  <a:lnTo>
                    <a:pt x="0" y="0"/>
                  </a:lnTo>
                  <a:lnTo>
                    <a:pt x="0" y="1645920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88009" y="194818"/>
            <a:ext cx="2755900" cy="360680"/>
            <a:chOff x="588009" y="194818"/>
            <a:chExt cx="2755900" cy="360680"/>
          </a:xfrm>
        </p:grpSpPr>
        <p:sp>
          <p:nvSpPr>
            <p:cNvPr id="8" name="object 8"/>
            <p:cNvSpPr/>
            <p:nvPr/>
          </p:nvSpPr>
          <p:spPr>
            <a:xfrm>
              <a:off x="594359" y="201168"/>
              <a:ext cx="2743200" cy="347980"/>
            </a:xfrm>
            <a:custGeom>
              <a:avLst/>
              <a:gdLst/>
              <a:ahLst/>
              <a:cxnLst/>
              <a:rect l="l" t="t" r="r" b="b"/>
              <a:pathLst>
                <a:path w="2743200" h="347980">
                  <a:moveTo>
                    <a:pt x="2569464" y="0"/>
                  </a:moveTo>
                  <a:lnTo>
                    <a:pt x="173736" y="0"/>
                  </a:ln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2"/>
                  </a:lnTo>
                  <a:lnTo>
                    <a:pt x="2569464" y="347472"/>
                  </a:lnTo>
                  <a:lnTo>
                    <a:pt x="2615670" y="341270"/>
                  </a:lnTo>
                  <a:lnTo>
                    <a:pt x="2657178" y="323765"/>
                  </a:lnTo>
                  <a:lnTo>
                    <a:pt x="2692336" y="296608"/>
                  </a:lnTo>
                  <a:lnTo>
                    <a:pt x="2719493" y="261450"/>
                  </a:lnTo>
                  <a:lnTo>
                    <a:pt x="2736998" y="219942"/>
                  </a:lnTo>
                  <a:lnTo>
                    <a:pt x="2743200" y="173736"/>
                  </a:lnTo>
                  <a:lnTo>
                    <a:pt x="2736998" y="127529"/>
                  </a:lnTo>
                  <a:lnTo>
                    <a:pt x="2719493" y="86021"/>
                  </a:lnTo>
                  <a:lnTo>
                    <a:pt x="2692336" y="50863"/>
                  </a:lnTo>
                  <a:lnTo>
                    <a:pt x="2657178" y="23706"/>
                  </a:lnTo>
                  <a:lnTo>
                    <a:pt x="2615670" y="6201"/>
                  </a:lnTo>
                  <a:lnTo>
                    <a:pt x="2569464" y="0"/>
                  </a:lnTo>
                  <a:close/>
                </a:path>
              </a:pathLst>
            </a:custGeom>
            <a:solidFill>
              <a:srgbClr val="EDF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59" y="201168"/>
              <a:ext cx="2743200" cy="347980"/>
            </a:xfrm>
            <a:custGeom>
              <a:avLst/>
              <a:gdLst/>
              <a:ahLst/>
              <a:cxnLst/>
              <a:rect l="l" t="t" r="r" b="b"/>
              <a:pathLst>
                <a:path w="2743200" h="347980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569464" y="0"/>
                  </a:lnTo>
                  <a:lnTo>
                    <a:pt x="2615670" y="6201"/>
                  </a:lnTo>
                  <a:lnTo>
                    <a:pt x="2657178" y="23706"/>
                  </a:lnTo>
                  <a:lnTo>
                    <a:pt x="2692336" y="50863"/>
                  </a:lnTo>
                  <a:lnTo>
                    <a:pt x="2719493" y="86021"/>
                  </a:lnTo>
                  <a:lnTo>
                    <a:pt x="2736998" y="127529"/>
                  </a:lnTo>
                  <a:lnTo>
                    <a:pt x="2743200" y="173736"/>
                  </a:lnTo>
                  <a:lnTo>
                    <a:pt x="2736998" y="219942"/>
                  </a:lnTo>
                  <a:lnTo>
                    <a:pt x="2719493" y="261450"/>
                  </a:lnTo>
                  <a:lnTo>
                    <a:pt x="2692336" y="296608"/>
                  </a:lnTo>
                  <a:lnTo>
                    <a:pt x="2657178" y="323765"/>
                  </a:lnTo>
                  <a:lnTo>
                    <a:pt x="2615670" y="341270"/>
                  </a:lnTo>
                  <a:lnTo>
                    <a:pt x="2569464" y="347472"/>
                  </a:lnTo>
                  <a:lnTo>
                    <a:pt x="173736" y="347472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A8D4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55166" y="268935"/>
            <a:ext cx="101981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100" b="1" dirty="0">
                <a:solidFill>
                  <a:srgbClr val="2D8A5A"/>
                </a:solidFill>
                <a:latin typeface="Calibri"/>
                <a:cs typeface="Calibri"/>
              </a:rPr>
              <a:t>DATA STORAGE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81659" y="688593"/>
            <a:ext cx="3280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How Data Gets Stored</a:t>
            </a:r>
            <a:endParaRPr spc="-1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BA9DFC4-60B2-81E0-7F74-9FC3280EBCEC}"/>
              </a:ext>
            </a:extLst>
          </p:cNvPr>
          <p:cNvSpPr txBox="1"/>
          <p:nvPr/>
        </p:nvSpPr>
        <p:spPr>
          <a:xfrm>
            <a:off x="578837" y="283007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unique patient ID links every visit, so the system keeps a traceable history instead of isolated records.</a:t>
            </a:r>
          </a:p>
        </p:txBody>
      </p:sp>
      <p:sp>
        <p:nvSpPr>
          <p:cNvPr id="501" name="FuncCardBg1"/>
          <p:cNvSpPr/>
          <p:nvPr/>
        </p:nvSpPr>
        <p:spPr>
          <a:xfrm>
            <a:off x="581659" y="1261871"/>
            <a:ext cx="224028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2" name="FuncIconBg1"/>
          <p:cNvSpPr/>
          <p:nvPr/>
        </p:nvSpPr>
        <p:spPr>
          <a:xfrm>
            <a:off x="1511799" y="1331871"/>
            <a:ext cx="380000" cy="38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FuncIconGlyph1"/>
          <p:cNvSpPr txBox="1"/>
          <p:nvPr/>
        </p:nvSpPr>
        <p:spPr>
          <a:xfrm>
            <a:off x="1511799" y="1331871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🗄</a:t>
            </a:r>
            <a:endParaRPr lang="en-US" sz="1800" dirty="0"/>
          </a:p>
        </p:txBody>
      </p:sp>
      <p:sp>
        <p:nvSpPr>
          <p:cNvPr id="504" name="FuncTitle1"/>
          <p:cNvSpPr/>
          <p:nvPr/>
        </p:nvSpPr>
        <p:spPr>
          <a:xfrm>
            <a:off x="671659" y="1741871"/>
            <a:ext cx="20602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 pitchFamily="34" charset="0"/>
                <a:cs typeface="Calibri" pitchFamily="34" charset="-120"/>
              </a:rPr>
              <a:t>Set Up Storage</a:t>
            </a:r>
            <a:endParaRPr lang="en-US" sz="1300" dirty="0"/>
          </a:p>
        </p:txBody>
      </p:sp>
      <p:sp>
        <p:nvSpPr>
          <p:cNvPr id="505" name="FuncDesc1"/>
          <p:cNvSpPr/>
          <p:nvPr/>
        </p:nvSpPr>
        <p:spPr>
          <a:xfrm>
            <a:off x="671659" y="1986871"/>
            <a:ext cx="20602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-120"/>
              </a:rPr>
              <a:t>Creates the two data tables on first run.</a:t>
            </a:r>
            <a:endParaRPr lang="en-US" sz="1000" dirty="0"/>
          </a:p>
        </p:txBody>
      </p:sp>
      <p:sp>
        <p:nvSpPr>
          <p:cNvPr id="506" name="FuncCode1"/>
          <p:cNvSpPr/>
          <p:nvPr/>
        </p:nvSpPr>
        <p:spPr>
          <a:xfrm>
            <a:off x="671659" y="2281871"/>
            <a:ext cx="20602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7B0"/>
                </a:solidFill>
                <a:latin typeface="Consolas" pitchFamily="49" charset="0"/>
                <a:cs typeface="Consolas"/>
              </a:rPr>
              <a:t>init_db()</a:t>
            </a:r>
            <a:endParaRPr lang="en-US" sz="900" dirty="0"/>
          </a:p>
        </p:txBody>
      </p:sp>
      <p:sp>
        <p:nvSpPr>
          <p:cNvPr id="12" name="FuncCardBg2"/>
          <p:cNvSpPr/>
          <p:nvPr/>
        </p:nvSpPr>
        <p:spPr>
          <a:xfrm>
            <a:off x="3108845" y="1261871"/>
            <a:ext cx="224028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FuncIconBg2"/>
          <p:cNvSpPr/>
          <p:nvPr/>
        </p:nvSpPr>
        <p:spPr>
          <a:xfrm>
            <a:off x="4038985" y="1331871"/>
            <a:ext cx="380000" cy="38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uncIconGlyph2"/>
          <p:cNvSpPr txBox="1"/>
          <p:nvPr/>
        </p:nvSpPr>
        <p:spPr>
          <a:xfrm>
            <a:off x="4038985" y="1331871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📝</a:t>
            </a:r>
            <a:endParaRPr lang="en-US" sz="1800" dirty="0"/>
          </a:p>
        </p:txBody>
      </p:sp>
      <p:sp>
        <p:nvSpPr>
          <p:cNvPr id="15" name="FuncTitle2"/>
          <p:cNvSpPr/>
          <p:nvPr/>
        </p:nvSpPr>
        <p:spPr>
          <a:xfrm>
            <a:off x="3198845" y="1741871"/>
            <a:ext cx="20602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 pitchFamily="34" charset="0"/>
                <a:cs typeface="Calibri" pitchFamily="34" charset="-120"/>
              </a:rPr>
              <a:t>Save a Visit</a:t>
            </a:r>
            <a:endParaRPr lang="en-US" sz="1300" dirty="0"/>
          </a:p>
        </p:txBody>
      </p:sp>
      <p:sp>
        <p:nvSpPr>
          <p:cNvPr id="16" name="FuncDesc2"/>
          <p:cNvSpPr/>
          <p:nvPr/>
        </p:nvSpPr>
        <p:spPr>
          <a:xfrm>
            <a:off x="3198845" y="1986871"/>
            <a:ext cx="20602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-120"/>
              </a:rPr>
              <a:t>Adds a new patient and logs their visit.</a:t>
            </a:r>
            <a:endParaRPr lang="en-US" sz="1000" dirty="0"/>
          </a:p>
        </p:txBody>
      </p:sp>
      <p:sp>
        <p:nvSpPr>
          <p:cNvPr id="507" name="FuncCode2"/>
          <p:cNvSpPr/>
          <p:nvPr/>
        </p:nvSpPr>
        <p:spPr>
          <a:xfrm>
            <a:off x="3198845" y="2281871"/>
            <a:ext cx="20602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7B0"/>
                </a:solidFill>
                <a:latin typeface="Consolas" pitchFamily="49" charset="0"/>
                <a:cs typeface="Consolas"/>
              </a:rPr>
              <a:t>save_patient_record()</a:t>
            </a:r>
            <a:endParaRPr lang="en-US" sz="900" dirty="0"/>
          </a:p>
        </p:txBody>
      </p:sp>
      <p:sp>
        <p:nvSpPr>
          <p:cNvPr id="17" name="FuncCardBg3"/>
          <p:cNvSpPr/>
          <p:nvPr/>
        </p:nvSpPr>
        <p:spPr>
          <a:xfrm>
            <a:off x="5590988" y="1261871"/>
            <a:ext cx="224028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FuncIconBg3"/>
          <p:cNvSpPr/>
          <p:nvPr/>
        </p:nvSpPr>
        <p:spPr>
          <a:xfrm>
            <a:off x="6521128" y="1331871"/>
            <a:ext cx="380000" cy="380000"/>
          </a:xfrm>
          <a:prstGeom prst="ellipse">
            <a:avLst/>
          </a:prstGeom>
          <a:solidFill>
            <a:srgbClr val="1E39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uncIconGlyph3"/>
          <p:cNvSpPr txBox="1"/>
          <p:nvPr/>
        </p:nvSpPr>
        <p:spPr>
          <a:xfrm>
            <a:off x="6521128" y="1331871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🕓</a:t>
            </a:r>
            <a:endParaRPr lang="en-US" sz="1800" dirty="0"/>
          </a:p>
        </p:txBody>
      </p:sp>
      <p:sp>
        <p:nvSpPr>
          <p:cNvPr id="20" name="FuncTitle3"/>
          <p:cNvSpPr/>
          <p:nvPr/>
        </p:nvSpPr>
        <p:spPr>
          <a:xfrm>
            <a:off x="5680988" y="1741871"/>
            <a:ext cx="20602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95F"/>
                </a:solidFill>
                <a:latin typeface="Calibri" pitchFamily="34" charset="0"/>
                <a:cs typeface="Calibri" pitchFamily="34" charset="-120"/>
              </a:rPr>
              <a:t>Look Up History</a:t>
            </a:r>
            <a:endParaRPr lang="en-US" sz="1300" dirty="0"/>
          </a:p>
        </p:txBody>
      </p:sp>
      <p:sp>
        <p:nvSpPr>
          <p:cNvPr id="21" name="FuncDesc3"/>
          <p:cNvSpPr/>
          <p:nvPr/>
        </p:nvSpPr>
        <p:spPr>
          <a:xfrm>
            <a:off x="5680988" y="1986871"/>
            <a:ext cx="20602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-120"/>
              </a:rPr>
              <a:t>Looks up a patient's visits, newest first.</a:t>
            </a:r>
            <a:endParaRPr lang="en-US" sz="1000" dirty="0"/>
          </a:p>
        </p:txBody>
      </p:sp>
      <p:sp>
        <p:nvSpPr>
          <p:cNvPr id="508" name="FuncCode3"/>
          <p:cNvSpPr/>
          <p:nvPr/>
        </p:nvSpPr>
        <p:spPr>
          <a:xfrm>
            <a:off x="5680988" y="2281871"/>
            <a:ext cx="20602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7B0"/>
                </a:solidFill>
                <a:latin typeface="Consolas" pitchFamily="49" charset="0"/>
                <a:cs typeface="Consolas"/>
              </a:rPr>
              <a:t>get_patient_history()</a:t>
            </a:r>
            <a:endParaRPr lang="en-US" sz="900" dirty="0"/>
          </a:p>
        </p:txBody>
      </p:sp>
      <p:sp>
        <p:nvSpPr>
          <p:cNvPr id="300" name="SectionLabel 300"/>
          <p:cNvSpPr/>
          <p:nvPr/>
        </p:nvSpPr>
        <p:spPr>
          <a:xfrm>
            <a:off x="5300000" y="2700000"/>
            <a:ext cx="3200000" cy="2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buNone/>
            </a:pPr>
            <a:r>
              <a:rPr lang="en-US" sz="1050" b="1" dirty="0">
                <a:solidFill>
                  <a:srgbClr val="1E395F"/>
                </a:solidFill>
                <a:latin typeface="Calibri"/>
                <a:cs typeface="Calibri"/>
              </a:rPr>
              <a:t>Two linked tables</a:t>
            </a:r>
          </a:p>
        </p:txBody>
      </p:sp>
      <p:sp>
        <p:nvSpPr>
          <p:cNvPr id="301" name="TableBox 301"/>
          <p:cNvSpPr/>
          <p:nvPr/>
        </p:nvSpPr>
        <p:spPr>
          <a:xfrm>
            <a:off x="5300000" y="3080000"/>
            <a:ext cx="1275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txBody>
          <a:bodyPr lIns="91440" tIns="60000" rIns="45720" bIns="4572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395F"/>
                </a:solidFill>
                <a:latin typeface="Calibri"/>
                <a:cs typeface="Calibri"/>
              </a:rPr>
              <a:t>patients</a:t>
            </a:r>
          </a:p>
          <a:p>
            <a:pPr marL="0" indent="0">
              <a:lnSpc>
                <a:spcPct val="130000"/>
              </a:lnSpc>
              <a:buChar char="•"/>
            </a:pPr>
            <a:r>
              <a:rPr lang="en-US" sz="950" dirty="0">
                <a:solidFill>
                  <a:srgbClr val="5C7A7E"/>
                </a:solidFill>
                <a:latin typeface="Calibri"/>
                <a:cs typeface="Calibri"/>
              </a:rPr>
              <a:t>patient_id  (PK)</a:t>
            </a:r>
          </a:p>
          <a:p>
            <a:pPr marL="0" indent="0">
              <a:lnSpc>
                <a:spcPct val="130000"/>
              </a:lnSpc>
              <a:buChar char="•"/>
            </a:pPr>
            <a:r>
              <a:rPr lang="en-US" sz="950" dirty="0">
                <a:solidFill>
                  <a:srgbClr val="5C7A7E"/>
                </a:solidFill>
                <a:latin typeface="Calibri"/>
                <a:cs typeface="Calibri"/>
              </a:rPr>
              <a:t>name</a:t>
            </a:r>
          </a:p>
          <a:p>
            <a:pPr marL="0" indent="0">
              <a:lnSpc>
                <a:spcPct val="130000"/>
              </a:lnSpc>
              <a:buChar char="•"/>
            </a:pPr>
            <a:r>
              <a:rPr lang="en-US" sz="950" dirty="0">
                <a:solidFill>
                  <a:srgbClr val="5C7A7E"/>
                </a:solidFill>
                <a:latin typeface="Calibri"/>
                <a:cs typeface="Calibri"/>
              </a:rPr>
              <a:t>language</a:t>
            </a:r>
          </a:p>
        </p:txBody>
      </p:sp>
      <p:sp>
        <p:nvSpPr>
          <p:cNvPr id="302" name="TableBox 302"/>
          <p:cNvSpPr/>
          <p:nvPr/>
        </p:nvSpPr>
        <p:spPr>
          <a:xfrm>
            <a:off x="7075000" y="3080000"/>
            <a:ext cx="1275000" cy="1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7DEE6"/>
            </a:solidFill>
          </a:ln>
        </p:spPr>
        <p:txBody>
          <a:bodyPr lIns="91440" tIns="60000" rIns="45720" bIns="4572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395F"/>
                </a:solidFill>
                <a:latin typeface="Calibri"/>
                <a:cs typeface="Calibri"/>
              </a:rPr>
              <a:t>visits</a:t>
            </a:r>
          </a:p>
          <a:p>
            <a:pPr marL="0" indent="0">
              <a:lnSpc>
                <a:spcPct val="130000"/>
              </a:lnSpc>
              <a:buChar char="•"/>
            </a:pPr>
            <a:r>
              <a:rPr lang="en-US" sz="950" dirty="0">
                <a:solidFill>
                  <a:srgbClr val="5C7A7E"/>
                </a:solidFill>
                <a:latin typeface="Calibri"/>
                <a:cs typeface="Calibri"/>
              </a:rPr>
              <a:t>visit_id  (PK)</a:t>
            </a:r>
          </a:p>
          <a:p>
            <a:pPr marL="0" indent="0">
              <a:lnSpc>
                <a:spcPct val="130000"/>
              </a:lnSpc>
              <a:buChar char="•"/>
            </a:pPr>
            <a:r>
              <a:rPr lang="en-US" sz="950" dirty="0">
                <a:solidFill>
                  <a:srgbClr val="5C7A7E"/>
                </a:solidFill>
                <a:latin typeface="Calibri"/>
                <a:cs typeface="Calibri"/>
              </a:rPr>
              <a:t>patient_id  (FK)</a:t>
            </a:r>
          </a:p>
          <a:p>
            <a:pPr marL="0" indent="0">
              <a:lnSpc>
                <a:spcPct val="130000"/>
              </a:lnSpc>
              <a:buChar char="•"/>
            </a:pPr>
            <a:r>
              <a:rPr lang="en-US" sz="950" dirty="0">
                <a:solidFill>
                  <a:srgbClr val="5C7A7E"/>
                </a:solidFill>
                <a:latin typeface="Calibri"/>
                <a:cs typeface="Calibri"/>
              </a:rPr>
              <a:t>extracted_keywords</a:t>
            </a:r>
          </a:p>
          <a:p>
            <a:pPr marL="0" indent="0">
              <a:lnSpc>
                <a:spcPct val="130000"/>
              </a:lnSpc>
              <a:buChar char="•"/>
            </a:pPr>
            <a:r>
              <a:rPr lang="en-US" sz="950" dirty="0">
                <a:solidFill>
                  <a:srgbClr val="5C7A7E"/>
                </a:solidFill>
                <a:latin typeface="Calibri"/>
                <a:cs typeface="Calibri"/>
              </a:rPr>
              <a:t>visit_date</a:t>
            </a:r>
          </a:p>
        </p:txBody>
      </p:sp>
      <p:cxnSp>
        <p:nvCxnSpPr>
          <p:cNvPr id="303" name="Connector 303"/>
          <p:cNvCxnSpPr/>
          <p:nvPr/>
        </p:nvCxnSpPr>
        <p:spPr>
          <a:xfrm>
            <a:off x="6575000" y="3580000"/>
            <a:ext cx="500000" cy="0"/>
          </a:xfrm>
          <a:prstGeom prst="straightConnector1">
            <a:avLst/>
          </a:prstGeom>
          <a:ln w="19050">
            <a:solidFill>
              <a:srgbClr val="00A896"/>
            </a:solidFill>
            <a:tailEnd type="triangle" w="med" len="med"/>
          </a:ln>
        </p:spPr>
      </p:cxnSp>
      <p:sp>
        <p:nvSpPr>
          <p:cNvPr id="304" name="ConnLabel 304"/>
          <p:cNvSpPr/>
          <p:nvPr/>
        </p:nvSpPr>
        <p:spPr>
          <a:xfrm>
            <a:off x="6475000" y="332000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/>
                <a:cs typeface="Calibri"/>
              </a:rPr>
              <a:t>patient_id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009" y="194818"/>
            <a:ext cx="2298700" cy="360680"/>
            <a:chOff x="588009" y="194818"/>
            <a:chExt cx="2298700" cy="360680"/>
          </a:xfrm>
        </p:grpSpPr>
        <p:sp>
          <p:nvSpPr>
            <p:cNvPr id="3" name="object 3"/>
            <p:cNvSpPr/>
            <p:nvPr/>
          </p:nvSpPr>
          <p:spPr>
            <a:xfrm>
              <a:off x="594359" y="201168"/>
              <a:ext cx="2286000" cy="347980"/>
            </a:xfrm>
            <a:custGeom>
              <a:avLst/>
              <a:gdLst/>
              <a:ahLst/>
              <a:cxnLst/>
              <a:rect l="l" t="t" r="r" b="b"/>
              <a:pathLst>
                <a:path w="2286000" h="347980">
                  <a:moveTo>
                    <a:pt x="2112264" y="0"/>
                  </a:moveTo>
                  <a:lnTo>
                    <a:pt x="173736" y="0"/>
                  </a:ln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2"/>
                  </a:lnTo>
                  <a:lnTo>
                    <a:pt x="2112264" y="347472"/>
                  </a:lnTo>
                  <a:lnTo>
                    <a:pt x="2158470" y="341270"/>
                  </a:lnTo>
                  <a:lnTo>
                    <a:pt x="2199978" y="323765"/>
                  </a:lnTo>
                  <a:lnTo>
                    <a:pt x="2235136" y="296608"/>
                  </a:lnTo>
                  <a:lnTo>
                    <a:pt x="2262293" y="261450"/>
                  </a:lnTo>
                  <a:lnTo>
                    <a:pt x="2279798" y="219942"/>
                  </a:lnTo>
                  <a:lnTo>
                    <a:pt x="2286000" y="173736"/>
                  </a:lnTo>
                  <a:lnTo>
                    <a:pt x="2279798" y="127529"/>
                  </a:lnTo>
                  <a:lnTo>
                    <a:pt x="2262293" y="86021"/>
                  </a:lnTo>
                  <a:lnTo>
                    <a:pt x="2235136" y="50863"/>
                  </a:lnTo>
                  <a:lnTo>
                    <a:pt x="2199978" y="23706"/>
                  </a:lnTo>
                  <a:lnTo>
                    <a:pt x="2158470" y="6201"/>
                  </a:lnTo>
                  <a:lnTo>
                    <a:pt x="2112264" y="0"/>
                  </a:lnTo>
                  <a:close/>
                </a:path>
              </a:pathLst>
            </a:custGeom>
            <a:solidFill>
              <a:srgbClr val="E8F0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594359" y="201168"/>
              <a:ext cx="2286000" cy="347980"/>
            </a:xfrm>
            <a:custGeom>
              <a:avLst/>
              <a:gdLst/>
              <a:ahLst/>
              <a:cxnLst/>
              <a:rect l="l" t="t" r="r" b="b"/>
              <a:pathLst>
                <a:path w="2286000" h="347980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112264" y="0"/>
                  </a:lnTo>
                  <a:lnTo>
                    <a:pt x="2158470" y="6201"/>
                  </a:lnTo>
                  <a:lnTo>
                    <a:pt x="2199978" y="23706"/>
                  </a:lnTo>
                  <a:lnTo>
                    <a:pt x="2235136" y="50863"/>
                  </a:lnTo>
                  <a:lnTo>
                    <a:pt x="2262293" y="86021"/>
                  </a:lnTo>
                  <a:lnTo>
                    <a:pt x="2279798" y="127529"/>
                  </a:lnTo>
                  <a:lnTo>
                    <a:pt x="2286000" y="173736"/>
                  </a:lnTo>
                  <a:lnTo>
                    <a:pt x="2279798" y="219942"/>
                  </a:lnTo>
                  <a:lnTo>
                    <a:pt x="2262293" y="261450"/>
                  </a:lnTo>
                  <a:lnTo>
                    <a:pt x="2235136" y="296608"/>
                  </a:lnTo>
                  <a:lnTo>
                    <a:pt x="2199978" y="323765"/>
                  </a:lnTo>
                  <a:lnTo>
                    <a:pt x="2158470" y="341270"/>
                  </a:lnTo>
                  <a:lnTo>
                    <a:pt x="2112264" y="347472"/>
                  </a:lnTo>
                  <a:lnTo>
                    <a:pt x="173736" y="347472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6"/>
                  </a:lnTo>
                  <a:close/>
                </a:path>
              </a:pathLst>
            </a:custGeom>
            <a:ln w="12699">
              <a:solidFill>
                <a:srgbClr val="F5C5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71806" y="212412"/>
            <a:ext cx="1534262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2C5F8A"/>
                </a:solidFill>
                <a:latin typeface="Calibri"/>
                <a:cs typeface="Calibri"/>
              </a:rPr>
              <a:t>RESULTS</a:t>
            </a:r>
            <a:r>
              <a:rPr lang="en-US" sz="1100" b="1" spc="-10" dirty="0">
                <a:solidFill>
                  <a:srgbClr val="2C5F8A"/>
                </a:solidFill>
                <a:latin typeface="Calibri"/>
                <a:cs typeface="Calibri"/>
              </a:rPr>
              <a:t> &amp; EVALUATION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1659" y="688593"/>
            <a:ext cx="7386321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Measuring Transcription Accuracy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88009" y="1292097"/>
            <a:ext cx="7967980" cy="35560"/>
            <a:chOff x="588009" y="1292097"/>
            <a:chExt cx="7967980" cy="35560"/>
          </a:xfrm>
        </p:grpSpPr>
        <p:sp>
          <p:nvSpPr>
            <p:cNvPr id="8" name="object 8"/>
            <p:cNvSpPr/>
            <p:nvPr/>
          </p:nvSpPr>
          <p:spPr>
            <a:xfrm>
              <a:off x="594359" y="1298447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79552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7955280" y="22860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C7D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59" y="1298447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0" y="22860"/>
                  </a:moveTo>
                  <a:lnTo>
                    <a:pt x="7955280" y="22860"/>
                  </a:lnTo>
                  <a:lnTo>
                    <a:pt x="795528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0" name="WerDefBg"/>
          <p:cNvSpPr/>
          <p:nvPr/>
        </p:nvSpPr>
        <p:spPr>
          <a:xfrm>
            <a:off x="581659" y="1380000"/>
            <a:ext cx="3860341" cy="1980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1" name="WerDefTitle"/>
          <p:cNvSpPr txBox="1"/>
          <p:nvPr/>
        </p:nvSpPr>
        <p:spPr>
          <a:xfrm>
            <a:off x="801659" y="1540000"/>
            <a:ext cx="3420341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What is WER?</a:t>
            </a:r>
          </a:p>
        </p:txBody>
      </p:sp>
      <p:sp>
        <p:nvSpPr>
          <p:cNvPr id="702" name="WerFormula"/>
          <p:cNvSpPr txBox="1"/>
          <p:nvPr/>
        </p:nvSpPr>
        <p:spPr>
          <a:xfrm>
            <a:off x="801659" y="1940000"/>
            <a:ext cx="3420341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8090"/>
                </a:solidFill>
                <a:latin typeface="Consolas"/>
                <a:cs typeface="Consolas"/>
              </a:rPr>
              <a:t>WER = (S + D + I) / N</a:t>
            </a:r>
          </a:p>
        </p:txBody>
      </p:sp>
      <p:sp>
        <p:nvSpPr>
          <p:cNvPr id="703" name="WerLegend"/>
          <p:cNvSpPr txBox="1"/>
          <p:nvPr/>
        </p:nvSpPr>
        <p:spPr>
          <a:xfrm>
            <a:off x="801659" y="2460000"/>
            <a:ext cx="3420341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E"/>
                </a:solidFill>
                <a:latin typeface="Calibri"/>
                <a:cs typeface="Calibri"/>
              </a:rPr>
              <a:t>S = Substitutions   D = Deletions   I = Insertions   N = Total words actually spoken</a:t>
            </a:r>
          </a:p>
        </p:txBody>
      </p:sp>
      <p:sp>
        <p:nvSpPr>
          <p:cNvPr id="704" name="WerNote"/>
          <p:cNvSpPr txBox="1"/>
          <p:nvPr/>
        </p:nvSpPr>
        <p:spPr>
          <a:xfrm>
            <a:off x="801659" y="3000000"/>
            <a:ext cx="3420341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395F"/>
                </a:solidFill>
                <a:latin typeface="Calibri"/>
                <a:cs typeface="Calibri"/>
              </a:rPr>
              <a:t>Lower is better — 0% means a perfect transcript.</a:t>
            </a:r>
          </a:p>
        </p:txBody>
      </p:sp>
      <p:sp>
        <p:nvSpPr>
          <p:cNvPr id="710" name="WerExBg"/>
          <p:cNvSpPr/>
          <p:nvPr/>
        </p:nvSpPr>
        <p:spPr>
          <a:xfrm>
            <a:off x="4702000" y="1380000"/>
            <a:ext cx="3860341" cy="1980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D7DE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1" name="WerExTitle"/>
          <p:cNvSpPr txBox="1"/>
          <p:nvPr/>
        </p:nvSpPr>
        <p:spPr>
          <a:xfrm>
            <a:off x="4922000" y="1540000"/>
            <a:ext cx="3420341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95F"/>
                </a:solidFill>
                <a:latin typeface="Calibri"/>
                <a:cs typeface="Calibri"/>
              </a:rPr>
              <a:t>Example</a:t>
            </a:r>
          </a:p>
        </p:txBody>
      </p:sp>
      <p:sp>
        <p:nvSpPr>
          <p:cNvPr id="712" name="WerExSaidLabel"/>
          <p:cNvSpPr txBox="1"/>
          <p:nvPr/>
        </p:nvSpPr>
        <p:spPr>
          <a:xfrm>
            <a:off x="4922000" y="1840000"/>
            <a:ext cx="342034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C7A7E"/>
                </a:solidFill>
                <a:latin typeface="Calibri"/>
                <a:cs typeface="Calibri"/>
              </a:rPr>
              <a:t>What was said:</a:t>
            </a:r>
          </a:p>
        </p:txBody>
      </p:sp>
      <p:sp>
        <p:nvSpPr>
          <p:cNvPr id="713" name="WerExSaidText"/>
          <p:cNvSpPr txBox="1"/>
          <p:nvPr/>
        </p:nvSpPr>
        <p:spPr>
          <a:xfrm>
            <a:off x="4922000" y="2060000"/>
            <a:ext cx="3420341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/>
                <a:cs typeface="Calibri"/>
              </a:rPr>
              <a:t>"Patient has a fever and headache"</a:t>
            </a:r>
          </a:p>
        </p:txBody>
      </p:sp>
      <p:sp>
        <p:nvSpPr>
          <p:cNvPr id="714" name="WerExHeardLabel"/>
          <p:cNvSpPr txBox="1"/>
          <p:nvPr/>
        </p:nvSpPr>
        <p:spPr>
          <a:xfrm>
            <a:off x="4922000" y="2400000"/>
            <a:ext cx="342034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C7A7E"/>
                </a:solidFill>
                <a:latin typeface="Calibri"/>
                <a:cs typeface="Calibri"/>
              </a:rPr>
              <a:t>What the model heard:</a:t>
            </a:r>
          </a:p>
        </p:txBody>
      </p:sp>
      <p:sp>
        <p:nvSpPr>
          <p:cNvPr id="715" name="WerExHeardText"/>
          <p:cNvSpPr txBox="1"/>
          <p:nvPr/>
        </p:nvSpPr>
        <p:spPr>
          <a:xfrm>
            <a:off x="4922000" y="2620000"/>
            <a:ext cx="3420341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/>
                <a:cs typeface="Calibri"/>
              </a:rPr>
              <a:t>"Patient has a fever and </a:t>
            </a:r>
            <a:r>
              <a:rPr lang="en-US" sz="1050" b="1" dirty="0">
                <a:solidFill>
                  <a:srgbClr val="C0392B"/>
                </a:solidFill>
                <a:latin typeface="Calibri"/>
                <a:cs typeface="Calibri"/>
              </a:rPr>
              <a:t>stomach ache</a:t>
            </a:r>
            <a:r>
              <a:rPr lang="en-US" sz="1050" dirty="0">
                <a:solidFill>
                  <a:srgbClr val="1A1A1A"/>
                </a:solidFill>
                <a:latin typeface="Calibri"/>
                <a:cs typeface="Calibri"/>
              </a:rPr>
              <a:t>"</a:t>
            </a:r>
          </a:p>
        </p:txBody>
      </p:sp>
      <p:sp>
        <p:nvSpPr>
          <p:cNvPr id="716" name="WerExCalc"/>
          <p:cNvSpPr txBox="1"/>
          <p:nvPr/>
        </p:nvSpPr>
        <p:spPr>
          <a:xfrm>
            <a:off x="4922000" y="3000000"/>
            <a:ext cx="3420341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  <a:cs typeface="Calibri"/>
              </a:rPr>
              <a:t>1 substitution ÷ 7 words = WER ≈ 14%</a:t>
            </a:r>
          </a:p>
        </p:txBody>
      </p:sp>
      <p:sp>
        <p:nvSpPr>
          <p:cNvPr id="720" name="WerResultsBg"/>
          <p:cNvSpPr/>
          <p:nvPr/>
        </p:nvSpPr>
        <p:spPr>
          <a:xfrm>
            <a:off x="581659" y="3560000"/>
            <a:ext cx="7980682" cy="1330000"/>
          </a:xfrm>
          <a:prstGeom prst="roundRect">
            <a:avLst>
              <a:gd name="adj" fmla="val 5000"/>
            </a:avLst>
          </a:prstGeom>
          <a:solidFill>
            <a:srgbClr val="FBF7EC"/>
          </a:solidFill>
          <a:ln w="12700">
            <a:solidFill>
              <a:srgbClr val="EADF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1" name="WerResultsIconBg"/>
          <p:cNvSpPr/>
          <p:nvPr/>
        </p:nvSpPr>
        <p:spPr>
          <a:xfrm>
            <a:off x="821659" y="3800000"/>
            <a:ext cx="440000" cy="4400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2" name="WerResultsIconGlyph"/>
          <p:cNvSpPr txBox="1"/>
          <p:nvPr/>
        </p:nvSpPr>
        <p:spPr>
          <a:xfrm>
            <a:off x="821659" y="3800000"/>
            <a:ext cx="44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723" name="WerResultsTitle"/>
          <p:cNvSpPr txBox="1"/>
          <p:nvPr/>
        </p:nvSpPr>
        <p:spPr>
          <a:xfrm>
            <a:off x="1401659" y="3780000"/>
            <a:ext cx="6930682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8A5A19"/>
                </a:solidFill>
                <a:latin typeface="Calibri"/>
                <a:cs typeface="Calibri"/>
              </a:rPr>
              <a:t>Per-Language WER — Hausa Leads So Far</a:t>
            </a:r>
          </a:p>
        </p:txBody>
      </p:sp>
      <p:sp>
        <p:nvSpPr>
          <p:cNvPr id="724" name="WerResultsBody"/>
          <p:cNvSpPr txBox="1"/>
          <p:nvPr/>
        </p:nvSpPr>
        <p:spPr>
          <a:xfrm>
            <a:off x="1401659" y="4080000"/>
            <a:ext cx="6930682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A3A"/>
                </a:solidFill>
                <a:latin typeface="Calibri"/>
                <a:cs typeface="Calibri"/>
              </a:rPr>
              <a:t>Early testing ranks Hausa highest, followed by Igbo, then Yoruba. Exact WER percentages are still being measured.</a:t>
            </a:r>
          </a:p>
        </p:txBody>
      </p:sp>
      <p:sp>
        <p:nvSpPr>
          <p:cNvPr id="730" name="WerChipBg0"/>
          <p:cNvSpPr/>
          <p:nvPr/>
        </p:nvSpPr>
        <p:spPr>
          <a:xfrm>
            <a:off x="1401659" y="4360000"/>
            <a:ext cx="1700000" cy="4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31" name="WerChipText0"/>
          <p:cNvSpPr txBox="1"/>
          <p:nvPr/>
        </p:nvSpPr>
        <p:spPr>
          <a:xfrm>
            <a:off x="1401659" y="4360000"/>
            <a:ext cx="17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19"/>
                </a:solidFill>
                <a:latin typeface="Calibri"/>
                <a:cs typeface="Calibri"/>
              </a:rPr>
              <a:t>🥇 Hausa</a:t>
            </a:r>
          </a:p>
        </p:txBody>
      </p:sp>
      <p:sp>
        <p:nvSpPr>
          <p:cNvPr id="732" name="WerChipBg1"/>
          <p:cNvSpPr/>
          <p:nvPr/>
        </p:nvSpPr>
        <p:spPr>
          <a:xfrm>
            <a:off x="3301659" y="4360000"/>
            <a:ext cx="1700000" cy="4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33" name="WerChipText1"/>
          <p:cNvSpPr txBox="1"/>
          <p:nvPr/>
        </p:nvSpPr>
        <p:spPr>
          <a:xfrm>
            <a:off x="3301659" y="4360000"/>
            <a:ext cx="17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19"/>
                </a:solidFill>
                <a:latin typeface="Calibri"/>
                <a:cs typeface="Calibri"/>
              </a:rPr>
              <a:t>🥈 Igbo</a:t>
            </a:r>
          </a:p>
        </p:txBody>
      </p:sp>
      <p:sp>
        <p:nvSpPr>
          <p:cNvPr id="734" name="WerChipBg2"/>
          <p:cNvSpPr/>
          <p:nvPr/>
        </p:nvSpPr>
        <p:spPr>
          <a:xfrm>
            <a:off x="5201659" y="4360000"/>
            <a:ext cx="1700000" cy="4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35" name="WerChipText2"/>
          <p:cNvSpPr txBox="1"/>
          <p:nvPr/>
        </p:nvSpPr>
        <p:spPr>
          <a:xfrm>
            <a:off x="5201659" y="4360000"/>
            <a:ext cx="17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19"/>
                </a:solidFill>
                <a:latin typeface="Calibri"/>
                <a:cs typeface="Calibri"/>
              </a:rPr>
              <a:t>🥉 Yoruba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009" y="194818"/>
            <a:ext cx="2298700" cy="360680"/>
            <a:chOff x="588009" y="194818"/>
            <a:chExt cx="2298700" cy="360680"/>
          </a:xfrm>
        </p:grpSpPr>
        <p:sp>
          <p:nvSpPr>
            <p:cNvPr id="3" name="object 3"/>
            <p:cNvSpPr/>
            <p:nvPr/>
          </p:nvSpPr>
          <p:spPr>
            <a:xfrm>
              <a:off x="594359" y="201168"/>
              <a:ext cx="2286000" cy="347980"/>
            </a:xfrm>
            <a:custGeom>
              <a:avLst/>
              <a:gdLst/>
              <a:ahLst/>
              <a:cxnLst/>
              <a:rect l="l" t="t" r="r" b="b"/>
              <a:pathLst>
                <a:path w="2286000" h="347980">
                  <a:moveTo>
                    <a:pt x="2112264" y="0"/>
                  </a:moveTo>
                  <a:lnTo>
                    <a:pt x="173736" y="0"/>
                  </a:ln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2"/>
                  </a:lnTo>
                  <a:lnTo>
                    <a:pt x="2112264" y="347472"/>
                  </a:lnTo>
                  <a:lnTo>
                    <a:pt x="2158470" y="341270"/>
                  </a:lnTo>
                  <a:lnTo>
                    <a:pt x="2199978" y="323765"/>
                  </a:lnTo>
                  <a:lnTo>
                    <a:pt x="2235136" y="296608"/>
                  </a:lnTo>
                  <a:lnTo>
                    <a:pt x="2262293" y="261450"/>
                  </a:lnTo>
                  <a:lnTo>
                    <a:pt x="2279798" y="219942"/>
                  </a:lnTo>
                  <a:lnTo>
                    <a:pt x="2286000" y="173736"/>
                  </a:lnTo>
                  <a:lnTo>
                    <a:pt x="2279798" y="127529"/>
                  </a:lnTo>
                  <a:lnTo>
                    <a:pt x="2262293" y="86021"/>
                  </a:lnTo>
                  <a:lnTo>
                    <a:pt x="2235136" y="50863"/>
                  </a:lnTo>
                  <a:lnTo>
                    <a:pt x="2199978" y="23706"/>
                  </a:lnTo>
                  <a:lnTo>
                    <a:pt x="2158470" y="6201"/>
                  </a:lnTo>
                  <a:lnTo>
                    <a:pt x="2112264" y="0"/>
                  </a:lnTo>
                  <a:close/>
                </a:path>
              </a:pathLst>
            </a:custGeom>
            <a:solidFill>
              <a:srgbClr val="FFEFE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594359" y="201168"/>
              <a:ext cx="2286000" cy="347980"/>
            </a:xfrm>
            <a:custGeom>
              <a:avLst/>
              <a:gdLst/>
              <a:ahLst/>
              <a:cxnLst/>
              <a:rect l="l" t="t" r="r" b="b"/>
              <a:pathLst>
                <a:path w="2286000" h="347980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112264" y="0"/>
                  </a:lnTo>
                  <a:lnTo>
                    <a:pt x="2158470" y="6201"/>
                  </a:lnTo>
                  <a:lnTo>
                    <a:pt x="2199978" y="23706"/>
                  </a:lnTo>
                  <a:lnTo>
                    <a:pt x="2235136" y="50863"/>
                  </a:lnTo>
                  <a:lnTo>
                    <a:pt x="2262293" y="86021"/>
                  </a:lnTo>
                  <a:lnTo>
                    <a:pt x="2279798" y="127529"/>
                  </a:lnTo>
                  <a:lnTo>
                    <a:pt x="2286000" y="173736"/>
                  </a:lnTo>
                  <a:lnTo>
                    <a:pt x="2279798" y="219942"/>
                  </a:lnTo>
                  <a:lnTo>
                    <a:pt x="2262293" y="261450"/>
                  </a:lnTo>
                  <a:lnTo>
                    <a:pt x="2235136" y="296608"/>
                  </a:lnTo>
                  <a:lnTo>
                    <a:pt x="2199978" y="323765"/>
                  </a:lnTo>
                  <a:lnTo>
                    <a:pt x="2158470" y="341270"/>
                  </a:lnTo>
                  <a:lnTo>
                    <a:pt x="2112264" y="347472"/>
                  </a:lnTo>
                  <a:lnTo>
                    <a:pt x="173736" y="347472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6"/>
                  </a:lnTo>
                  <a:close/>
                </a:path>
              </a:pathLst>
            </a:custGeom>
            <a:ln w="12699">
              <a:solidFill>
                <a:srgbClr val="F5C5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71806" y="212412"/>
            <a:ext cx="1534262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C05C1A"/>
                </a:solidFill>
                <a:latin typeface="Calibri"/>
                <a:cs typeface="Calibri"/>
              </a:rPr>
              <a:t>LIMITATIONS</a:t>
            </a:r>
            <a:r>
              <a:rPr lang="en-US" sz="1100" b="1" spc="-10" dirty="0">
                <a:solidFill>
                  <a:srgbClr val="C05C1A"/>
                </a:solidFill>
                <a:latin typeface="Calibri"/>
                <a:cs typeface="Calibri"/>
              </a:rPr>
              <a:t>/ CHALLENGES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1659" y="688593"/>
            <a:ext cx="2852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Constraints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88009" y="1292097"/>
            <a:ext cx="7967980" cy="35560"/>
            <a:chOff x="588009" y="1292097"/>
            <a:chExt cx="7967980" cy="35560"/>
          </a:xfrm>
        </p:grpSpPr>
        <p:sp>
          <p:nvSpPr>
            <p:cNvPr id="8" name="object 8"/>
            <p:cNvSpPr/>
            <p:nvPr/>
          </p:nvSpPr>
          <p:spPr>
            <a:xfrm>
              <a:off x="594359" y="1298447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79552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7955280" y="22860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C7D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59" y="1298447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0" y="22860"/>
                  </a:moveTo>
                  <a:lnTo>
                    <a:pt x="7955280" y="22860"/>
                  </a:lnTo>
                  <a:lnTo>
                    <a:pt x="795528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00403" y="1770634"/>
            <a:ext cx="838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!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48358" y="1517706"/>
            <a:ext cx="2733675" cy="1729739"/>
            <a:chOff x="3648358" y="1517706"/>
            <a:chExt cx="2733675" cy="1729739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8358" y="1517706"/>
              <a:ext cx="2733488" cy="172937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711574" y="1581530"/>
              <a:ext cx="2578735" cy="1572895"/>
            </a:xfrm>
            <a:custGeom>
              <a:avLst/>
              <a:gdLst/>
              <a:ahLst/>
              <a:cxnLst/>
              <a:rect l="l" t="t" r="r" b="b"/>
              <a:pathLst>
                <a:path w="2578735" h="1572895">
                  <a:moveTo>
                    <a:pt x="250532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499743"/>
                  </a:lnTo>
                  <a:lnTo>
                    <a:pt x="5750" y="1528210"/>
                  </a:lnTo>
                  <a:lnTo>
                    <a:pt x="21431" y="1551463"/>
                  </a:lnTo>
                  <a:lnTo>
                    <a:pt x="44684" y="1567144"/>
                  </a:lnTo>
                  <a:lnTo>
                    <a:pt x="73151" y="1572895"/>
                  </a:lnTo>
                  <a:lnTo>
                    <a:pt x="2505329" y="1572895"/>
                  </a:lnTo>
                  <a:lnTo>
                    <a:pt x="2533796" y="1567144"/>
                  </a:lnTo>
                  <a:lnTo>
                    <a:pt x="2557049" y="1551463"/>
                  </a:lnTo>
                  <a:lnTo>
                    <a:pt x="2572730" y="1528210"/>
                  </a:lnTo>
                  <a:lnTo>
                    <a:pt x="2578480" y="1499743"/>
                  </a:lnTo>
                  <a:lnTo>
                    <a:pt x="2578480" y="73152"/>
                  </a:lnTo>
                  <a:lnTo>
                    <a:pt x="2572730" y="44684"/>
                  </a:lnTo>
                  <a:lnTo>
                    <a:pt x="2557049" y="21431"/>
                  </a:lnTo>
                  <a:lnTo>
                    <a:pt x="2533796" y="5750"/>
                  </a:lnTo>
                  <a:lnTo>
                    <a:pt x="2505329" y="0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11574" y="1581530"/>
              <a:ext cx="2578735" cy="1572895"/>
            </a:xfrm>
            <a:custGeom>
              <a:avLst/>
              <a:gdLst/>
              <a:ahLst/>
              <a:cxnLst/>
              <a:rect l="l" t="t" r="r" b="b"/>
              <a:pathLst>
                <a:path w="2578735" h="1572895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05329" y="0"/>
                  </a:lnTo>
                  <a:lnTo>
                    <a:pt x="2533796" y="5750"/>
                  </a:lnTo>
                  <a:lnTo>
                    <a:pt x="2557049" y="21431"/>
                  </a:lnTo>
                  <a:lnTo>
                    <a:pt x="2572730" y="44684"/>
                  </a:lnTo>
                  <a:lnTo>
                    <a:pt x="2578480" y="73152"/>
                  </a:lnTo>
                  <a:lnTo>
                    <a:pt x="2578480" y="1499743"/>
                  </a:lnTo>
                  <a:lnTo>
                    <a:pt x="2572730" y="1528210"/>
                  </a:lnTo>
                  <a:lnTo>
                    <a:pt x="2557049" y="1551463"/>
                  </a:lnTo>
                  <a:lnTo>
                    <a:pt x="2533796" y="1567144"/>
                  </a:lnTo>
                  <a:lnTo>
                    <a:pt x="2505329" y="1572895"/>
                  </a:lnTo>
                  <a:lnTo>
                    <a:pt x="73151" y="1572895"/>
                  </a:lnTo>
                  <a:lnTo>
                    <a:pt x="44684" y="1567144"/>
                  </a:lnTo>
                  <a:lnTo>
                    <a:pt x="21431" y="1551463"/>
                  </a:lnTo>
                  <a:lnTo>
                    <a:pt x="5750" y="1528210"/>
                  </a:lnTo>
                  <a:lnTo>
                    <a:pt x="0" y="1499743"/>
                  </a:lnTo>
                  <a:lnTo>
                    <a:pt x="0" y="73152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57878" y="172783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173736" y="0"/>
                  </a:moveTo>
                  <a:lnTo>
                    <a:pt x="127573" y="6210"/>
                  </a:lnTo>
                  <a:lnTo>
                    <a:pt x="86077" y="23734"/>
                  </a:lnTo>
                  <a:lnTo>
                    <a:pt x="50911" y="50911"/>
                  </a:lnTo>
                  <a:lnTo>
                    <a:pt x="23734" y="86077"/>
                  </a:lnTo>
                  <a:lnTo>
                    <a:pt x="6210" y="127573"/>
                  </a:lnTo>
                  <a:lnTo>
                    <a:pt x="0" y="173735"/>
                  </a:lnTo>
                  <a:lnTo>
                    <a:pt x="6210" y="219898"/>
                  </a:lnTo>
                  <a:lnTo>
                    <a:pt x="23734" y="261394"/>
                  </a:lnTo>
                  <a:lnTo>
                    <a:pt x="50911" y="296560"/>
                  </a:lnTo>
                  <a:lnTo>
                    <a:pt x="86077" y="323737"/>
                  </a:lnTo>
                  <a:lnTo>
                    <a:pt x="127573" y="341261"/>
                  </a:lnTo>
                  <a:lnTo>
                    <a:pt x="173736" y="347471"/>
                  </a:lnTo>
                  <a:lnTo>
                    <a:pt x="219898" y="341261"/>
                  </a:lnTo>
                  <a:lnTo>
                    <a:pt x="261394" y="323737"/>
                  </a:lnTo>
                  <a:lnTo>
                    <a:pt x="296560" y="296560"/>
                  </a:lnTo>
                  <a:lnTo>
                    <a:pt x="323737" y="261394"/>
                  </a:lnTo>
                  <a:lnTo>
                    <a:pt x="341261" y="219898"/>
                  </a:lnTo>
                  <a:lnTo>
                    <a:pt x="347472" y="173735"/>
                  </a:lnTo>
                  <a:lnTo>
                    <a:pt x="341261" y="127573"/>
                  </a:lnTo>
                  <a:lnTo>
                    <a:pt x="323737" y="86077"/>
                  </a:lnTo>
                  <a:lnTo>
                    <a:pt x="296560" y="50911"/>
                  </a:lnTo>
                  <a:lnTo>
                    <a:pt x="261394" y="23734"/>
                  </a:lnTo>
                  <a:lnTo>
                    <a:pt x="219898" y="6210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DF7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57878" y="172783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80">
                  <a:moveTo>
                    <a:pt x="0" y="173735"/>
                  </a:moveTo>
                  <a:lnTo>
                    <a:pt x="6210" y="127573"/>
                  </a:lnTo>
                  <a:lnTo>
                    <a:pt x="23734" y="86077"/>
                  </a:lnTo>
                  <a:lnTo>
                    <a:pt x="50911" y="50911"/>
                  </a:lnTo>
                  <a:lnTo>
                    <a:pt x="86077" y="23734"/>
                  </a:lnTo>
                  <a:lnTo>
                    <a:pt x="127573" y="6210"/>
                  </a:lnTo>
                  <a:lnTo>
                    <a:pt x="173736" y="0"/>
                  </a:lnTo>
                  <a:lnTo>
                    <a:pt x="219898" y="6210"/>
                  </a:lnTo>
                  <a:lnTo>
                    <a:pt x="261394" y="23734"/>
                  </a:lnTo>
                  <a:lnTo>
                    <a:pt x="296560" y="50911"/>
                  </a:lnTo>
                  <a:lnTo>
                    <a:pt x="323737" y="86077"/>
                  </a:lnTo>
                  <a:lnTo>
                    <a:pt x="341261" y="127573"/>
                  </a:lnTo>
                  <a:lnTo>
                    <a:pt x="347472" y="173735"/>
                  </a:lnTo>
                  <a:lnTo>
                    <a:pt x="341261" y="219898"/>
                  </a:lnTo>
                  <a:lnTo>
                    <a:pt x="323737" y="261394"/>
                  </a:lnTo>
                  <a:lnTo>
                    <a:pt x="296560" y="296560"/>
                  </a:lnTo>
                  <a:lnTo>
                    <a:pt x="261394" y="323737"/>
                  </a:lnTo>
                  <a:lnTo>
                    <a:pt x="219898" y="341261"/>
                  </a:lnTo>
                  <a:lnTo>
                    <a:pt x="173736" y="347471"/>
                  </a:lnTo>
                  <a:lnTo>
                    <a:pt x="127573" y="341261"/>
                  </a:lnTo>
                  <a:lnTo>
                    <a:pt x="86077" y="323737"/>
                  </a:lnTo>
                  <a:lnTo>
                    <a:pt x="50911" y="296560"/>
                  </a:lnTo>
                  <a:lnTo>
                    <a:pt x="23734" y="261394"/>
                  </a:lnTo>
                  <a:lnTo>
                    <a:pt x="6210" y="219898"/>
                  </a:lnTo>
                  <a:lnTo>
                    <a:pt x="0" y="173735"/>
                  </a:lnTo>
                  <a:close/>
                </a:path>
              </a:pathLst>
            </a:custGeom>
            <a:ln w="12699">
              <a:solidFill>
                <a:srgbClr val="DF7A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989578" y="1770634"/>
            <a:ext cx="838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!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03014" y="1788922"/>
            <a:ext cx="12096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1E395F"/>
                </a:solidFill>
                <a:latin typeface="Calibri"/>
                <a:cs typeface="Calibri"/>
              </a:rPr>
              <a:t>Accent and dialect variation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61307" y="2283206"/>
            <a:ext cx="2307590" cy="10413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People speak the same language but with different accents or intonation which can sometimes reduce the accuracy of the transcription.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12078" y="3529406"/>
            <a:ext cx="838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!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57200" y="3189233"/>
            <a:ext cx="4415790" cy="1784350"/>
            <a:chOff x="832103" y="3227857"/>
            <a:chExt cx="4415790" cy="1784350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103" y="3227857"/>
              <a:ext cx="4415790" cy="178384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22680" y="3318891"/>
              <a:ext cx="4206875" cy="1573530"/>
            </a:xfrm>
            <a:custGeom>
              <a:avLst/>
              <a:gdLst/>
              <a:ahLst/>
              <a:cxnLst/>
              <a:rect l="l" t="t" r="r" b="b"/>
              <a:pathLst>
                <a:path w="4206875" h="1573529">
                  <a:moveTo>
                    <a:pt x="4133189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1499768"/>
                  </a:lnTo>
                  <a:lnTo>
                    <a:pt x="5749" y="1528241"/>
                  </a:lnTo>
                  <a:lnTo>
                    <a:pt x="21428" y="1551493"/>
                  </a:lnTo>
                  <a:lnTo>
                    <a:pt x="44684" y="1567171"/>
                  </a:lnTo>
                  <a:lnTo>
                    <a:pt x="73164" y="1572920"/>
                  </a:lnTo>
                  <a:lnTo>
                    <a:pt x="4133189" y="1572920"/>
                  </a:lnTo>
                  <a:lnTo>
                    <a:pt x="4161657" y="1567171"/>
                  </a:lnTo>
                  <a:lnTo>
                    <a:pt x="4184910" y="1551493"/>
                  </a:lnTo>
                  <a:lnTo>
                    <a:pt x="4200590" y="1528241"/>
                  </a:lnTo>
                  <a:lnTo>
                    <a:pt x="4206341" y="1499768"/>
                  </a:lnTo>
                  <a:lnTo>
                    <a:pt x="4206341" y="73151"/>
                  </a:lnTo>
                  <a:lnTo>
                    <a:pt x="4200590" y="44684"/>
                  </a:lnTo>
                  <a:lnTo>
                    <a:pt x="4184910" y="21431"/>
                  </a:lnTo>
                  <a:lnTo>
                    <a:pt x="4161657" y="5750"/>
                  </a:lnTo>
                  <a:lnTo>
                    <a:pt x="4133189" y="0"/>
                  </a:lnTo>
                  <a:close/>
                </a:path>
              </a:pathLst>
            </a:custGeom>
            <a:solidFill>
              <a:srgbClr val="FFFA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22680" y="3318891"/>
              <a:ext cx="4206875" cy="1573530"/>
            </a:xfrm>
            <a:custGeom>
              <a:avLst/>
              <a:gdLst/>
              <a:ahLst/>
              <a:cxnLst/>
              <a:rect l="l" t="t" r="r" b="b"/>
              <a:pathLst>
                <a:path w="4206875" h="1573529">
                  <a:moveTo>
                    <a:pt x="0" y="73151"/>
                  </a:moveTo>
                  <a:lnTo>
                    <a:pt x="5749" y="44684"/>
                  </a:lnTo>
                  <a:lnTo>
                    <a:pt x="21428" y="21431"/>
                  </a:lnTo>
                  <a:lnTo>
                    <a:pt x="44684" y="5750"/>
                  </a:lnTo>
                  <a:lnTo>
                    <a:pt x="73164" y="0"/>
                  </a:lnTo>
                  <a:lnTo>
                    <a:pt x="4133189" y="0"/>
                  </a:lnTo>
                  <a:lnTo>
                    <a:pt x="4161657" y="5750"/>
                  </a:lnTo>
                  <a:lnTo>
                    <a:pt x="4184910" y="21431"/>
                  </a:lnTo>
                  <a:lnTo>
                    <a:pt x="4200590" y="44684"/>
                  </a:lnTo>
                  <a:lnTo>
                    <a:pt x="4206341" y="73151"/>
                  </a:lnTo>
                  <a:lnTo>
                    <a:pt x="4206341" y="1499768"/>
                  </a:lnTo>
                  <a:lnTo>
                    <a:pt x="4200590" y="1528241"/>
                  </a:lnTo>
                  <a:lnTo>
                    <a:pt x="4184910" y="1551493"/>
                  </a:lnTo>
                  <a:lnTo>
                    <a:pt x="4161657" y="1567171"/>
                  </a:lnTo>
                  <a:lnTo>
                    <a:pt x="4133189" y="1572920"/>
                  </a:lnTo>
                  <a:lnTo>
                    <a:pt x="73164" y="1572920"/>
                  </a:lnTo>
                  <a:lnTo>
                    <a:pt x="44684" y="1567171"/>
                  </a:lnTo>
                  <a:lnTo>
                    <a:pt x="21428" y="1551493"/>
                  </a:lnTo>
                  <a:lnTo>
                    <a:pt x="5749" y="1528241"/>
                  </a:lnTo>
                  <a:lnTo>
                    <a:pt x="0" y="1499768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68984" y="346519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710" y="0"/>
                  </a:moveTo>
                  <a:lnTo>
                    <a:pt x="127532" y="6210"/>
                  </a:lnTo>
                  <a:lnTo>
                    <a:pt x="86036" y="23734"/>
                  </a:lnTo>
                  <a:lnTo>
                    <a:pt x="50879" y="50911"/>
                  </a:lnTo>
                  <a:lnTo>
                    <a:pt x="23717" y="86077"/>
                  </a:lnTo>
                  <a:lnTo>
                    <a:pt x="6205" y="127573"/>
                  </a:lnTo>
                  <a:lnTo>
                    <a:pt x="0" y="173735"/>
                  </a:lnTo>
                  <a:lnTo>
                    <a:pt x="6205" y="219898"/>
                  </a:lnTo>
                  <a:lnTo>
                    <a:pt x="23717" y="261394"/>
                  </a:lnTo>
                  <a:lnTo>
                    <a:pt x="50879" y="296560"/>
                  </a:lnTo>
                  <a:lnTo>
                    <a:pt x="86036" y="323737"/>
                  </a:lnTo>
                  <a:lnTo>
                    <a:pt x="127532" y="341261"/>
                  </a:lnTo>
                  <a:lnTo>
                    <a:pt x="173710" y="347471"/>
                  </a:lnTo>
                  <a:lnTo>
                    <a:pt x="219873" y="341261"/>
                  </a:lnTo>
                  <a:lnTo>
                    <a:pt x="261368" y="323737"/>
                  </a:lnTo>
                  <a:lnTo>
                    <a:pt x="296535" y="296560"/>
                  </a:lnTo>
                  <a:lnTo>
                    <a:pt x="323711" y="261394"/>
                  </a:lnTo>
                  <a:lnTo>
                    <a:pt x="341235" y="219898"/>
                  </a:lnTo>
                  <a:lnTo>
                    <a:pt x="347446" y="173735"/>
                  </a:lnTo>
                  <a:lnTo>
                    <a:pt x="341235" y="127573"/>
                  </a:lnTo>
                  <a:lnTo>
                    <a:pt x="323711" y="86077"/>
                  </a:lnTo>
                  <a:lnTo>
                    <a:pt x="296535" y="50911"/>
                  </a:lnTo>
                  <a:lnTo>
                    <a:pt x="261368" y="23734"/>
                  </a:lnTo>
                  <a:lnTo>
                    <a:pt x="219873" y="6210"/>
                  </a:lnTo>
                  <a:lnTo>
                    <a:pt x="173710" y="0"/>
                  </a:lnTo>
                  <a:close/>
                </a:path>
              </a:pathLst>
            </a:custGeom>
            <a:solidFill>
              <a:srgbClr val="DF7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68984" y="346519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735"/>
                  </a:moveTo>
                  <a:lnTo>
                    <a:pt x="6205" y="127573"/>
                  </a:lnTo>
                  <a:lnTo>
                    <a:pt x="23717" y="86077"/>
                  </a:lnTo>
                  <a:lnTo>
                    <a:pt x="50879" y="50911"/>
                  </a:lnTo>
                  <a:lnTo>
                    <a:pt x="86036" y="23734"/>
                  </a:lnTo>
                  <a:lnTo>
                    <a:pt x="127532" y="6210"/>
                  </a:lnTo>
                  <a:lnTo>
                    <a:pt x="173710" y="0"/>
                  </a:lnTo>
                  <a:lnTo>
                    <a:pt x="219873" y="6210"/>
                  </a:lnTo>
                  <a:lnTo>
                    <a:pt x="261368" y="23734"/>
                  </a:lnTo>
                  <a:lnTo>
                    <a:pt x="296535" y="50911"/>
                  </a:lnTo>
                  <a:lnTo>
                    <a:pt x="323711" y="86077"/>
                  </a:lnTo>
                  <a:lnTo>
                    <a:pt x="341235" y="127573"/>
                  </a:lnTo>
                  <a:lnTo>
                    <a:pt x="347446" y="173735"/>
                  </a:lnTo>
                  <a:lnTo>
                    <a:pt x="341235" y="219898"/>
                  </a:lnTo>
                  <a:lnTo>
                    <a:pt x="323711" y="261394"/>
                  </a:lnTo>
                  <a:lnTo>
                    <a:pt x="296535" y="296560"/>
                  </a:lnTo>
                  <a:lnTo>
                    <a:pt x="261368" y="323737"/>
                  </a:lnTo>
                  <a:lnTo>
                    <a:pt x="219873" y="341261"/>
                  </a:lnTo>
                  <a:lnTo>
                    <a:pt x="173710" y="347471"/>
                  </a:lnTo>
                  <a:lnTo>
                    <a:pt x="127532" y="341261"/>
                  </a:lnTo>
                  <a:lnTo>
                    <a:pt x="86036" y="323737"/>
                  </a:lnTo>
                  <a:lnTo>
                    <a:pt x="50879" y="296560"/>
                  </a:lnTo>
                  <a:lnTo>
                    <a:pt x="23717" y="261394"/>
                  </a:lnTo>
                  <a:lnTo>
                    <a:pt x="6205" y="219898"/>
                  </a:lnTo>
                  <a:lnTo>
                    <a:pt x="0" y="173735"/>
                  </a:lnTo>
                  <a:close/>
                </a:path>
              </a:pathLst>
            </a:custGeom>
            <a:ln w="12700">
              <a:solidFill>
                <a:srgbClr val="DF7A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200403" y="3508375"/>
            <a:ext cx="838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!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52691" y="3560014"/>
            <a:ext cx="165798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b="1" spc="-10" dirty="0">
                <a:solidFill>
                  <a:srgbClr val="1E395F"/>
                </a:solidFill>
                <a:latin typeface="Calibri"/>
                <a:cs typeface="Calibri"/>
              </a:rPr>
              <a:t>Finite Context Windows during Translation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4060" y="4054298"/>
            <a:ext cx="3862070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Because the translation model can only see a fixed-length window of tokens at once, longer patient narratives risk having earlier symptom details truncated or lost by the time later context is processed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Further</a:t>
            </a:r>
            <a:r>
              <a:rPr spc="-95" dirty="0"/>
              <a:t> </a:t>
            </a:r>
            <a:r>
              <a:rPr spc="-10" dirty="0"/>
              <a:t>Improvements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8009" y="953769"/>
            <a:ext cx="7967980" cy="35560"/>
            <a:chOff x="588009" y="953769"/>
            <a:chExt cx="7967980" cy="35560"/>
          </a:xfrm>
        </p:grpSpPr>
        <p:sp>
          <p:nvSpPr>
            <p:cNvPr id="4" name="object 4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795528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7955280" y="22860"/>
                  </a:lnTo>
                  <a:lnTo>
                    <a:pt x="7955280" y="0"/>
                  </a:lnTo>
                  <a:close/>
                </a:path>
              </a:pathLst>
            </a:custGeom>
            <a:solidFill>
              <a:srgbClr val="C7D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359" y="960119"/>
              <a:ext cx="7955280" cy="22860"/>
            </a:xfrm>
            <a:custGeom>
              <a:avLst/>
              <a:gdLst/>
              <a:ahLst/>
              <a:cxnLst/>
              <a:rect l="l" t="t" r="r" b="b"/>
              <a:pathLst>
                <a:path w="7955280" h="22859">
                  <a:moveTo>
                    <a:pt x="0" y="22860"/>
                  </a:moveTo>
                  <a:lnTo>
                    <a:pt x="7955280" y="22860"/>
                  </a:lnTo>
                  <a:lnTo>
                    <a:pt x="7955280" y="0"/>
                  </a:lnTo>
                  <a:lnTo>
                    <a:pt x="0" y="0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C7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459990" y="1016825"/>
            <a:ext cx="4224020" cy="1297940"/>
            <a:chOff x="531871" y="1052976"/>
            <a:chExt cx="4224020" cy="12979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871" y="1052976"/>
              <a:ext cx="4223775" cy="12979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115567"/>
              <a:ext cx="4069079" cy="1143000"/>
            </a:xfrm>
            <a:custGeom>
              <a:avLst/>
              <a:gdLst/>
              <a:ahLst/>
              <a:cxnLst/>
              <a:rect l="l" t="t" r="r" b="b"/>
              <a:pathLst>
                <a:path w="4069079" h="1143000">
                  <a:moveTo>
                    <a:pt x="3995928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069848"/>
                  </a:lnTo>
                  <a:lnTo>
                    <a:pt x="5748" y="1098315"/>
                  </a:lnTo>
                  <a:lnTo>
                    <a:pt x="21426" y="1121568"/>
                  </a:lnTo>
                  <a:lnTo>
                    <a:pt x="44678" y="1137249"/>
                  </a:lnTo>
                  <a:lnTo>
                    <a:pt x="73152" y="1143000"/>
                  </a:lnTo>
                  <a:lnTo>
                    <a:pt x="3995928" y="1143000"/>
                  </a:lnTo>
                  <a:lnTo>
                    <a:pt x="4024395" y="1137249"/>
                  </a:lnTo>
                  <a:lnTo>
                    <a:pt x="4047648" y="1121568"/>
                  </a:lnTo>
                  <a:lnTo>
                    <a:pt x="4063329" y="1098315"/>
                  </a:lnTo>
                  <a:lnTo>
                    <a:pt x="4069079" y="1069848"/>
                  </a:lnTo>
                  <a:lnTo>
                    <a:pt x="4069079" y="73152"/>
                  </a:lnTo>
                  <a:lnTo>
                    <a:pt x="4063329" y="44684"/>
                  </a:lnTo>
                  <a:lnTo>
                    <a:pt x="4047648" y="21431"/>
                  </a:lnTo>
                  <a:lnTo>
                    <a:pt x="4024395" y="5750"/>
                  </a:lnTo>
                  <a:lnTo>
                    <a:pt x="3995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115567"/>
              <a:ext cx="4069079" cy="1143000"/>
            </a:xfrm>
            <a:custGeom>
              <a:avLst/>
              <a:gdLst/>
              <a:ahLst/>
              <a:cxnLst/>
              <a:rect l="l" t="t" r="r" b="b"/>
              <a:pathLst>
                <a:path w="4069079" h="1143000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3995928" y="0"/>
                  </a:lnTo>
                  <a:lnTo>
                    <a:pt x="4024395" y="5750"/>
                  </a:lnTo>
                  <a:lnTo>
                    <a:pt x="4047648" y="21431"/>
                  </a:lnTo>
                  <a:lnTo>
                    <a:pt x="4063329" y="44684"/>
                  </a:lnTo>
                  <a:lnTo>
                    <a:pt x="4069079" y="73152"/>
                  </a:lnTo>
                  <a:lnTo>
                    <a:pt x="4069079" y="1069848"/>
                  </a:lnTo>
                  <a:lnTo>
                    <a:pt x="4063329" y="1098315"/>
                  </a:lnTo>
                  <a:lnTo>
                    <a:pt x="4047648" y="1121568"/>
                  </a:lnTo>
                  <a:lnTo>
                    <a:pt x="4024395" y="1137249"/>
                  </a:lnTo>
                  <a:lnTo>
                    <a:pt x="3995928" y="1143000"/>
                  </a:lnTo>
                  <a:lnTo>
                    <a:pt x="73152" y="1143000"/>
                  </a:lnTo>
                  <a:lnTo>
                    <a:pt x="44678" y="1137249"/>
                  </a:lnTo>
                  <a:lnTo>
                    <a:pt x="21426" y="1121568"/>
                  </a:lnTo>
                  <a:lnTo>
                    <a:pt x="5748" y="1098315"/>
                  </a:lnTo>
                  <a:lnTo>
                    <a:pt x="0" y="1069848"/>
                  </a:lnTo>
                  <a:lnTo>
                    <a:pt x="0" y="73152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2376" y="144475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448055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48056"/>
                  </a:lnTo>
                  <a:lnTo>
                    <a:pt x="4311" y="469433"/>
                  </a:lnTo>
                  <a:lnTo>
                    <a:pt x="16068" y="486870"/>
                  </a:lnTo>
                  <a:lnTo>
                    <a:pt x="33507" y="498615"/>
                  </a:lnTo>
                  <a:lnTo>
                    <a:pt x="54864" y="502920"/>
                  </a:lnTo>
                  <a:lnTo>
                    <a:pt x="448055" y="502920"/>
                  </a:lnTo>
                  <a:lnTo>
                    <a:pt x="469412" y="498615"/>
                  </a:lnTo>
                  <a:lnTo>
                    <a:pt x="486851" y="486870"/>
                  </a:lnTo>
                  <a:lnTo>
                    <a:pt x="498608" y="469433"/>
                  </a:lnTo>
                  <a:lnTo>
                    <a:pt x="502920" y="448056"/>
                  </a:lnTo>
                  <a:lnTo>
                    <a:pt x="502920" y="54863"/>
                  </a:lnTo>
                  <a:lnTo>
                    <a:pt x="498608" y="33486"/>
                  </a:lnTo>
                  <a:lnTo>
                    <a:pt x="486851" y="16049"/>
                  </a:lnTo>
                  <a:lnTo>
                    <a:pt x="469412" y="4304"/>
                  </a:lnTo>
                  <a:lnTo>
                    <a:pt x="448055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2376" y="144475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448055" y="0"/>
                  </a:lnTo>
                  <a:lnTo>
                    <a:pt x="469412" y="4304"/>
                  </a:lnTo>
                  <a:lnTo>
                    <a:pt x="486851" y="16049"/>
                  </a:lnTo>
                  <a:lnTo>
                    <a:pt x="498608" y="33486"/>
                  </a:lnTo>
                  <a:lnTo>
                    <a:pt x="502920" y="54863"/>
                  </a:lnTo>
                  <a:lnTo>
                    <a:pt x="502920" y="448056"/>
                  </a:lnTo>
                  <a:lnTo>
                    <a:pt x="498608" y="469433"/>
                  </a:lnTo>
                  <a:lnTo>
                    <a:pt x="486851" y="486870"/>
                  </a:lnTo>
                  <a:lnTo>
                    <a:pt x="469412" y="498615"/>
                  </a:lnTo>
                  <a:lnTo>
                    <a:pt x="448055" y="502920"/>
                  </a:lnTo>
                  <a:lnTo>
                    <a:pt x="54864" y="502920"/>
                  </a:lnTo>
                  <a:lnTo>
                    <a:pt x="33507" y="498615"/>
                  </a:lnTo>
                  <a:lnTo>
                    <a:pt x="16068" y="486870"/>
                  </a:lnTo>
                  <a:lnTo>
                    <a:pt x="4311" y="469433"/>
                  </a:lnTo>
                  <a:lnTo>
                    <a:pt x="0" y="4480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47619" y="1574418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69361" y="1176350"/>
            <a:ext cx="3313429" cy="274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b="1" spc="-10" dirty="0">
                <a:solidFill>
                  <a:srgbClr val="1E395F"/>
                </a:solidFill>
                <a:latin typeface="Calibri"/>
                <a:cs typeface="Calibri"/>
              </a:rPr>
              <a:t>Expand Indigenous Clinical Dataset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9361" y="1522229"/>
            <a:ext cx="331342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Collect more human-verified Yoruba, Igbo and Hausa medical speech from diverse speakers and healthcare scenarios to improve ASR and clinical understanding.</a:t>
            </a:r>
            <a:endParaRPr sz="11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32685" y="2305811"/>
            <a:ext cx="4278630" cy="1352550"/>
            <a:chOff x="504444" y="2305811"/>
            <a:chExt cx="4278630" cy="135255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444" y="2305811"/>
              <a:ext cx="4278630" cy="13525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4360" y="2395727"/>
              <a:ext cx="4069079" cy="1143000"/>
            </a:xfrm>
            <a:custGeom>
              <a:avLst/>
              <a:gdLst/>
              <a:ahLst/>
              <a:cxnLst/>
              <a:rect l="l" t="t" r="r" b="b"/>
              <a:pathLst>
                <a:path w="4069079" h="1143000">
                  <a:moveTo>
                    <a:pt x="3995928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069848"/>
                  </a:lnTo>
                  <a:lnTo>
                    <a:pt x="5748" y="1098315"/>
                  </a:lnTo>
                  <a:lnTo>
                    <a:pt x="21426" y="1121568"/>
                  </a:lnTo>
                  <a:lnTo>
                    <a:pt x="44678" y="1137249"/>
                  </a:lnTo>
                  <a:lnTo>
                    <a:pt x="73152" y="1143000"/>
                  </a:lnTo>
                  <a:lnTo>
                    <a:pt x="3995928" y="1143000"/>
                  </a:lnTo>
                  <a:lnTo>
                    <a:pt x="4024395" y="1137249"/>
                  </a:lnTo>
                  <a:lnTo>
                    <a:pt x="4047648" y="1121568"/>
                  </a:lnTo>
                  <a:lnTo>
                    <a:pt x="4063329" y="1098315"/>
                  </a:lnTo>
                  <a:lnTo>
                    <a:pt x="4069079" y="1069848"/>
                  </a:lnTo>
                  <a:lnTo>
                    <a:pt x="4069079" y="73152"/>
                  </a:lnTo>
                  <a:lnTo>
                    <a:pt x="4063329" y="44684"/>
                  </a:lnTo>
                  <a:lnTo>
                    <a:pt x="4047648" y="21431"/>
                  </a:lnTo>
                  <a:lnTo>
                    <a:pt x="4024395" y="5750"/>
                  </a:lnTo>
                  <a:lnTo>
                    <a:pt x="3995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4360" y="2395727"/>
              <a:ext cx="4069079" cy="1143000"/>
            </a:xfrm>
            <a:custGeom>
              <a:avLst/>
              <a:gdLst/>
              <a:ahLst/>
              <a:cxnLst/>
              <a:rect l="l" t="t" r="r" b="b"/>
              <a:pathLst>
                <a:path w="4069079" h="1143000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3995928" y="0"/>
                  </a:lnTo>
                  <a:lnTo>
                    <a:pt x="4024395" y="5750"/>
                  </a:lnTo>
                  <a:lnTo>
                    <a:pt x="4047648" y="21431"/>
                  </a:lnTo>
                  <a:lnTo>
                    <a:pt x="4063329" y="44684"/>
                  </a:lnTo>
                  <a:lnTo>
                    <a:pt x="4069079" y="73152"/>
                  </a:lnTo>
                  <a:lnTo>
                    <a:pt x="4069079" y="1069848"/>
                  </a:lnTo>
                  <a:lnTo>
                    <a:pt x="4063329" y="1098315"/>
                  </a:lnTo>
                  <a:lnTo>
                    <a:pt x="4047648" y="1121568"/>
                  </a:lnTo>
                  <a:lnTo>
                    <a:pt x="4024395" y="1137249"/>
                  </a:lnTo>
                  <a:lnTo>
                    <a:pt x="3995928" y="1143000"/>
                  </a:lnTo>
                  <a:lnTo>
                    <a:pt x="73152" y="1143000"/>
                  </a:lnTo>
                  <a:lnTo>
                    <a:pt x="44678" y="1137249"/>
                  </a:lnTo>
                  <a:lnTo>
                    <a:pt x="21426" y="1121568"/>
                  </a:lnTo>
                  <a:lnTo>
                    <a:pt x="5748" y="1098315"/>
                  </a:lnTo>
                  <a:lnTo>
                    <a:pt x="0" y="1069848"/>
                  </a:lnTo>
                  <a:lnTo>
                    <a:pt x="0" y="73152"/>
                  </a:lnTo>
                  <a:close/>
                </a:path>
              </a:pathLst>
            </a:custGeom>
            <a:ln w="9525">
              <a:solidFill>
                <a:srgbClr val="D7E1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2376" y="272491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448055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48056"/>
                  </a:lnTo>
                  <a:lnTo>
                    <a:pt x="4311" y="469433"/>
                  </a:lnTo>
                  <a:lnTo>
                    <a:pt x="16068" y="486870"/>
                  </a:lnTo>
                  <a:lnTo>
                    <a:pt x="33507" y="498615"/>
                  </a:lnTo>
                  <a:lnTo>
                    <a:pt x="54864" y="502919"/>
                  </a:lnTo>
                  <a:lnTo>
                    <a:pt x="448055" y="502919"/>
                  </a:lnTo>
                  <a:lnTo>
                    <a:pt x="469412" y="498615"/>
                  </a:lnTo>
                  <a:lnTo>
                    <a:pt x="486851" y="486870"/>
                  </a:lnTo>
                  <a:lnTo>
                    <a:pt x="498608" y="469433"/>
                  </a:lnTo>
                  <a:lnTo>
                    <a:pt x="502920" y="448056"/>
                  </a:lnTo>
                  <a:lnTo>
                    <a:pt x="502920" y="54863"/>
                  </a:lnTo>
                  <a:lnTo>
                    <a:pt x="498608" y="33486"/>
                  </a:lnTo>
                  <a:lnTo>
                    <a:pt x="486851" y="16049"/>
                  </a:lnTo>
                  <a:lnTo>
                    <a:pt x="469412" y="4304"/>
                  </a:lnTo>
                  <a:lnTo>
                    <a:pt x="448055" y="0"/>
                  </a:lnTo>
                  <a:close/>
                </a:path>
              </a:pathLst>
            </a:custGeom>
            <a:solidFill>
              <a:srgbClr val="1E3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2376" y="272491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448055" y="0"/>
                  </a:lnTo>
                  <a:lnTo>
                    <a:pt x="469412" y="4304"/>
                  </a:lnTo>
                  <a:lnTo>
                    <a:pt x="486851" y="16049"/>
                  </a:lnTo>
                  <a:lnTo>
                    <a:pt x="498608" y="33486"/>
                  </a:lnTo>
                  <a:lnTo>
                    <a:pt x="502920" y="54863"/>
                  </a:lnTo>
                  <a:lnTo>
                    <a:pt x="502920" y="448056"/>
                  </a:lnTo>
                  <a:lnTo>
                    <a:pt x="498608" y="469433"/>
                  </a:lnTo>
                  <a:lnTo>
                    <a:pt x="486851" y="486870"/>
                  </a:lnTo>
                  <a:lnTo>
                    <a:pt x="469412" y="498615"/>
                  </a:lnTo>
                  <a:lnTo>
                    <a:pt x="448055" y="502919"/>
                  </a:lnTo>
                  <a:lnTo>
                    <a:pt x="54864" y="502919"/>
                  </a:lnTo>
                  <a:lnTo>
                    <a:pt x="33507" y="498615"/>
                  </a:lnTo>
                  <a:lnTo>
                    <a:pt x="16068" y="486870"/>
                  </a:lnTo>
                  <a:lnTo>
                    <a:pt x="4311" y="469433"/>
                  </a:lnTo>
                  <a:lnTo>
                    <a:pt x="0" y="448056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E39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47619" y="2854832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b"/>
          <p:cNvSpPr txBox="1"/>
          <p:nvPr/>
        </p:nvSpPr>
        <p:spPr>
          <a:xfrm>
            <a:off x="3336414" y="2435811"/>
            <a:ext cx="291719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300" b="1" spc="-10" dirty="0">
                <a:solidFill>
                  <a:srgbClr val="1E395F"/>
                </a:solidFill>
                <a:latin typeface="Calibri"/>
                <a:cs typeface="Calibri"/>
              </a:rPr>
              <a:t>More variance: Pidgin English as a fourth language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16722" y="2867328"/>
            <a:ext cx="2917190" cy="872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could be integrated in the future to improve this project because vas number of Nigerian know how to speak  pidgin English more than a proper English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47115" y="3452317"/>
            <a:ext cx="3876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lang="en-US" sz="2800" b="1" dirty="0">
                <a:solidFill>
                  <a:srgbClr val="FFFFFF"/>
                </a:solidFill>
                <a:latin typeface="Calibri"/>
                <a:cs typeface="Calibri"/>
              </a:rPr>
              <a:t>k you for listening!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644</TotalTime>
  <Words>1004</Words>
  <Application>Microsoft Office PowerPoint</Application>
  <PresentationFormat>On-screen Show (16:9)</PresentationFormat>
  <Paragraphs>228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MULTI-LINGUAL PATIENT INTAKE ASSISTANT</vt:lpstr>
      <vt:lpstr>Content</vt:lpstr>
      <vt:lpstr>Language Barriers Create Gaps in Patient Care</vt:lpstr>
      <vt:lpstr>AI POWERED MULTI-LINGUAL PATIENT INTAKE ASSISTANT</vt:lpstr>
      <vt:lpstr>AUDIO QUALITY CHECK</vt:lpstr>
      <vt:lpstr>ASR COMPONENT</vt:lpstr>
      <vt:lpstr>CLINICAL NOTE STRUCTURING</vt:lpstr>
      <vt:lpstr>Keyword Extraction and Doctor Review</vt:lpstr>
      <vt:lpstr>How Data Gets Stored</vt:lpstr>
      <vt:lpstr>Measuring Transcription Accuracy</vt:lpstr>
      <vt:lpstr>Constraints</vt:lpstr>
      <vt:lpstr>Further Improvements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Debby</dc:creator>
  <cp:lastModifiedBy>DEBORAH TONY-OWAKAH</cp:lastModifiedBy>
  <cp:revision>6</cp:revision>
  <dcterms:created xsi:type="dcterms:W3CDTF">2026-08-27T09:47:26Z</dcterms:created>
  <dcterms:modified xsi:type="dcterms:W3CDTF">2026-09-03T02:51:03Z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2026-08-27T00:00:00Z</vt:filetime>
  </property>
  <property fmtid="{D5CDD505-2E9C-101B-9397-08002B2CF9AE}" pid="6" name="Producer">
    <vt:lpwstr>Microsoft® PowerPoint® for Microsoft 365</vt:lpwstr>
  </property>
</Properties>
</file>